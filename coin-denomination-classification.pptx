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Georgia Bold" charset="1" panose="02040802050405020203"/>
      <p:regular r:id="rId20"/>
    </p:embeddedFont>
    <p:embeddedFont>
      <p:font typeface="Calibri (MS) Italics" charset="1" panose="020F05020202040A0204"/>
      <p:regular r:id="rId21"/>
    </p:embeddedFont>
    <p:embeddedFont>
      <p:font typeface="Calibri (MS) Bold" charset="1" panose="020F0702030404030204"/>
      <p:regular r:id="rId22"/>
    </p:embeddedFont>
    <p:embeddedFont>
      <p:font typeface="Calibri (MS)" charset="1" panose="020F050202020403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jpe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Relationship Id="rId6" Target="../media/image7.jpeg" Type="http://schemas.openxmlformats.org/officeDocument/2006/relationships/image"/><Relationship Id="rId7" Target="../media/image8.jpeg" Type="http://schemas.openxmlformats.org/officeDocument/2006/relationships/image"/><Relationship Id="rId8" Target="../media/image9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2.jpe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6.jpeg" Type="http://schemas.openxmlformats.org/officeDocument/2006/relationships/image"/><Relationship Id="rId4" Target="../media/image17.jpeg" Type="http://schemas.openxmlformats.org/officeDocument/2006/relationships/image"/><Relationship Id="rId5" Target="../media/image18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2.jpe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20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0540" y="876300"/>
            <a:ext cx="7757160" cy="7757160"/>
            <a:chOff x="0" y="0"/>
            <a:chExt cx="10342880" cy="10342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0800" y="50800"/>
              <a:ext cx="10241280" cy="10241280"/>
            </a:xfrm>
            <a:custGeom>
              <a:avLst/>
              <a:gdLst/>
              <a:ahLst/>
              <a:cxnLst/>
              <a:rect r="r" b="b" t="t" l="l"/>
              <a:pathLst>
                <a:path h="10241280" w="10241280">
                  <a:moveTo>
                    <a:pt x="0" y="5120640"/>
                  </a:moveTo>
                  <a:cubicBezTo>
                    <a:pt x="0" y="2292604"/>
                    <a:pt x="2292604" y="0"/>
                    <a:pt x="5120640" y="0"/>
                  </a:cubicBezTo>
                  <a:cubicBezTo>
                    <a:pt x="7948676" y="0"/>
                    <a:pt x="10241280" y="2292604"/>
                    <a:pt x="10241280" y="5120640"/>
                  </a:cubicBezTo>
                  <a:cubicBezTo>
                    <a:pt x="10241280" y="7948676"/>
                    <a:pt x="7948676" y="10241280"/>
                    <a:pt x="5120640" y="10241280"/>
                  </a:cubicBezTo>
                  <a:cubicBezTo>
                    <a:pt x="2292604" y="10241280"/>
                    <a:pt x="0" y="7948676"/>
                    <a:pt x="0" y="5120640"/>
                  </a:cubicBezTo>
                  <a:close/>
                </a:path>
              </a:pathLst>
            </a:custGeom>
            <a:solidFill>
              <a:srgbClr val="1B2A3D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42880" cy="10342880"/>
            </a:xfrm>
            <a:custGeom>
              <a:avLst/>
              <a:gdLst/>
              <a:ahLst/>
              <a:cxnLst/>
              <a:rect r="r" b="b" t="t" l="l"/>
              <a:pathLst>
                <a:path h="10342880" w="10342880">
                  <a:moveTo>
                    <a:pt x="0" y="5171440"/>
                  </a:moveTo>
                  <a:cubicBezTo>
                    <a:pt x="0" y="2315337"/>
                    <a:pt x="2315337" y="0"/>
                    <a:pt x="5171440" y="0"/>
                  </a:cubicBezTo>
                  <a:lnTo>
                    <a:pt x="5171440" y="50800"/>
                  </a:lnTo>
                  <a:lnTo>
                    <a:pt x="5171440" y="0"/>
                  </a:lnTo>
                  <a:cubicBezTo>
                    <a:pt x="8027543" y="0"/>
                    <a:pt x="10342880" y="2315337"/>
                    <a:pt x="10342880" y="5171440"/>
                  </a:cubicBezTo>
                  <a:lnTo>
                    <a:pt x="10292080" y="5171440"/>
                  </a:lnTo>
                  <a:lnTo>
                    <a:pt x="10342880" y="5171440"/>
                  </a:lnTo>
                  <a:cubicBezTo>
                    <a:pt x="10342880" y="8027543"/>
                    <a:pt x="8027543" y="10342880"/>
                    <a:pt x="5171440" y="10342880"/>
                  </a:cubicBezTo>
                  <a:lnTo>
                    <a:pt x="5171440" y="10292080"/>
                  </a:lnTo>
                  <a:lnTo>
                    <a:pt x="5171440" y="10342880"/>
                  </a:lnTo>
                  <a:cubicBezTo>
                    <a:pt x="2315337" y="10342880"/>
                    <a:pt x="0" y="8027543"/>
                    <a:pt x="0" y="5171440"/>
                  </a:cubicBezTo>
                  <a:lnTo>
                    <a:pt x="50800" y="5171440"/>
                  </a:lnTo>
                  <a:lnTo>
                    <a:pt x="101600" y="5171440"/>
                  </a:lnTo>
                  <a:lnTo>
                    <a:pt x="50800" y="5171440"/>
                  </a:lnTo>
                  <a:lnTo>
                    <a:pt x="0" y="5171440"/>
                  </a:lnTo>
                  <a:moveTo>
                    <a:pt x="101600" y="5171440"/>
                  </a:moveTo>
                  <a:cubicBezTo>
                    <a:pt x="101600" y="5199507"/>
                    <a:pt x="78867" y="5222240"/>
                    <a:pt x="50800" y="5222240"/>
                  </a:cubicBezTo>
                  <a:cubicBezTo>
                    <a:pt x="22733" y="5222240"/>
                    <a:pt x="0" y="5199507"/>
                    <a:pt x="0" y="5171440"/>
                  </a:cubicBezTo>
                  <a:cubicBezTo>
                    <a:pt x="0" y="5143373"/>
                    <a:pt x="22733" y="5120640"/>
                    <a:pt x="50800" y="5120640"/>
                  </a:cubicBezTo>
                  <a:cubicBezTo>
                    <a:pt x="78867" y="5120640"/>
                    <a:pt x="101600" y="5143373"/>
                    <a:pt x="101600" y="5171440"/>
                  </a:cubicBezTo>
                  <a:cubicBezTo>
                    <a:pt x="101600" y="7971409"/>
                    <a:pt x="2371471" y="10241280"/>
                    <a:pt x="5171440" y="10241280"/>
                  </a:cubicBezTo>
                  <a:cubicBezTo>
                    <a:pt x="7971410" y="10241280"/>
                    <a:pt x="10241280" y="7971409"/>
                    <a:pt x="10241280" y="5171440"/>
                  </a:cubicBezTo>
                  <a:cubicBezTo>
                    <a:pt x="10241280" y="2371472"/>
                    <a:pt x="7971409" y="101600"/>
                    <a:pt x="5171440" y="101600"/>
                  </a:cubicBezTo>
                  <a:lnTo>
                    <a:pt x="5171440" y="50800"/>
                  </a:lnTo>
                  <a:lnTo>
                    <a:pt x="5171440" y="101600"/>
                  </a:lnTo>
                  <a:cubicBezTo>
                    <a:pt x="2371471" y="101600"/>
                    <a:pt x="101600" y="2371471"/>
                    <a:pt x="101600" y="5171440"/>
                  </a:cubicBez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2377440" y="2743200"/>
            <a:ext cx="4023360" cy="4023360"/>
            <a:chOff x="0" y="0"/>
            <a:chExt cx="5364480" cy="5364480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5364480" cy="5364480"/>
            </a:xfrm>
            <a:custGeom>
              <a:avLst/>
              <a:gdLst/>
              <a:ahLst/>
              <a:cxnLst/>
              <a:rect r="r" b="b" t="t" l="l"/>
              <a:pathLst>
                <a:path h="53644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364480"/>
                  </a:lnTo>
                  <a:lnTo>
                    <a:pt x="0" y="5364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778240" y="1280160"/>
            <a:ext cx="9144000" cy="1463040"/>
            <a:chOff x="0" y="0"/>
            <a:chExt cx="12192000" cy="19507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1920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2192000" cy="1969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120"/>
                </a:lnSpc>
              </a:pPr>
              <a:r>
                <a:rPr lang="en-US" sz="76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Indian Coin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778240" y="2651760"/>
            <a:ext cx="9144000" cy="1463040"/>
            <a:chOff x="0" y="0"/>
            <a:chExt cx="12192000" cy="1950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1920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2192000" cy="1969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120"/>
                </a:lnSpc>
              </a:pPr>
              <a:r>
                <a:rPr lang="en-US" sz="7600" b="true">
                  <a:solidFill>
                    <a:srgbClr val="C9A84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Denomination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778240" y="4023360"/>
            <a:ext cx="9144000" cy="1463040"/>
            <a:chOff x="0" y="0"/>
            <a:chExt cx="12192000" cy="19507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1920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2192000" cy="1969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120"/>
                </a:lnSpc>
              </a:pPr>
              <a:r>
                <a:rPr lang="en-US" sz="76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Classification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765543" y="5656583"/>
            <a:ext cx="8803643" cy="80267"/>
            <a:chOff x="0" y="0"/>
            <a:chExt cx="11738191" cy="10702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6891" y="16891"/>
              <a:ext cx="11704320" cy="73152"/>
            </a:xfrm>
            <a:custGeom>
              <a:avLst/>
              <a:gdLst/>
              <a:ahLst/>
              <a:cxnLst/>
              <a:rect r="r" b="b" t="t" l="l"/>
              <a:pathLst>
                <a:path h="73152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C9A84C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738101" cy="106936"/>
            </a:xfrm>
            <a:custGeom>
              <a:avLst/>
              <a:gdLst/>
              <a:ahLst/>
              <a:cxnLst/>
              <a:rect r="r" b="b" t="t" l="l"/>
              <a:pathLst>
                <a:path h="106936" w="11738101">
                  <a:moveTo>
                    <a:pt x="16891" y="0"/>
                  </a:moveTo>
                  <a:lnTo>
                    <a:pt x="11721211" y="0"/>
                  </a:lnTo>
                  <a:cubicBezTo>
                    <a:pt x="11730609" y="0"/>
                    <a:pt x="11738101" y="7620"/>
                    <a:pt x="11738101" y="16891"/>
                  </a:cubicBezTo>
                  <a:lnTo>
                    <a:pt x="11738101" y="90043"/>
                  </a:lnTo>
                  <a:cubicBezTo>
                    <a:pt x="11738101" y="99441"/>
                    <a:pt x="11730482" y="106934"/>
                    <a:pt x="1172121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11721211" y="73152"/>
                  </a:lnTo>
                  <a:lnTo>
                    <a:pt x="11721211" y="90043"/>
                  </a:lnTo>
                  <a:lnTo>
                    <a:pt x="11704320" y="90043"/>
                  </a:lnTo>
                  <a:lnTo>
                    <a:pt x="11704320" y="16891"/>
                  </a:lnTo>
                  <a:lnTo>
                    <a:pt x="11721211" y="16891"/>
                  </a:lnTo>
                  <a:lnTo>
                    <a:pt x="11721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778240" y="5943600"/>
            <a:ext cx="9144000" cy="914400"/>
            <a:chOff x="0" y="0"/>
            <a:chExt cx="12192000" cy="1219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192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219200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8896A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Shape &amp; Texture Features · Classical ML · No Deep Learning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778240" y="7040880"/>
            <a:ext cx="9144000" cy="914400"/>
            <a:chOff x="0" y="0"/>
            <a:chExt cx="12192000" cy="1219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192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121920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E8C9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₹1  ₹2  ₹5  ₹10  ₹20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778240" y="8869680"/>
            <a:ext cx="9509760" cy="731520"/>
            <a:chOff x="0" y="0"/>
            <a:chExt cx="12679680" cy="9753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679680" cy="975360"/>
            </a:xfrm>
            <a:custGeom>
              <a:avLst/>
              <a:gdLst/>
              <a:ahLst/>
              <a:cxnLst/>
              <a:rect r="r" b="b" t="t" l="l"/>
              <a:pathLst>
                <a:path h="975360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267968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896A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|  Kaggle ICDD Dataset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D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48640" y="274320"/>
            <a:ext cx="1097280" cy="1097280"/>
            <a:chOff x="0" y="0"/>
            <a:chExt cx="1463040" cy="1463040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2011680" y="182880"/>
            <a:ext cx="15544800" cy="1463040"/>
            <a:chOff x="0" y="0"/>
            <a:chExt cx="20726400" cy="19507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26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028" r="0" b="-15702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726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Team &amp; Project Overview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12470" y="2175510"/>
            <a:ext cx="5158740" cy="2964180"/>
            <a:chOff x="0" y="0"/>
            <a:chExt cx="6878320" cy="39522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25400" y="25400"/>
              <a:ext cx="6827520" cy="3901440"/>
            </a:xfrm>
            <a:custGeom>
              <a:avLst/>
              <a:gdLst/>
              <a:ahLst/>
              <a:cxnLst/>
              <a:rect r="r" b="b" t="t" l="l"/>
              <a:pathLst>
                <a:path h="3901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78320" cy="3952240"/>
            </a:xfrm>
            <a:custGeom>
              <a:avLst/>
              <a:gdLst/>
              <a:ahLst/>
              <a:cxnLst/>
              <a:rect r="r" b="b" t="t" l="l"/>
              <a:pathLst>
                <a:path h="3952240" w="6878320">
                  <a:moveTo>
                    <a:pt x="25400" y="0"/>
                  </a:moveTo>
                  <a:lnTo>
                    <a:pt x="6852920" y="0"/>
                  </a:lnTo>
                  <a:cubicBezTo>
                    <a:pt x="6866889" y="0"/>
                    <a:pt x="6878320" y="11430"/>
                    <a:pt x="6878320" y="25400"/>
                  </a:cubicBezTo>
                  <a:lnTo>
                    <a:pt x="6878320" y="3926840"/>
                  </a:lnTo>
                  <a:cubicBezTo>
                    <a:pt x="6878320" y="3940810"/>
                    <a:pt x="6866889" y="3952240"/>
                    <a:pt x="6852920" y="3952240"/>
                  </a:cubicBezTo>
                  <a:lnTo>
                    <a:pt x="25400" y="3952240"/>
                  </a:lnTo>
                  <a:cubicBezTo>
                    <a:pt x="11430" y="3952240"/>
                    <a:pt x="0" y="3940810"/>
                    <a:pt x="0" y="39268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926840"/>
                  </a:lnTo>
                  <a:lnTo>
                    <a:pt x="25400" y="3926840"/>
                  </a:lnTo>
                  <a:lnTo>
                    <a:pt x="25400" y="3901440"/>
                  </a:lnTo>
                  <a:lnTo>
                    <a:pt x="6852920" y="3901440"/>
                  </a:lnTo>
                  <a:lnTo>
                    <a:pt x="6852920" y="3926840"/>
                  </a:lnTo>
                  <a:lnTo>
                    <a:pt x="6827520" y="3926840"/>
                  </a:lnTo>
                  <a:lnTo>
                    <a:pt x="6827520" y="25400"/>
                  </a:lnTo>
                  <a:lnTo>
                    <a:pt x="6852920" y="25400"/>
                  </a:lnTo>
                  <a:lnTo>
                    <a:pt x="68529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18823" y="2181863"/>
            <a:ext cx="5146043" cy="354587"/>
            <a:chOff x="0" y="0"/>
            <a:chExt cx="6861391" cy="47278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6827520" cy="438912"/>
            </a:xfrm>
            <a:custGeom>
              <a:avLst/>
              <a:gdLst/>
              <a:ahLst/>
              <a:cxnLst/>
              <a:rect r="r" b="b" t="t" l="l"/>
              <a:pathLst>
                <a:path h="43891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61301" cy="472696"/>
            </a:xfrm>
            <a:custGeom>
              <a:avLst/>
              <a:gdLst/>
              <a:ahLst/>
              <a:cxnLst/>
              <a:rect r="r" b="b" t="t" l="l"/>
              <a:pathLst>
                <a:path h="472696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455803"/>
                  </a:lnTo>
                  <a:cubicBezTo>
                    <a:pt x="6861301" y="465201"/>
                    <a:pt x="6853682" y="472694"/>
                    <a:pt x="6844411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6844411" y="438912"/>
                  </a:lnTo>
                  <a:lnTo>
                    <a:pt x="6844411" y="455803"/>
                  </a:lnTo>
                  <a:lnTo>
                    <a:pt x="6827520" y="455803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14400" y="2468880"/>
            <a:ext cx="4754880" cy="731520"/>
            <a:chOff x="0" y="0"/>
            <a:chExt cx="6339840" cy="9753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39840" cy="975360"/>
            </a:xfrm>
            <a:custGeom>
              <a:avLst/>
              <a:gdLst/>
              <a:ahLst/>
              <a:cxnLst/>
              <a:rect r="r" b="b" t="t" l="l"/>
              <a:pathLst>
                <a:path h="97536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633984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Angel George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4400" y="3255264"/>
            <a:ext cx="4754880" cy="640080"/>
            <a:chOff x="0" y="0"/>
            <a:chExt cx="6339840" cy="8534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339840" cy="853440"/>
            </a:xfrm>
            <a:custGeom>
              <a:avLst/>
              <a:gdLst/>
              <a:ahLst/>
              <a:cxnLst/>
              <a:rect r="r" b="b" t="t" l="l"/>
              <a:pathLst>
                <a:path h="85344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745" r="0" b="-9474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633984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E86A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BioAI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14400" y="3840480"/>
            <a:ext cx="4754880" cy="548640"/>
            <a:chOff x="0" y="0"/>
            <a:chExt cx="633984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39840" cy="731520"/>
            </a:xfrm>
            <a:custGeom>
              <a:avLst/>
              <a:gdLst/>
              <a:ahLst/>
              <a:cxnLst/>
              <a:rect r="r" b="b" t="t" l="l"/>
              <a:pathLst>
                <a:path h="73152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6339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896A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Reg: 253203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381750" y="2175510"/>
            <a:ext cx="5158740" cy="2964180"/>
            <a:chOff x="0" y="0"/>
            <a:chExt cx="6878320" cy="39522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25400" y="25400"/>
              <a:ext cx="6827520" cy="3901440"/>
            </a:xfrm>
            <a:custGeom>
              <a:avLst/>
              <a:gdLst/>
              <a:ahLst/>
              <a:cxnLst/>
              <a:rect r="r" b="b" t="t" l="l"/>
              <a:pathLst>
                <a:path h="3901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878320" cy="3952240"/>
            </a:xfrm>
            <a:custGeom>
              <a:avLst/>
              <a:gdLst/>
              <a:ahLst/>
              <a:cxnLst/>
              <a:rect r="r" b="b" t="t" l="l"/>
              <a:pathLst>
                <a:path h="3952240" w="6878320">
                  <a:moveTo>
                    <a:pt x="25400" y="0"/>
                  </a:moveTo>
                  <a:lnTo>
                    <a:pt x="6852920" y="0"/>
                  </a:lnTo>
                  <a:cubicBezTo>
                    <a:pt x="6866889" y="0"/>
                    <a:pt x="6878320" y="11430"/>
                    <a:pt x="6878320" y="25400"/>
                  </a:cubicBezTo>
                  <a:lnTo>
                    <a:pt x="6878320" y="3926840"/>
                  </a:lnTo>
                  <a:cubicBezTo>
                    <a:pt x="6878320" y="3940810"/>
                    <a:pt x="6866889" y="3952240"/>
                    <a:pt x="6852920" y="3952240"/>
                  </a:cubicBezTo>
                  <a:lnTo>
                    <a:pt x="25400" y="3952240"/>
                  </a:lnTo>
                  <a:cubicBezTo>
                    <a:pt x="11430" y="3952240"/>
                    <a:pt x="0" y="3940810"/>
                    <a:pt x="0" y="39268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926840"/>
                  </a:lnTo>
                  <a:lnTo>
                    <a:pt x="25400" y="3926840"/>
                  </a:lnTo>
                  <a:lnTo>
                    <a:pt x="25400" y="3901440"/>
                  </a:lnTo>
                  <a:lnTo>
                    <a:pt x="6852920" y="3901440"/>
                  </a:lnTo>
                  <a:lnTo>
                    <a:pt x="6852920" y="3926840"/>
                  </a:lnTo>
                  <a:lnTo>
                    <a:pt x="6827520" y="3926840"/>
                  </a:lnTo>
                  <a:lnTo>
                    <a:pt x="6827520" y="25400"/>
                  </a:lnTo>
                  <a:lnTo>
                    <a:pt x="6852920" y="25400"/>
                  </a:lnTo>
                  <a:lnTo>
                    <a:pt x="68529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388103" y="2181863"/>
            <a:ext cx="5146043" cy="354587"/>
            <a:chOff x="0" y="0"/>
            <a:chExt cx="6861391" cy="47278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6827520" cy="438912"/>
            </a:xfrm>
            <a:custGeom>
              <a:avLst/>
              <a:gdLst/>
              <a:ahLst/>
              <a:cxnLst/>
              <a:rect r="r" b="b" t="t" l="l"/>
              <a:pathLst>
                <a:path h="43891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861301" cy="472696"/>
            </a:xfrm>
            <a:custGeom>
              <a:avLst/>
              <a:gdLst/>
              <a:ahLst/>
              <a:cxnLst/>
              <a:rect r="r" b="b" t="t" l="l"/>
              <a:pathLst>
                <a:path h="472696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455803"/>
                  </a:lnTo>
                  <a:cubicBezTo>
                    <a:pt x="6861301" y="465201"/>
                    <a:pt x="6853682" y="472694"/>
                    <a:pt x="6844411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6844411" y="438912"/>
                  </a:lnTo>
                  <a:lnTo>
                    <a:pt x="6844411" y="455803"/>
                  </a:lnTo>
                  <a:lnTo>
                    <a:pt x="6827520" y="455803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583680" y="2468880"/>
            <a:ext cx="4754880" cy="731520"/>
            <a:chOff x="0" y="0"/>
            <a:chExt cx="6339840" cy="9753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39840" cy="975360"/>
            </a:xfrm>
            <a:custGeom>
              <a:avLst/>
              <a:gdLst/>
              <a:ahLst/>
              <a:cxnLst/>
              <a:rect r="r" b="b" t="t" l="l"/>
              <a:pathLst>
                <a:path h="97536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633984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Vishnumaya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583680" y="3255264"/>
            <a:ext cx="4754880" cy="640080"/>
            <a:chOff x="0" y="0"/>
            <a:chExt cx="6339840" cy="8534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339840" cy="853440"/>
            </a:xfrm>
            <a:custGeom>
              <a:avLst/>
              <a:gdLst/>
              <a:ahLst/>
              <a:cxnLst/>
              <a:rect r="r" b="b" t="t" l="l"/>
              <a:pathLst>
                <a:path h="85344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745" r="0" b="-9474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633984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E86A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CSDA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583680" y="3840480"/>
            <a:ext cx="4754880" cy="548640"/>
            <a:chOff x="0" y="0"/>
            <a:chExt cx="6339840" cy="7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339840" cy="731520"/>
            </a:xfrm>
            <a:custGeom>
              <a:avLst/>
              <a:gdLst/>
              <a:ahLst/>
              <a:cxnLst/>
              <a:rect r="r" b="b" t="t" l="l"/>
              <a:pathLst>
                <a:path h="73152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6339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896A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Reg: 253013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051030" y="2175510"/>
            <a:ext cx="5158740" cy="2964180"/>
            <a:chOff x="0" y="0"/>
            <a:chExt cx="6878320" cy="39522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25400" y="25400"/>
              <a:ext cx="6827520" cy="3901440"/>
            </a:xfrm>
            <a:custGeom>
              <a:avLst/>
              <a:gdLst/>
              <a:ahLst/>
              <a:cxnLst/>
              <a:rect r="r" b="b" t="t" l="l"/>
              <a:pathLst>
                <a:path h="3901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878320" cy="3952240"/>
            </a:xfrm>
            <a:custGeom>
              <a:avLst/>
              <a:gdLst/>
              <a:ahLst/>
              <a:cxnLst/>
              <a:rect r="r" b="b" t="t" l="l"/>
              <a:pathLst>
                <a:path h="3952240" w="6878320">
                  <a:moveTo>
                    <a:pt x="25400" y="0"/>
                  </a:moveTo>
                  <a:lnTo>
                    <a:pt x="6852920" y="0"/>
                  </a:lnTo>
                  <a:cubicBezTo>
                    <a:pt x="6866889" y="0"/>
                    <a:pt x="6878320" y="11430"/>
                    <a:pt x="6878320" y="25400"/>
                  </a:cubicBezTo>
                  <a:lnTo>
                    <a:pt x="6878320" y="3926840"/>
                  </a:lnTo>
                  <a:cubicBezTo>
                    <a:pt x="6878320" y="3940810"/>
                    <a:pt x="6866889" y="3952240"/>
                    <a:pt x="6852920" y="3952240"/>
                  </a:cubicBezTo>
                  <a:lnTo>
                    <a:pt x="25400" y="3952240"/>
                  </a:lnTo>
                  <a:cubicBezTo>
                    <a:pt x="11430" y="3952240"/>
                    <a:pt x="0" y="3940810"/>
                    <a:pt x="0" y="39268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926840"/>
                  </a:lnTo>
                  <a:lnTo>
                    <a:pt x="25400" y="3926840"/>
                  </a:lnTo>
                  <a:lnTo>
                    <a:pt x="25400" y="3901440"/>
                  </a:lnTo>
                  <a:lnTo>
                    <a:pt x="6852920" y="3901440"/>
                  </a:lnTo>
                  <a:lnTo>
                    <a:pt x="6852920" y="3926840"/>
                  </a:lnTo>
                  <a:lnTo>
                    <a:pt x="6827520" y="3926840"/>
                  </a:lnTo>
                  <a:lnTo>
                    <a:pt x="6827520" y="25400"/>
                  </a:lnTo>
                  <a:lnTo>
                    <a:pt x="6852920" y="25400"/>
                  </a:lnTo>
                  <a:lnTo>
                    <a:pt x="68529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2057383" y="2181863"/>
            <a:ext cx="5146043" cy="354587"/>
            <a:chOff x="0" y="0"/>
            <a:chExt cx="6861391" cy="47278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6891" y="16891"/>
              <a:ext cx="6827520" cy="438912"/>
            </a:xfrm>
            <a:custGeom>
              <a:avLst/>
              <a:gdLst/>
              <a:ahLst/>
              <a:cxnLst/>
              <a:rect r="r" b="b" t="t" l="l"/>
              <a:pathLst>
                <a:path h="43891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861301" cy="472696"/>
            </a:xfrm>
            <a:custGeom>
              <a:avLst/>
              <a:gdLst/>
              <a:ahLst/>
              <a:cxnLst/>
              <a:rect r="r" b="b" t="t" l="l"/>
              <a:pathLst>
                <a:path h="472696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455803"/>
                  </a:lnTo>
                  <a:cubicBezTo>
                    <a:pt x="6861301" y="465201"/>
                    <a:pt x="6853682" y="472694"/>
                    <a:pt x="6844411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6844411" y="438912"/>
                  </a:lnTo>
                  <a:lnTo>
                    <a:pt x="6844411" y="455803"/>
                  </a:lnTo>
                  <a:lnTo>
                    <a:pt x="6827520" y="455803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252960" y="2468880"/>
            <a:ext cx="4754880" cy="731520"/>
            <a:chOff x="0" y="0"/>
            <a:chExt cx="6339840" cy="9753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339840" cy="975360"/>
            </a:xfrm>
            <a:custGeom>
              <a:avLst/>
              <a:gdLst/>
              <a:ahLst/>
              <a:cxnLst/>
              <a:rect r="r" b="b" t="t" l="l"/>
              <a:pathLst>
                <a:path h="97536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633984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Anagha C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252960" y="3255264"/>
            <a:ext cx="4754880" cy="640080"/>
            <a:chOff x="0" y="0"/>
            <a:chExt cx="6339840" cy="8534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339840" cy="853440"/>
            </a:xfrm>
            <a:custGeom>
              <a:avLst/>
              <a:gdLst/>
              <a:ahLst/>
              <a:cxnLst/>
              <a:rect r="r" b="b" t="t" l="l"/>
              <a:pathLst>
                <a:path h="85344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745" r="0" b="-9474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633984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E86A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DACS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2252960" y="3840480"/>
            <a:ext cx="4754880" cy="548640"/>
            <a:chOff x="0" y="0"/>
            <a:chExt cx="6339840" cy="7315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339840" cy="731520"/>
            </a:xfrm>
            <a:custGeom>
              <a:avLst/>
              <a:gdLst/>
              <a:ahLst/>
              <a:cxnLst/>
              <a:rect r="r" b="b" t="t" l="l"/>
              <a:pathLst>
                <a:path h="73152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6339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896A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Reg: 253126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718823" y="5565143"/>
            <a:ext cx="16850363" cy="4231643"/>
            <a:chOff x="0" y="0"/>
            <a:chExt cx="22467151" cy="564219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6891" y="16891"/>
              <a:ext cx="22433280" cy="5608320"/>
            </a:xfrm>
            <a:custGeom>
              <a:avLst/>
              <a:gdLst/>
              <a:ahLst/>
              <a:cxnLst/>
              <a:rect r="r" b="b" t="t" l="l"/>
              <a:pathLst>
                <a:path h="56083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5608320"/>
                  </a:lnTo>
                  <a:lnTo>
                    <a:pt x="0" y="560832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2467063" cy="5642102"/>
            </a:xfrm>
            <a:custGeom>
              <a:avLst/>
              <a:gdLst/>
              <a:ahLst/>
              <a:cxnLst/>
              <a:rect r="r" b="b" t="t" l="l"/>
              <a:pathLst>
                <a:path h="5642102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5625211"/>
                  </a:lnTo>
                  <a:cubicBezTo>
                    <a:pt x="22467063" y="5634609"/>
                    <a:pt x="22459443" y="5642102"/>
                    <a:pt x="22450171" y="5642102"/>
                  </a:cubicBezTo>
                  <a:lnTo>
                    <a:pt x="16891" y="5642102"/>
                  </a:lnTo>
                  <a:cubicBezTo>
                    <a:pt x="7493" y="5642102"/>
                    <a:pt x="0" y="5634482"/>
                    <a:pt x="0" y="5625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625211"/>
                  </a:lnTo>
                  <a:lnTo>
                    <a:pt x="16891" y="5625211"/>
                  </a:lnTo>
                  <a:lnTo>
                    <a:pt x="16891" y="5608320"/>
                  </a:lnTo>
                  <a:lnTo>
                    <a:pt x="22450171" y="5608320"/>
                  </a:lnTo>
                  <a:lnTo>
                    <a:pt x="22450171" y="5625211"/>
                  </a:lnTo>
                  <a:lnTo>
                    <a:pt x="22433280" y="5625211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280160" y="5760720"/>
            <a:ext cx="5486400" cy="731520"/>
            <a:chOff x="0" y="0"/>
            <a:chExt cx="7315200" cy="9753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315200" cy="975360"/>
            </a:xfrm>
            <a:custGeom>
              <a:avLst/>
              <a:gdLst/>
              <a:ahLst/>
              <a:cxnLst/>
              <a:rect r="r" b="b" t="t" l="l"/>
              <a:pathLst>
                <a:path h="9753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731520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C9A84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Project Goal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280160" y="6492240"/>
            <a:ext cx="15727680" cy="2926080"/>
            <a:chOff x="0" y="0"/>
            <a:chExt cx="20970240" cy="39014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0970239" cy="3901440"/>
            </a:xfrm>
            <a:custGeom>
              <a:avLst/>
              <a:gdLst/>
              <a:ahLst/>
              <a:cxnLst/>
              <a:rect r="r" b="b" t="t" l="l"/>
              <a:pathLst>
                <a:path h="390144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32" r="0" b="-5473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57150"/>
              <a:ext cx="20970240" cy="3958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F4F1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Classify Indian coin denominations (₹1, ₹2, ₹5, ₹10, ₹20) from photographs using </a:t>
              </a:r>
              <a:r>
                <a:rPr lang="en-US" sz="2600" b="true">
                  <a:solidFill>
                    <a:srgbClr val="C9A8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classical machine learning</a:t>
              </a:r>
              <a:r>
                <a:rPr lang="en-US" sz="2600">
                  <a:solidFill>
                    <a:srgbClr val="F4F1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— no deep learning. Features extracted via shape, texture, and color descriptors after segmenting the coin using Circular Hough Transform.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48640" y="274320"/>
            <a:ext cx="1097280" cy="1097280"/>
            <a:chOff x="0" y="0"/>
            <a:chExt cx="1463040" cy="1463040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2011680" y="182880"/>
            <a:ext cx="15544800" cy="1463040"/>
            <a:chOff x="0" y="0"/>
            <a:chExt cx="20726400" cy="19507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26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028" r="0" b="-15702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726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Dataset Overview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40080" y="2103120"/>
            <a:ext cx="3108960" cy="3108960"/>
            <a:chOff x="0" y="0"/>
            <a:chExt cx="4145280" cy="4145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45280" cy="4145280"/>
            </a:xfrm>
            <a:custGeom>
              <a:avLst/>
              <a:gdLst/>
              <a:ahLst/>
              <a:cxnLst/>
              <a:rect r="r" b="b" t="t" l="l"/>
              <a:pathLst>
                <a:path h="414528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4145280"/>
                  </a:lnTo>
                  <a:lnTo>
                    <a:pt x="0" y="4145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6666" t="0" r="-16666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35943" y="5290823"/>
            <a:ext cx="3317243" cy="720347"/>
            <a:chOff x="0" y="0"/>
            <a:chExt cx="4422991" cy="9604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6891" y="16891"/>
              <a:ext cx="4389120" cy="926592"/>
            </a:xfrm>
            <a:custGeom>
              <a:avLst/>
              <a:gdLst/>
              <a:ahLst/>
              <a:cxnLst/>
              <a:rect r="r" b="b" t="t" l="l"/>
              <a:pathLst>
                <a:path h="92659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22902" cy="960376"/>
            </a:xfrm>
            <a:custGeom>
              <a:avLst/>
              <a:gdLst/>
              <a:ahLst/>
              <a:cxnLst/>
              <a:rect r="r" b="b" t="t" l="l"/>
              <a:pathLst>
                <a:path h="960376" w="4422902">
                  <a:moveTo>
                    <a:pt x="16891" y="0"/>
                  </a:moveTo>
                  <a:lnTo>
                    <a:pt x="4406011" y="0"/>
                  </a:lnTo>
                  <a:cubicBezTo>
                    <a:pt x="4415409" y="0"/>
                    <a:pt x="4422902" y="7620"/>
                    <a:pt x="4422902" y="16891"/>
                  </a:cubicBezTo>
                  <a:lnTo>
                    <a:pt x="4422902" y="943483"/>
                  </a:lnTo>
                  <a:cubicBezTo>
                    <a:pt x="4422902" y="952881"/>
                    <a:pt x="4415282" y="960374"/>
                    <a:pt x="440601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4406011" y="926592"/>
                  </a:lnTo>
                  <a:lnTo>
                    <a:pt x="4406011" y="943483"/>
                  </a:lnTo>
                  <a:lnTo>
                    <a:pt x="4389120" y="943483"/>
                  </a:lnTo>
                  <a:lnTo>
                    <a:pt x="4389120" y="16891"/>
                  </a:lnTo>
                  <a:lnTo>
                    <a:pt x="4406011" y="16891"/>
                  </a:lnTo>
                  <a:lnTo>
                    <a:pt x="4406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48640" y="5303520"/>
            <a:ext cx="3291840" cy="694944"/>
            <a:chOff x="0" y="0"/>
            <a:chExt cx="4389120" cy="9265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389120" cy="926592"/>
            </a:xfrm>
            <a:custGeom>
              <a:avLst/>
              <a:gdLst/>
              <a:ahLst/>
              <a:cxnLst/>
              <a:rect r="r" b="b" t="t" l="l"/>
              <a:pathLst>
                <a:path h="92659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297" r="0" b="-4229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4389120" cy="9265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C9A84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₹1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57200" y="6035040"/>
            <a:ext cx="3474720" cy="914400"/>
            <a:chOff x="0" y="0"/>
            <a:chExt cx="4632960" cy="1219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6329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43" r="0" b="-2404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63296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896A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Ferrit. Steel · 21.9mm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114800" y="2103120"/>
            <a:ext cx="3108960" cy="3108960"/>
            <a:chOff x="0" y="0"/>
            <a:chExt cx="4145280" cy="4145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145280" cy="4145280"/>
            </a:xfrm>
            <a:custGeom>
              <a:avLst/>
              <a:gdLst/>
              <a:ahLst/>
              <a:cxnLst/>
              <a:rect r="r" b="b" t="t" l="l"/>
              <a:pathLst>
                <a:path h="414528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4145280"/>
                  </a:lnTo>
                  <a:lnTo>
                    <a:pt x="0" y="4145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6747" t="0" r="-16747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010663" y="5290823"/>
            <a:ext cx="3317243" cy="720347"/>
            <a:chOff x="0" y="0"/>
            <a:chExt cx="4422991" cy="96046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4389120" cy="926592"/>
            </a:xfrm>
            <a:custGeom>
              <a:avLst/>
              <a:gdLst/>
              <a:ahLst/>
              <a:cxnLst/>
              <a:rect r="r" b="b" t="t" l="l"/>
              <a:pathLst>
                <a:path h="92659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422902" cy="960376"/>
            </a:xfrm>
            <a:custGeom>
              <a:avLst/>
              <a:gdLst/>
              <a:ahLst/>
              <a:cxnLst/>
              <a:rect r="r" b="b" t="t" l="l"/>
              <a:pathLst>
                <a:path h="960376" w="4422902">
                  <a:moveTo>
                    <a:pt x="16891" y="0"/>
                  </a:moveTo>
                  <a:lnTo>
                    <a:pt x="4406011" y="0"/>
                  </a:lnTo>
                  <a:cubicBezTo>
                    <a:pt x="4415409" y="0"/>
                    <a:pt x="4422902" y="7620"/>
                    <a:pt x="4422902" y="16891"/>
                  </a:cubicBezTo>
                  <a:lnTo>
                    <a:pt x="4422902" y="943483"/>
                  </a:lnTo>
                  <a:cubicBezTo>
                    <a:pt x="4422902" y="952881"/>
                    <a:pt x="4415282" y="960374"/>
                    <a:pt x="440601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4406011" y="926592"/>
                  </a:lnTo>
                  <a:lnTo>
                    <a:pt x="4406011" y="943483"/>
                  </a:lnTo>
                  <a:lnTo>
                    <a:pt x="4389120" y="943483"/>
                  </a:lnTo>
                  <a:lnTo>
                    <a:pt x="4389120" y="16891"/>
                  </a:lnTo>
                  <a:lnTo>
                    <a:pt x="4406011" y="16891"/>
                  </a:lnTo>
                  <a:lnTo>
                    <a:pt x="4406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4023360" y="5303520"/>
            <a:ext cx="3291840" cy="694944"/>
            <a:chOff x="0" y="0"/>
            <a:chExt cx="4389120" cy="9265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389120" cy="926592"/>
            </a:xfrm>
            <a:custGeom>
              <a:avLst/>
              <a:gdLst/>
              <a:ahLst/>
              <a:cxnLst/>
              <a:rect r="r" b="b" t="t" l="l"/>
              <a:pathLst>
                <a:path h="92659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297" r="0" b="-4229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4389120" cy="9265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C9A84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₹2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931920" y="6035040"/>
            <a:ext cx="3474720" cy="914400"/>
            <a:chOff x="0" y="0"/>
            <a:chExt cx="4632960" cy="1219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6329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43" r="0" b="-2404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463296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896A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Stainless · 25mm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589520" y="2103120"/>
            <a:ext cx="3108960" cy="3108960"/>
            <a:chOff x="0" y="0"/>
            <a:chExt cx="4145280" cy="41452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145280" cy="4145280"/>
            </a:xfrm>
            <a:custGeom>
              <a:avLst/>
              <a:gdLst/>
              <a:ahLst/>
              <a:cxnLst/>
              <a:rect r="r" b="b" t="t" l="l"/>
              <a:pathLst>
                <a:path h="414528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4145280"/>
                  </a:lnTo>
                  <a:lnTo>
                    <a:pt x="0" y="4145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6747" t="0" r="-16747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7485383" y="5290823"/>
            <a:ext cx="3317243" cy="720347"/>
            <a:chOff x="0" y="0"/>
            <a:chExt cx="4422991" cy="96046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4389120" cy="926592"/>
            </a:xfrm>
            <a:custGeom>
              <a:avLst/>
              <a:gdLst/>
              <a:ahLst/>
              <a:cxnLst/>
              <a:rect r="r" b="b" t="t" l="l"/>
              <a:pathLst>
                <a:path h="92659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422902" cy="960376"/>
            </a:xfrm>
            <a:custGeom>
              <a:avLst/>
              <a:gdLst/>
              <a:ahLst/>
              <a:cxnLst/>
              <a:rect r="r" b="b" t="t" l="l"/>
              <a:pathLst>
                <a:path h="960376" w="4422902">
                  <a:moveTo>
                    <a:pt x="16891" y="0"/>
                  </a:moveTo>
                  <a:lnTo>
                    <a:pt x="4406011" y="0"/>
                  </a:lnTo>
                  <a:cubicBezTo>
                    <a:pt x="4415409" y="0"/>
                    <a:pt x="4422902" y="7620"/>
                    <a:pt x="4422902" y="16891"/>
                  </a:cubicBezTo>
                  <a:lnTo>
                    <a:pt x="4422902" y="943483"/>
                  </a:lnTo>
                  <a:cubicBezTo>
                    <a:pt x="4422902" y="952881"/>
                    <a:pt x="4415282" y="960374"/>
                    <a:pt x="440601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4406011" y="926592"/>
                  </a:lnTo>
                  <a:lnTo>
                    <a:pt x="4406011" y="943483"/>
                  </a:lnTo>
                  <a:lnTo>
                    <a:pt x="4389120" y="943483"/>
                  </a:lnTo>
                  <a:lnTo>
                    <a:pt x="4389120" y="16891"/>
                  </a:lnTo>
                  <a:lnTo>
                    <a:pt x="4406011" y="16891"/>
                  </a:lnTo>
                  <a:lnTo>
                    <a:pt x="4406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7498080" y="5303520"/>
            <a:ext cx="3291840" cy="694944"/>
            <a:chOff x="0" y="0"/>
            <a:chExt cx="4389120" cy="92659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389120" cy="926592"/>
            </a:xfrm>
            <a:custGeom>
              <a:avLst/>
              <a:gdLst/>
              <a:ahLst/>
              <a:cxnLst/>
              <a:rect r="r" b="b" t="t" l="l"/>
              <a:pathLst>
                <a:path h="92659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297" r="0" b="-4229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4389120" cy="9265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C9A84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₹5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406640" y="6035040"/>
            <a:ext cx="3474720" cy="914400"/>
            <a:chOff x="0" y="0"/>
            <a:chExt cx="4632960" cy="1219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6329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43" r="0" b="-24043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463296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896A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Brass · 23mm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064240" y="2103120"/>
            <a:ext cx="3108960" cy="3108960"/>
            <a:chOff x="0" y="0"/>
            <a:chExt cx="4145280" cy="41452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145280" cy="4145280"/>
            </a:xfrm>
            <a:custGeom>
              <a:avLst/>
              <a:gdLst/>
              <a:ahLst/>
              <a:cxnLst/>
              <a:rect r="r" b="b" t="t" l="l"/>
              <a:pathLst>
                <a:path h="414528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4145280"/>
                  </a:lnTo>
                  <a:lnTo>
                    <a:pt x="0" y="4145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6747" t="0" r="-16747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0960103" y="5290823"/>
            <a:ext cx="3317243" cy="720347"/>
            <a:chOff x="0" y="0"/>
            <a:chExt cx="4422991" cy="96046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16891" y="16891"/>
              <a:ext cx="4389120" cy="926592"/>
            </a:xfrm>
            <a:custGeom>
              <a:avLst/>
              <a:gdLst/>
              <a:ahLst/>
              <a:cxnLst/>
              <a:rect r="r" b="b" t="t" l="l"/>
              <a:pathLst>
                <a:path h="92659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422902" cy="960376"/>
            </a:xfrm>
            <a:custGeom>
              <a:avLst/>
              <a:gdLst/>
              <a:ahLst/>
              <a:cxnLst/>
              <a:rect r="r" b="b" t="t" l="l"/>
              <a:pathLst>
                <a:path h="960376" w="4422902">
                  <a:moveTo>
                    <a:pt x="16891" y="0"/>
                  </a:moveTo>
                  <a:lnTo>
                    <a:pt x="4406011" y="0"/>
                  </a:lnTo>
                  <a:cubicBezTo>
                    <a:pt x="4415409" y="0"/>
                    <a:pt x="4422902" y="7620"/>
                    <a:pt x="4422902" y="16891"/>
                  </a:cubicBezTo>
                  <a:lnTo>
                    <a:pt x="4422902" y="943483"/>
                  </a:lnTo>
                  <a:cubicBezTo>
                    <a:pt x="4422902" y="952881"/>
                    <a:pt x="4415282" y="960374"/>
                    <a:pt x="440601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4406011" y="926592"/>
                  </a:lnTo>
                  <a:lnTo>
                    <a:pt x="4406011" y="943483"/>
                  </a:lnTo>
                  <a:lnTo>
                    <a:pt x="4389120" y="943483"/>
                  </a:lnTo>
                  <a:lnTo>
                    <a:pt x="4389120" y="16891"/>
                  </a:lnTo>
                  <a:lnTo>
                    <a:pt x="4406011" y="16891"/>
                  </a:lnTo>
                  <a:lnTo>
                    <a:pt x="4406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0972800" y="5303520"/>
            <a:ext cx="3291840" cy="694944"/>
            <a:chOff x="0" y="0"/>
            <a:chExt cx="4389120" cy="92659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389120" cy="926592"/>
            </a:xfrm>
            <a:custGeom>
              <a:avLst/>
              <a:gdLst/>
              <a:ahLst/>
              <a:cxnLst/>
              <a:rect r="r" b="b" t="t" l="l"/>
              <a:pathLst>
                <a:path h="92659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297" r="0" b="-4229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4389120" cy="9265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C9A84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₹10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881360" y="6035040"/>
            <a:ext cx="3474720" cy="914400"/>
            <a:chOff x="0" y="0"/>
            <a:chExt cx="4632960" cy="12192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6329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43" r="0" b="-24043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463296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896A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Bi-metallic · 27mm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4538960" y="2103120"/>
            <a:ext cx="3108960" cy="3108960"/>
            <a:chOff x="0" y="0"/>
            <a:chExt cx="4145280" cy="41452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145280" cy="4145280"/>
            </a:xfrm>
            <a:custGeom>
              <a:avLst/>
              <a:gdLst/>
              <a:ahLst/>
              <a:cxnLst/>
              <a:rect r="r" b="b" t="t" l="l"/>
              <a:pathLst>
                <a:path h="414528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4145280"/>
                  </a:lnTo>
                  <a:lnTo>
                    <a:pt x="0" y="4145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6747" t="0" r="-16747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4434823" y="5290823"/>
            <a:ext cx="3317243" cy="720347"/>
            <a:chOff x="0" y="0"/>
            <a:chExt cx="4422991" cy="96046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4389120" cy="926592"/>
            </a:xfrm>
            <a:custGeom>
              <a:avLst/>
              <a:gdLst/>
              <a:ahLst/>
              <a:cxnLst/>
              <a:rect r="r" b="b" t="t" l="l"/>
              <a:pathLst>
                <a:path h="92659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422902" cy="960376"/>
            </a:xfrm>
            <a:custGeom>
              <a:avLst/>
              <a:gdLst/>
              <a:ahLst/>
              <a:cxnLst/>
              <a:rect r="r" b="b" t="t" l="l"/>
              <a:pathLst>
                <a:path h="960376" w="4422902">
                  <a:moveTo>
                    <a:pt x="16891" y="0"/>
                  </a:moveTo>
                  <a:lnTo>
                    <a:pt x="4406011" y="0"/>
                  </a:lnTo>
                  <a:cubicBezTo>
                    <a:pt x="4415409" y="0"/>
                    <a:pt x="4422902" y="7620"/>
                    <a:pt x="4422902" y="16891"/>
                  </a:cubicBezTo>
                  <a:lnTo>
                    <a:pt x="4422902" y="943483"/>
                  </a:lnTo>
                  <a:cubicBezTo>
                    <a:pt x="4422902" y="952881"/>
                    <a:pt x="4415282" y="960374"/>
                    <a:pt x="440601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4406011" y="926592"/>
                  </a:lnTo>
                  <a:lnTo>
                    <a:pt x="4406011" y="943483"/>
                  </a:lnTo>
                  <a:lnTo>
                    <a:pt x="4389120" y="943483"/>
                  </a:lnTo>
                  <a:lnTo>
                    <a:pt x="4389120" y="16891"/>
                  </a:lnTo>
                  <a:lnTo>
                    <a:pt x="4406011" y="16891"/>
                  </a:lnTo>
                  <a:lnTo>
                    <a:pt x="4406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4447520" y="5303520"/>
            <a:ext cx="3291840" cy="694944"/>
            <a:chOff x="0" y="0"/>
            <a:chExt cx="4389120" cy="92659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389120" cy="926592"/>
            </a:xfrm>
            <a:custGeom>
              <a:avLst/>
              <a:gdLst/>
              <a:ahLst/>
              <a:cxnLst/>
              <a:rect r="r" b="b" t="t" l="l"/>
              <a:pathLst>
                <a:path h="92659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297" r="0" b="-42297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4389120" cy="9265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C9A84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₹20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4356080" y="6035040"/>
            <a:ext cx="3474720" cy="914400"/>
            <a:chOff x="0" y="0"/>
            <a:chExt cx="4632960" cy="12192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6329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43" r="0" b="-24043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463296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896A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Bi-metallic · 27mm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895350" y="7387590"/>
            <a:ext cx="3695700" cy="2232660"/>
            <a:chOff x="0" y="0"/>
            <a:chExt cx="4927600" cy="29768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25400" y="25400"/>
              <a:ext cx="48768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F0EDE5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927600" cy="2976880"/>
            </a:xfrm>
            <a:custGeom>
              <a:avLst/>
              <a:gdLst/>
              <a:ahLst/>
              <a:cxnLst/>
              <a:rect r="r" b="b" t="t" l="l"/>
              <a:pathLst>
                <a:path h="2976880" w="4927600">
                  <a:moveTo>
                    <a:pt x="25400" y="0"/>
                  </a:moveTo>
                  <a:lnTo>
                    <a:pt x="4902200" y="0"/>
                  </a:lnTo>
                  <a:cubicBezTo>
                    <a:pt x="4916170" y="0"/>
                    <a:pt x="4927600" y="11430"/>
                    <a:pt x="4927600" y="25400"/>
                  </a:cubicBezTo>
                  <a:lnTo>
                    <a:pt x="4927600" y="2951480"/>
                  </a:lnTo>
                  <a:cubicBezTo>
                    <a:pt x="4927600" y="2965450"/>
                    <a:pt x="4916170" y="2976880"/>
                    <a:pt x="4902200" y="2976880"/>
                  </a:cubicBezTo>
                  <a:lnTo>
                    <a:pt x="25400" y="2976880"/>
                  </a:lnTo>
                  <a:cubicBezTo>
                    <a:pt x="11430" y="2976880"/>
                    <a:pt x="0" y="2965450"/>
                    <a:pt x="0" y="29514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951480"/>
                  </a:lnTo>
                  <a:lnTo>
                    <a:pt x="25400" y="2951480"/>
                  </a:lnTo>
                  <a:lnTo>
                    <a:pt x="25400" y="2926080"/>
                  </a:lnTo>
                  <a:lnTo>
                    <a:pt x="4902200" y="2926080"/>
                  </a:lnTo>
                  <a:lnTo>
                    <a:pt x="4902200" y="2951480"/>
                  </a:lnTo>
                  <a:lnTo>
                    <a:pt x="4876800" y="2951480"/>
                  </a:lnTo>
                  <a:lnTo>
                    <a:pt x="4876800" y="25400"/>
                  </a:lnTo>
                  <a:lnTo>
                    <a:pt x="4902200" y="25400"/>
                  </a:lnTo>
                  <a:lnTo>
                    <a:pt x="49022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914400" y="7498080"/>
            <a:ext cx="3657600" cy="1188720"/>
            <a:chOff x="0" y="0"/>
            <a:chExt cx="4876800" cy="158496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8768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4876800" cy="1594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0D1B2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900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14400" y="8686800"/>
            <a:ext cx="3657600" cy="731520"/>
            <a:chOff x="0" y="0"/>
            <a:chExt cx="4876800" cy="97536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876800" cy="975360"/>
            </a:xfrm>
            <a:custGeom>
              <a:avLst/>
              <a:gdLst/>
              <a:ahLst/>
              <a:cxnLst/>
              <a:rect r="r" b="b" t="t" l="l"/>
              <a:pathLst>
                <a:path h="9753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48768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8896A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 Images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5101590" y="7387590"/>
            <a:ext cx="3695700" cy="2232660"/>
            <a:chOff x="0" y="0"/>
            <a:chExt cx="4927600" cy="297688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25400" y="25400"/>
              <a:ext cx="48768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F0EDE5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927600" cy="2976880"/>
            </a:xfrm>
            <a:custGeom>
              <a:avLst/>
              <a:gdLst/>
              <a:ahLst/>
              <a:cxnLst/>
              <a:rect r="r" b="b" t="t" l="l"/>
              <a:pathLst>
                <a:path h="2976880" w="4927600">
                  <a:moveTo>
                    <a:pt x="25400" y="0"/>
                  </a:moveTo>
                  <a:lnTo>
                    <a:pt x="4902200" y="0"/>
                  </a:lnTo>
                  <a:cubicBezTo>
                    <a:pt x="4916170" y="0"/>
                    <a:pt x="4927600" y="11430"/>
                    <a:pt x="4927600" y="25400"/>
                  </a:cubicBezTo>
                  <a:lnTo>
                    <a:pt x="4927600" y="2951480"/>
                  </a:lnTo>
                  <a:cubicBezTo>
                    <a:pt x="4927600" y="2965450"/>
                    <a:pt x="4916170" y="2976880"/>
                    <a:pt x="4902200" y="2976880"/>
                  </a:cubicBezTo>
                  <a:lnTo>
                    <a:pt x="25400" y="2976880"/>
                  </a:lnTo>
                  <a:cubicBezTo>
                    <a:pt x="11430" y="2976880"/>
                    <a:pt x="0" y="2965450"/>
                    <a:pt x="0" y="29514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951480"/>
                  </a:lnTo>
                  <a:lnTo>
                    <a:pt x="25400" y="2951480"/>
                  </a:lnTo>
                  <a:lnTo>
                    <a:pt x="25400" y="2926080"/>
                  </a:lnTo>
                  <a:lnTo>
                    <a:pt x="4902200" y="2926080"/>
                  </a:lnTo>
                  <a:lnTo>
                    <a:pt x="4902200" y="2951480"/>
                  </a:lnTo>
                  <a:lnTo>
                    <a:pt x="4876800" y="2951480"/>
                  </a:lnTo>
                  <a:lnTo>
                    <a:pt x="4876800" y="25400"/>
                  </a:lnTo>
                  <a:lnTo>
                    <a:pt x="4902200" y="25400"/>
                  </a:lnTo>
                  <a:lnTo>
                    <a:pt x="49022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5120640" y="7498080"/>
            <a:ext cx="3657600" cy="1188720"/>
            <a:chOff x="0" y="0"/>
            <a:chExt cx="4876800" cy="158496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8768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9525"/>
              <a:ext cx="4876800" cy="1594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0D1B2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5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5120640" y="8686800"/>
            <a:ext cx="3657600" cy="731520"/>
            <a:chOff x="0" y="0"/>
            <a:chExt cx="4876800" cy="97536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876800" cy="975360"/>
            </a:xfrm>
            <a:custGeom>
              <a:avLst/>
              <a:gdLst/>
              <a:ahLst/>
              <a:cxnLst/>
              <a:rect r="r" b="b" t="t" l="l"/>
              <a:pathLst>
                <a:path h="9753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48768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8896A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Coin Classes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307830" y="7387590"/>
            <a:ext cx="3695700" cy="2232660"/>
            <a:chOff x="0" y="0"/>
            <a:chExt cx="4927600" cy="297688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25400" y="25400"/>
              <a:ext cx="48768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F0EDE5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927600" cy="2976880"/>
            </a:xfrm>
            <a:custGeom>
              <a:avLst/>
              <a:gdLst/>
              <a:ahLst/>
              <a:cxnLst/>
              <a:rect r="r" b="b" t="t" l="l"/>
              <a:pathLst>
                <a:path h="2976880" w="4927600">
                  <a:moveTo>
                    <a:pt x="25400" y="0"/>
                  </a:moveTo>
                  <a:lnTo>
                    <a:pt x="4902200" y="0"/>
                  </a:lnTo>
                  <a:cubicBezTo>
                    <a:pt x="4916170" y="0"/>
                    <a:pt x="4927600" y="11430"/>
                    <a:pt x="4927600" y="25400"/>
                  </a:cubicBezTo>
                  <a:lnTo>
                    <a:pt x="4927600" y="2951480"/>
                  </a:lnTo>
                  <a:cubicBezTo>
                    <a:pt x="4927600" y="2965450"/>
                    <a:pt x="4916170" y="2976880"/>
                    <a:pt x="4902200" y="2976880"/>
                  </a:cubicBezTo>
                  <a:lnTo>
                    <a:pt x="25400" y="2976880"/>
                  </a:lnTo>
                  <a:cubicBezTo>
                    <a:pt x="11430" y="2976880"/>
                    <a:pt x="0" y="2965450"/>
                    <a:pt x="0" y="29514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951480"/>
                  </a:lnTo>
                  <a:lnTo>
                    <a:pt x="25400" y="2951480"/>
                  </a:lnTo>
                  <a:lnTo>
                    <a:pt x="25400" y="2926080"/>
                  </a:lnTo>
                  <a:lnTo>
                    <a:pt x="4902200" y="2926080"/>
                  </a:lnTo>
                  <a:lnTo>
                    <a:pt x="4902200" y="2951480"/>
                  </a:lnTo>
                  <a:lnTo>
                    <a:pt x="4876800" y="2951480"/>
                  </a:lnTo>
                  <a:lnTo>
                    <a:pt x="4876800" y="25400"/>
                  </a:lnTo>
                  <a:lnTo>
                    <a:pt x="4902200" y="25400"/>
                  </a:lnTo>
                  <a:lnTo>
                    <a:pt x="49022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326880" y="7498080"/>
            <a:ext cx="3657600" cy="1188720"/>
            <a:chOff x="0" y="0"/>
            <a:chExt cx="4876800" cy="158496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8768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9525"/>
              <a:ext cx="4876800" cy="1594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0D1B2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180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326880" y="8686800"/>
            <a:ext cx="3657600" cy="731520"/>
            <a:chOff x="0" y="0"/>
            <a:chExt cx="4876800" cy="97536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876800" cy="975360"/>
            </a:xfrm>
            <a:custGeom>
              <a:avLst/>
              <a:gdLst/>
              <a:ahLst/>
              <a:cxnLst/>
              <a:rect r="r" b="b" t="t" l="l"/>
              <a:pathLst>
                <a:path h="9753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48768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8896A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 Class (avg)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3514070" y="7387590"/>
            <a:ext cx="3695700" cy="2232660"/>
            <a:chOff x="0" y="0"/>
            <a:chExt cx="4927600" cy="297688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25400" y="25400"/>
              <a:ext cx="48768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F0EDE5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4927600" cy="2976880"/>
            </a:xfrm>
            <a:custGeom>
              <a:avLst/>
              <a:gdLst/>
              <a:ahLst/>
              <a:cxnLst/>
              <a:rect r="r" b="b" t="t" l="l"/>
              <a:pathLst>
                <a:path h="2976880" w="4927600">
                  <a:moveTo>
                    <a:pt x="25400" y="0"/>
                  </a:moveTo>
                  <a:lnTo>
                    <a:pt x="4902200" y="0"/>
                  </a:lnTo>
                  <a:cubicBezTo>
                    <a:pt x="4916170" y="0"/>
                    <a:pt x="4927600" y="11430"/>
                    <a:pt x="4927600" y="25400"/>
                  </a:cubicBezTo>
                  <a:lnTo>
                    <a:pt x="4927600" y="2951480"/>
                  </a:lnTo>
                  <a:cubicBezTo>
                    <a:pt x="4927600" y="2965450"/>
                    <a:pt x="4916170" y="2976880"/>
                    <a:pt x="4902200" y="2976880"/>
                  </a:cubicBezTo>
                  <a:lnTo>
                    <a:pt x="25400" y="2976880"/>
                  </a:lnTo>
                  <a:cubicBezTo>
                    <a:pt x="11430" y="2976880"/>
                    <a:pt x="0" y="2965450"/>
                    <a:pt x="0" y="29514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951480"/>
                  </a:lnTo>
                  <a:lnTo>
                    <a:pt x="25400" y="2951480"/>
                  </a:lnTo>
                  <a:lnTo>
                    <a:pt x="25400" y="2926080"/>
                  </a:lnTo>
                  <a:lnTo>
                    <a:pt x="4902200" y="2926080"/>
                  </a:lnTo>
                  <a:lnTo>
                    <a:pt x="4902200" y="2951480"/>
                  </a:lnTo>
                  <a:lnTo>
                    <a:pt x="4876800" y="2951480"/>
                  </a:lnTo>
                  <a:lnTo>
                    <a:pt x="4876800" y="25400"/>
                  </a:lnTo>
                  <a:lnTo>
                    <a:pt x="4902200" y="25400"/>
                  </a:lnTo>
                  <a:lnTo>
                    <a:pt x="49022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3533120" y="7498080"/>
            <a:ext cx="3657600" cy="1188720"/>
            <a:chOff x="0" y="0"/>
            <a:chExt cx="4876800" cy="158496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8768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9525"/>
              <a:ext cx="4876800" cy="1594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0D1B2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80/20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3533120" y="8686800"/>
            <a:ext cx="3657600" cy="731520"/>
            <a:chOff x="0" y="0"/>
            <a:chExt cx="4876800" cy="97536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876800" cy="975360"/>
            </a:xfrm>
            <a:custGeom>
              <a:avLst/>
              <a:gdLst/>
              <a:ahLst/>
              <a:cxnLst/>
              <a:rect r="r" b="b" t="t" l="l"/>
              <a:pathLst>
                <a:path h="9753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47625"/>
              <a:ext cx="48768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8896A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Train/Test Split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914400" y="9784080"/>
            <a:ext cx="16459200" cy="457200"/>
            <a:chOff x="0" y="0"/>
            <a:chExt cx="21945600" cy="60960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194560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21945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8896A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Source: Kaggle — Indian Coin Denomination Dataset (ICDD)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D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48640" y="274320"/>
            <a:ext cx="1097280" cy="1097280"/>
            <a:chOff x="0" y="0"/>
            <a:chExt cx="1463040" cy="1463040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2011680" y="182880"/>
            <a:ext cx="15544800" cy="1463040"/>
            <a:chOff x="0" y="0"/>
            <a:chExt cx="20726400" cy="19507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26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028" r="0" b="-15702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726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Processing Pipeline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46197" y="2077717"/>
            <a:ext cx="1239517" cy="1239517"/>
            <a:chOff x="0" y="0"/>
            <a:chExt cx="1652689" cy="165268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33909" y="33909"/>
              <a:ext cx="1584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584960">
                  <a:moveTo>
                    <a:pt x="0" y="792480"/>
                  </a:moveTo>
                  <a:cubicBezTo>
                    <a:pt x="0" y="354838"/>
                    <a:pt x="354838" y="0"/>
                    <a:pt x="792480" y="0"/>
                  </a:cubicBezTo>
                  <a:cubicBezTo>
                    <a:pt x="1230122" y="0"/>
                    <a:pt x="1584960" y="354838"/>
                    <a:pt x="1584960" y="792480"/>
                  </a:cubicBezTo>
                  <a:cubicBezTo>
                    <a:pt x="1584960" y="1230122"/>
                    <a:pt x="1230122" y="1584960"/>
                    <a:pt x="792480" y="1584960"/>
                  </a:cubicBezTo>
                  <a:cubicBezTo>
                    <a:pt x="354838" y="1584960"/>
                    <a:pt x="0" y="1230122"/>
                    <a:pt x="0" y="792480"/>
                  </a:cubicBez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52651" cy="1652778"/>
            </a:xfrm>
            <a:custGeom>
              <a:avLst/>
              <a:gdLst/>
              <a:ahLst/>
              <a:cxnLst/>
              <a:rect r="r" b="b" t="t" l="l"/>
              <a:pathLst>
                <a:path h="1652778" w="1652651">
                  <a:moveTo>
                    <a:pt x="0" y="826389"/>
                  </a:moveTo>
                  <a:cubicBezTo>
                    <a:pt x="0" y="369951"/>
                    <a:pt x="369951" y="0"/>
                    <a:pt x="826389" y="0"/>
                  </a:cubicBezTo>
                  <a:lnTo>
                    <a:pt x="826389" y="33909"/>
                  </a:lnTo>
                  <a:lnTo>
                    <a:pt x="826389" y="0"/>
                  </a:lnTo>
                  <a:cubicBezTo>
                    <a:pt x="1282700" y="0"/>
                    <a:pt x="1652651" y="369951"/>
                    <a:pt x="1652651" y="826389"/>
                  </a:cubicBezTo>
                  <a:cubicBezTo>
                    <a:pt x="1652651" y="1282827"/>
                    <a:pt x="1282700" y="1652778"/>
                    <a:pt x="826262" y="1652778"/>
                  </a:cubicBezTo>
                  <a:lnTo>
                    <a:pt x="826262" y="1618869"/>
                  </a:lnTo>
                  <a:lnTo>
                    <a:pt x="826262" y="1652778"/>
                  </a:lnTo>
                  <a:cubicBezTo>
                    <a:pt x="369951" y="1652651"/>
                    <a:pt x="0" y="1282700"/>
                    <a:pt x="0" y="826389"/>
                  </a:cubicBezTo>
                  <a:lnTo>
                    <a:pt x="33909" y="826389"/>
                  </a:lnTo>
                  <a:lnTo>
                    <a:pt x="62611" y="844296"/>
                  </a:lnTo>
                  <a:cubicBezTo>
                    <a:pt x="54610" y="857123"/>
                    <a:pt x="39116" y="863092"/>
                    <a:pt x="24511" y="858901"/>
                  </a:cubicBezTo>
                  <a:cubicBezTo>
                    <a:pt x="9906" y="854710"/>
                    <a:pt x="0" y="841502"/>
                    <a:pt x="0" y="826389"/>
                  </a:cubicBezTo>
                  <a:moveTo>
                    <a:pt x="67691" y="826389"/>
                  </a:moveTo>
                  <a:lnTo>
                    <a:pt x="33909" y="826389"/>
                  </a:lnTo>
                  <a:lnTo>
                    <a:pt x="5207" y="808355"/>
                  </a:lnTo>
                  <a:cubicBezTo>
                    <a:pt x="13208" y="795528"/>
                    <a:pt x="28702" y="789559"/>
                    <a:pt x="43307" y="793750"/>
                  </a:cubicBezTo>
                  <a:cubicBezTo>
                    <a:pt x="57912" y="797941"/>
                    <a:pt x="67818" y="811149"/>
                    <a:pt x="67818" y="826262"/>
                  </a:cubicBezTo>
                  <a:cubicBezTo>
                    <a:pt x="67818" y="1245235"/>
                    <a:pt x="407416" y="1584833"/>
                    <a:pt x="826389" y="1584833"/>
                  </a:cubicBezTo>
                  <a:cubicBezTo>
                    <a:pt x="1245362" y="1584833"/>
                    <a:pt x="1584960" y="1245235"/>
                    <a:pt x="1584960" y="826262"/>
                  </a:cubicBezTo>
                  <a:lnTo>
                    <a:pt x="1618869" y="826262"/>
                  </a:lnTo>
                  <a:lnTo>
                    <a:pt x="1584960" y="826262"/>
                  </a:lnTo>
                  <a:cubicBezTo>
                    <a:pt x="1584960" y="407289"/>
                    <a:pt x="1245362" y="67691"/>
                    <a:pt x="826389" y="67691"/>
                  </a:cubicBezTo>
                  <a:lnTo>
                    <a:pt x="826389" y="33909"/>
                  </a:lnTo>
                  <a:lnTo>
                    <a:pt x="826389" y="67691"/>
                  </a:lnTo>
                  <a:cubicBezTo>
                    <a:pt x="407416" y="67691"/>
                    <a:pt x="67691" y="407416"/>
                    <a:pt x="67691" y="826389"/>
                  </a:cubicBez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71600" y="2103120"/>
            <a:ext cx="1188720" cy="1188720"/>
            <a:chOff x="0" y="0"/>
            <a:chExt cx="1584960" cy="15849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84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584960" cy="1642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C9A8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35943" y="3462023"/>
            <a:ext cx="2768603" cy="2951483"/>
            <a:chOff x="0" y="0"/>
            <a:chExt cx="3691471" cy="393531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6891" y="16891"/>
              <a:ext cx="3657600" cy="3901440"/>
            </a:xfrm>
            <a:custGeom>
              <a:avLst/>
              <a:gdLst/>
              <a:ahLst/>
              <a:cxnLst/>
              <a:rect r="r" b="b" t="t" l="l"/>
              <a:pathLst>
                <a:path h="39014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691382" cy="3935222"/>
            </a:xfrm>
            <a:custGeom>
              <a:avLst/>
              <a:gdLst/>
              <a:ahLst/>
              <a:cxnLst/>
              <a:rect r="r" b="b" t="t" l="l"/>
              <a:pathLst>
                <a:path h="3935222" w="3691382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3918331"/>
                  </a:lnTo>
                  <a:cubicBezTo>
                    <a:pt x="3691382" y="3927729"/>
                    <a:pt x="3683762" y="3935222"/>
                    <a:pt x="3674491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3674491" y="3901440"/>
                  </a:lnTo>
                  <a:lnTo>
                    <a:pt x="3674491" y="3918331"/>
                  </a:lnTo>
                  <a:lnTo>
                    <a:pt x="3657600" y="3918331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548640" y="3566160"/>
            <a:ext cx="2743200" cy="822960"/>
            <a:chOff x="0" y="0"/>
            <a:chExt cx="3657600" cy="10972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657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365760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Input Image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48640" y="4425696"/>
            <a:ext cx="2743200" cy="1828800"/>
            <a:chOff x="0" y="0"/>
            <a:chExt cx="3657600" cy="2438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657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t="0" r="-35535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657600" cy="247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8896A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Raw coin photograph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8896A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(JPG/PNG)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315719" y="4705607"/>
            <a:ext cx="171707" cy="135131"/>
            <a:chOff x="0" y="0"/>
            <a:chExt cx="228943" cy="18017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195072" cy="146304"/>
            </a:xfrm>
            <a:custGeom>
              <a:avLst/>
              <a:gdLst/>
              <a:ahLst/>
              <a:cxnLst/>
              <a:rect r="r" b="b" t="t" l="l"/>
              <a:pathLst>
                <a:path h="146304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C9A84C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8854" cy="180088"/>
            </a:xfrm>
            <a:custGeom>
              <a:avLst/>
              <a:gdLst/>
              <a:ahLst/>
              <a:cxnLst/>
              <a:rect r="r" b="b" t="t" l="l"/>
              <a:pathLst>
                <a:path h="180088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63195"/>
                  </a:lnTo>
                  <a:cubicBezTo>
                    <a:pt x="228854" y="172593"/>
                    <a:pt x="221234" y="180086"/>
                    <a:pt x="211963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211963" y="146304"/>
                  </a:lnTo>
                  <a:lnTo>
                    <a:pt x="211963" y="163195"/>
                  </a:lnTo>
                  <a:lnTo>
                    <a:pt x="195072" y="163195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4235701" y="2077717"/>
            <a:ext cx="1239517" cy="1239517"/>
            <a:chOff x="0" y="0"/>
            <a:chExt cx="1652689" cy="165268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33909" y="33909"/>
              <a:ext cx="1584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584960">
                  <a:moveTo>
                    <a:pt x="0" y="792480"/>
                  </a:moveTo>
                  <a:cubicBezTo>
                    <a:pt x="0" y="354838"/>
                    <a:pt x="354838" y="0"/>
                    <a:pt x="792480" y="0"/>
                  </a:cubicBezTo>
                  <a:cubicBezTo>
                    <a:pt x="1230122" y="0"/>
                    <a:pt x="1584960" y="354838"/>
                    <a:pt x="1584960" y="792480"/>
                  </a:cubicBezTo>
                  <a:cubicBezTo>
                    <a:pt x="1584960" y="1230122"/>
                    <a:pt x="1230122" y="1584960"/>
                    <a:pt x="792480" y="1584960"/>
                  </a:cubicBezTo>
                  <a:cubicBezTo>
                    <a:pt x="354838" y="1584960"/>
                    <a:pt x="0" y="1230122"/>
                    <a:pt x="0" y="792480"/>
                  </a:cubicBez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652651" cy="1652778"/>
            </a:xfrm>
            <a:custGeom>
              <a:avLst/>
              <a:gdLst/>
              <a:ahLst/>
              <a:cxnLst/>
              <a:rect r="r" b="b" t="t" l="l"/>
              <a:pathLst>
                <a:path h="1652778" w="1652651">
                  <a:moveTo>
                    <a:pt x="0" y="826389"/>
                  </a:moveTo>
                  <a:cubicBezTo>
                    <a:pt x="0" y="369951"/>
                    <a:pt x="369951" y="0"/>
                    <a:pt x="826389" y="0"/>
                  </a:cubicBezTo>
                  <a:lnTo>
                    <a:pt x="826389" y="33909"/>
                  </a:lnTo>
                  <a:lnTo>
                    <a:pt x="826389" y="0"/>
                  </a:lnTo>
                  <a:cubicBezTo>
                    <a:pt x="1282700" y="0"/>
                    <a:pt x="1652651" y="369951"/>
                    <a:pt x="1652651" y="826389"/>
                  </a:cubicBezTo>
                  <a:cubicBezTo>
                    <a:pt x="1652651" y="1282827"/>
                    <a:pt x="1282700" y="1652778"/>
                    <a:pt x="826262" y="1652778"/>
                  </a:cubicBezTo>
                  <a:lnTo>
                    <a:pt x="826262" y="1618869"/>
                  </a:lnTo>
                  <a:lnTo>
                    <a:pt x="826262" y="1652778"/>
                  </a:lnTo>
                  <a:cubicBezTo>
                    <a:pt x="369951" y="1652651"/>
                    <a:pt x="0" y="1282700"/>
                    <a:pt x="0" y="826389"/>
                  </a:cubicBezTo>
                  <a:lnTo>
                    <a:pt x="33909" y="826389"/>
                  </a:lnTo>
                  <a:lnTo>
                    <a:pt x="62611" y="844296"/>
                  </a:lnTo>
                  <a:cubicBezTo>
                    <a:pt x="54610" y="857123"/>
                    <a:pt x="39116" y="863092"/>
                    <a:pt x="24511" y="858901"/>
                  </a:cubicBezTo>
                  <a:cubicBezTo>
                    <a:pt x="9906" y="854710"/>
                    <a:pt x="0" y="841502"/>
                    <a:pt x="0" y="826389"/>
                  </a:cubicBezTo>
                  <a:moveTo>
                    <a:pt x="67691" y="826389"/>
                  </a:moveTo>
                  <a:lnTo>
                    <a:pt x="33909" y="826389"/>
                  </a:lnTo>
                  <a:lnTo>
                    <a:pt x="5207" y="808355"/>
                  </a:lnTo>
                  <a:cubicBezTo>
                    <a:pt x="13208" y="795528"/>
                    <a:pt x="28702" y="789559"/>
                    <a:pt x="43307" y="793750"/>
                  </a:cubicBezTo>
                  <a:cubicBezTo>
                    <a:pt x="57912" y="797941"/>
                    <a:pt x="67818" y="811149"/>
                    <a:pt x="67818" y="826262"/>
                  </a:cubicBezTo>
                  <a:cubicBezTo>
                    <a:pt x="67818" y="1245235"/>
                    <a:pt x="407416" y="1584833"/>
                    <a:pt x="826389" y="1584833"/>
                  </a:cubicBezTo>
                  <a:cubicBezTo>
                    <a:pt x="1245362" y="1584833"/>
                    <a:pt x="1584960" y="1245235"/>
                    <a:pt x="1584960" y="826262"/>
                  </a:cubicBezTo>
                  <a:lnTo>
                    <a:pt x="1618869" y="826262"/>
                  </a:lnTo>
                  <a:lnTo>
                    <a:pt x="1584960" y="826262"/>
                  </a:lnTo>
                  <a:cubicBezTo>
                    <a:pt x="1584960" y="407289"/>
                    <a:pt x="1245362" y="67691"/>
                    <a:pt x="826389" y="67691"/>
                  </a:cubicBezTo>
                  <a:lnTo>
                    <a:pt x="826389" y="33909"/>
                  </a:lnTo>
                  <a:lnTo>
                    <a:pt x="826389" y="67691"/>
                  </a:lnTo>
                  <a:cubicBezTo>
                    <a:pt x="407416" y="67691"/>
                    <a:pt x="67691" y="407416"/>
                    <a:pt x="67691" y="826389"/>
                  </a:cubicBez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4261104" y="2103120"/>
            <a:ext cx="1188720" cy="1188720"/>
            <a:chOff x="0" y="0"/>
            <a:chExt cx="1584960" cy="15849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584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1584960" cy="1642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C9A8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3425447" y="3462023"/>
            <a:ext cx="2768603" cy="2951483"/>
            <a:chOff x="0" y="0"/>
            <a:chExt cx="3691471" cy="393531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3657600" cy="3901440"/>
            </a:xfrm>
            <a:custGeom>
              <a:avLst/>
              <a:gdLst/>
              <a:ahLst/>
              <a:cxnLst/>
              <a:rect r="r" b="b" t="t" l="l"/>
              <a:pathLst>
                <a:path h="39014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691382" cy="3935222"/>
            </a:xfrm>
            <a:custGeom>
              <a:avLst/>
              <a:gdLst/>
              <a:ahLst/>
              <a:cxnLst/>
              <a:rect r="r" b="b" t="t" l="l"/>
              <a:pathLst>
                <a:path h="3935222" w="3691382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3918331"/>
                  </a:lnTo>
                  <a:cubicBezTo>
                    <a:pt x="3691382" y="3927729"/>
                    <a:pt x="3683762" y="3935222"/>
                    <a:pt x="3674491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3674491" y="3901440"/>
                  </a:lnTo>
                  <a:lnTo>
                    <a:pt x="3674491" y="3918331"/>
                  </a:lnTo>
                  <a:lnTo>
                    <a:pt x="3657600" y="3918331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3438144" y="3566160"/>
            <a:ext cx="2743200" cy="822960"/>
            <a:chOff x="0" y="0"/>
            <a:chExt cx="3657600" cy="10972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657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365760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Preprocess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3438144" y="4425696"/>
            <a:ext cx="2743200" cy="1828800"/>
            <a:chOff x="0" y="0"/>
            <a:chExt cx="3657600" cy="2438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657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t="0" r="-35535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3657600" cy="247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8896A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Resize 256×256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8896A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Gaussian Blur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205223" y="4705607"/>
            <a:ext cx="171707" cy="135131"/>
            <a:chOff x="0" y="0"/>
            <a:chExt cx="228943" cy="18017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6891" y="16891"/>
              <a:ext cx="195072" cy="146304"/>
            </a:xfrm>
            <a:custGeom>
              <a:avLst/>
              <a:gdLst/>
              <a:ahLst/>
              <a:cxnLst/>
              <a:rect r="r" b="b" t="t" l="l"/>
              <a:pathLst>
                <a:path h="146304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C9A84C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28854" cy="180088"/>
            </a:xfrm>
            <a:custGeom>
              <a:avLst/>
              <a:gdLst/>
              <a:ahLst/>
              <a:cxnLst/>
              <a:rect r="r" b="b" t="t" l="l"/>
              <a:pathLst>
                <a:path h="180088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63195"/>
                  </a:lnTo>
                  <a:cubicBezTo>
                    <a:pt x="228854" y="172593"/>
                    <a:pt x="221234" y="180086"/>
                    <a:pt x="211963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211963" y="146304"/>
                  </a:lnTo>
                  <a:lnTo>
                    <a:pt x="211963" y="163195"/>
                  </a:lnTo>
                  <a:lnTo>
                    <a:pt x="195072" y="163195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125205" y="2077717"/>
            <a:ext cx="1239517" cy="1239517"/>
            <a:chOff x="0" y="0"/>
            <a:chExt cx="1652689" cy="165268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33909" y="33909"/>
              <a:ext cx="1584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584960">
                  <a:moveTo>
                    <a:pt x="0" y="792480"/>
                  </a:moveTo>
                  <a:cubicBezTo>
                    <a:pt x="0" y="354838"/>
                    <a:pt x="354838" y="0"/>
                    <a:pt x="792480" y="0"/>
                  </a:cubicBezTo>
                  <a:cubicBezTo>
                    <a:pt x="1230122" y="0"/>
                    <a:pt x="1584960" y="354838"/>
                    <a:pt x="1584960" y="792480"/>
                  </a:cubicBezTo>
                  <a:cubicBezTo>
                    <a:pt x="1584960" y="1230122"/>
                    <a:pt x="1230122" y="1584960"/>
                    <a:pt x="792480" y="1584960"/>
                  </a:cubicBezTo>
                  <a:cubicBezTo>
                    <a:pt x="354838" y="1584960"/>
                    <a:pt x="0" y="1230122"/>
                    <a:pt x="0" y="792480"/>
                  </a:cubicBez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652651" cy="1652778"/>
            </a:xfrm>
            <a:custGeom>
              <a:avLst/>
              <a:gdLst/>
              <a:ahLst/>
              <a:cxnLst/>
              <a:rect r="r" b="b" t="t" l="l"/>
              <a:pathLst>
                <a:path h="1652778" w="1652651">
                  <a:moveTo>
                    <a:pt x="0" y="826389"/>
                  </a:moveTo>
                  <a:cubicBezTo>
                    <a:pt x="0" y="369951"/>
                    <a:pt x="369951" y="0"/>
                    <a:pt x="826389" y="0"/>
                  </a:cubicBezTo>
                  <a:lnTo>
                    <a:pt x="826389" y="33909"/>
                  </a:lnTo>
                  <a:lnTo>
                    <a:pt x="826389" y="0"/>
                  </a:lnTo>
                  <a:cubicBezTo>
                    <a:pt x="1282700" y="0"/>
                    <a:pt x="1652651" y="369951"/>
                    <a:pt x="1652651" y="826389"/>
                  </a:cubicBezTo>
                  <a:cubicBezTo>
                    <a:pt x="1652651" y="1282827"/>
                    <a:pt x="1282700" y="1652778"/>
                    <a:pt x="826262" y="1652778"/>
                  </a:cubicBezTo>
                  <a:lnTo>
                    <a:pt x="826262" y="1618869"/>
                  </a:lnTo>
                  <a:lnTo>
                    <a:pt x="826262" y="1652778"/>
                  </a:lnTo>
                  <a:cubicBezTo>
                    <a:pt x="369951" y="1652651"/>
                    <a:pt x="0" y="1282700"/>
                    <a:pt x="0" y="826389"/>
                  </a:cubicBezTo>
                  <a:lnTo>
                    <a:pt x="33909" y="826389"/>
                  </a:lnTo>
                  <a:lnTo>
                    <a:pt x="62611" y="844296"/>
                  </a:lnTo>
                  <a:cubicBezTo>
                    <a:pt x="54610" y="857123"/>
                    <a:pt x="39116" y="863092"/>
                    <a:pt x="24511" y="858901"/>
                  </a:cubicBezTo>
                  <a:cubicBezTo>
                    <a:pt x="9906" y="854710"/>
                    <a:pt x="0" y="841502"/>
                    <a:pt x="0" y="826389"/>
                  </a:cubicBezTo>
                  <a:moveTo>
                    <a:pt x="67691" y="826389"/>
                  </a:moveTo>
                  <a:lnTo>
                    <a:pt x="33909" y="826389"/>
                  </a:lnTo>
                  <a:lnTo>
                    <a:pt x="5207" y="808355"/>
                  </a:lnTo>
                  <a:cubicBezTo>
                    <a:pt x="13208" y="795528"/>
                    <a:pt x="28702" y="789559"/>
                    <a:pt x="43307" y="793750"/>
                  </a:cubicBezTo>
                  <a:cubicBezTo>
                    <a:pt x="57912" y="797941"/>
                    <a:pt x="67818" y="811149"/>
                    <a:pt x="67818" y="826262"/>
                  </a:cubicBezTo>
                  <a:cubicBezTo>
                    <a:pt x="67818" y="1245235"/>
                    <a:pt x="407416" y="1584833"/>
                    <a:pt x="826389" y="1584833"/>
                  </a:cubicBezTo>
                  <a:cubicBezTo>
                    <a:pt x="1245362" y="1584833"/>
                    <a:pt x="1584960" y="1245235"/>
                    <a:pt x="1584960" y="826262"/>
                  </a:cubicBezTo>
                  <a:lnTo>
                    <a:pt x="1618869" y="826262"/>
                  </a:lnTo>
                  <a:lnTo>
                    <a:pt x="1584960" y="826262"/>
                  </a:lnTo>
                  <a:cubicBezTo>
                    <a:pt x="1584960" y="407289"/>
                    <a:pt x="1245362" y="67691"/>
                    <a:pt x="826389" y="67691"/>
                  </a:cubicBezTo>
                  <a:lnTo>
                    <a:pt x="826389" y="33909"/>
                  </a:lnTo>
                  <a:lnTo>
                    <a:pt x="826389" y="67691"/>
                  </a:lnTo>
                  <a:cubicBezTo>
                    <a:pt x="407416" y="67691"/>
                    <a:pt x="67691" y="407416"/>
                    <a:pt x="67691" y="826389"/>
                  </a:cubicBez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7150608" y="2103120"/>
            <a:ext cx="1188720" cy="1188720"/>
            <a:chOff x="0" y="0"/>
            <a:chExt cx="1584960" cy="15849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584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1584960" cy="1642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C9A8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314951" y="3462023"/>
            <a:ext cx="2768603" cy="2951483"/>
            <a:chOff x="0" y="0"/>
            <a:chExt cx="3691471" cy="393531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16891" y="16891"/>
              <a:ext cx="3657600" cy="3901440"/>
            </a:xfrm>
            <a:custGeom>
              <a:avLst/>
              <a:gdLst/>
              <a:ahLst/>
              <a:cxnLst/>
              <a:rect r="r" b="b" t="t" l="l"/>
              <a:pathLst>
                <a:path h="39014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691382" cy="3935222"/>
            </a:xfrm>
            <a:custGeom>
              <a:avLst/>
              <a:gdLst/>
              <a:ahLst/>
              <a:cxnLst/>
              <a:rect r="r" b="b" t="t" l="l"/>
              <a:pathLst>
                <a:path h="3935222" w="3691382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3918331"/>
                  </a:lnTo>
                  <a:cubicBezTo>
                    <a:pt x="3691382" y="3927729"/>
                    <a:pt x="3683762" y="3935222"/>
                    <a:pt x="3674491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3674491" y="3901440"/>
                  </a:lnTo>
                  <a:lnTo>
                    <a:pt x="3674491" y="3918331"/>
                  </a:lnTo>
                  <a:lnTo>
                    <a:pt x="3657600" y="3918331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6327648" y="3566160"/>
            <a:ext cx="2743200" cy="822960"/>
            <a:chOff x="0" y="0"/>
            <a:chExt cx="3657600" cy="10972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657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365760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Segment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6327648" y="4425696"/>
            <a:ext cx="2743200" cy="1828800"/>
            <a:chOff x="0" y="0"/>
            <a:chExt cx="3657600" cy="2438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657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t="0" r="-35535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3657600" cy="247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8896A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Circular Hough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8896A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Transform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094727" y="4705607"/>
            <a:ext cx="171707" cy="135131"/>
            <a:chOff x="0" y="0"/>
            <a:chExt cx="228943" cy="180175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16891" y="16891"/>
              <a:ext cx="195072" cy="146304"/>
            </a:xfrm>
            <a:custGeom>
              <a:avLst/>
              <a:gdLst/>
              <a:ahLst/>
              <a:cxnLst/>
              <a:rect r="r" b="b" t="t" l="l"/>
              <a:pathLst>
                <a:path h="146304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C9A84C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28854" cy="180088"/>
            </a:xfrm>
            <a:custGeom>
              <a:avLst/>
              <a:gdLst/>
              <a:ahLst/>
              <a:cxnLst/>
              <a:rect r="r" b="b" t="t" l="l"/>
              <a:pathLst>
                <a:path h="180088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63195"/>
                  </a:lnTo>
                  <a:cubicBezTo>
                    <a:pt x="228854" y="172593"/>
                    <a:pt x="221234" y="180086"/>
                    <a:pt x="211963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211963" y="146304"/>
                  </a:lnTo>
                  <a:lnTo>
                    <a:pt x="211963" y="163195"/>
                  </a:lnTo>
                  <a:lnTo>
                    <a:pt x="195072" y="163195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0014709" y="2077717"/>
            <a:ext cx="1239517" cy="1239517"/>
            <a:chOff x="0" y="0"/>
            <a:chExt cx="1652689" cy="1652689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33909" y="33909"/>
              <a:ext cx="1584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584960">
                  <a:moveTo>
                    <a:pt x="0" y="792480"/>
                  </a:moveTo>
                  <a:cubicBezTo>
                    <a:pt x="0" y="354838"/>
                    <a:pt x="354838" y="0"/>
                    <a:pt x="792480" y="0"/>
                  </a:cubicBezTo>
                  <a:cubicBezTo>
                    <a:pt x="1230122" y="0"/>
                    <a:pt x="1584960" y="354838"/>
                    <a:pt x="1584960" y="792480"/>
                  </a:cubicBezTo>
                  <a:cubicBezTo>
                    <a:pt x="1584960" y="1230122"/>
                    <a:pt x="1230122" y="1584960"/>
                    <a:pt x="792480" y="1584960"/>
                  </a:cubicBezTo>
                  <a:cubicBezTo>
                    <a:pt x="354838" y="1584960"/>
                    <a:pt x="0" y="1230122"/>
                    <a:pt x="0" y="792480"/>
                  </a:cubicBez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652651" cy="1652778"/>
            </a:xfrm>
            <a:custGeom>
              <a:avLst/>
              <a:gdLst/>
              <a:ahLst/>
              <a:cxnLst/>
              <a:rect r="r" b="b" t="t" l="l"/>
              <a:pathLst>
                <a:path h="1652778" w="1652651">
                  <a:moveTo>
                    <a:pt x="0" y="826389"/>
                  </a:moveTo>
                  <a:cubicBezTo>
                    <a:pt x="0" y="369951"/>
                    <a:pt x="369951" y="0"/>
                    <a:pt x="826389" y="0"/>
                  </a:cubicBezTo>
                  <a:lnTo>
                    <a:pt x="826389" y="33909"/>
                  </a:lnTo>
                  <a:lnTo>
                    <a:pt x="826389" y="0"/>
                  </a:lnTo>
                  <a:cubicBezTo>
                    <a:pt x="1282700" y="0"/>
                    <a:pt x="1652651" y="369951"/>
                    <a:pt x="1652651" y="826389"/>
                  </a:cubicBezTo>
                  <a:cubicBezTo>
                    <a:pt x="1652651" y="1282827"/>
                    <a:pt x="1282700" y="1652778"/>
                    <a:pt x="826262" y="1652778"/>
                  </a:cubicBezTo>
                  <a:lnTo>
                    <a:pt x="826262" y="1618869"/>
                  </a:lnTo>
                  <a:lnTo>
                    <a:pt x="826262" y="1652778"/>
                  </a:lnTo>
                  <a:cubicBezTo>
                    <a:pt x="369951" y="1652651"/>
                    <a:pt x="0" y="1282700"/>
                    <a:pt x="0" y="826389"/>
                  </a:cubicBezTo>
                  <a:lnTo>
                    <a:pt x="33909" y="826389"/>
                  </a:lnTo>
                  <a:lnTo>
                    <a:pt x="62611" y="844296"/>
                  </a:lnTo>
                  <a:cubicBezTo>
                    <a:pt x="54610" y="857123"/>
                    <a:pt x="39116" y="863092"/>
                    <a:pt x="24511" y="858901"/>
                  </a:cubicBezTo>
                  <a:cubicBezTo>
                    <a:pt x="9906" y="854710"/>
                    <a:pt x="0" y="841502"/>
                    <a:pt x="0" y="826389"/>
                  </a:cubicBezTo>
                  <a:moveTo>
                    <a:pt x="67691" y="826389"/>
                  </a:moveTo>
                  <a:lnTo>
                    <a:pt x="33909" y="826389"/>
                  </a:lnTo>
                  <a:lnTo>
                    <a:pt x="5207" y="808355"/>
                  </a:lnTo>
                  <a:cubicBezTo>
                    <a:pt x="13208" y="795528"/>
                    <a:pt x="28702" y="789559"/>
                    <a:pt x="43307" y="793750"/>
                  </a:cubicBezTo>
                  <a:cubicBezTo>
                    <a:pt x="57912" y="797941"/>
                    <a:pt x="67818" y="811149"/>
                    <a:pt x="67818" y="826262"/>
                  </a:cubicBezTo>
                  <a:cubicBezTo>
                    <a:pt x="67818" y="1245235"/>
                    <a:pt x="407416" y="1584833"/>
                    <a:pt x="826389" y="1584833"/>
                  </a:cubicBezTo>
                  <a:cubicBezTo>
                    <a:pt x="1245362" y="1584833"/>
                    <a:pt x="1584960" y="1245235"/>
                    <a:pt x="1584960" y="826262"/>
                  </a:cubicBezTo>
                  <a:lnTo>
                    <a:pt x="1618869" y="826262"/>
                  </a:lnTo>
                  <a:lnTo>
                    <a:pt x="1584960" y="826262"/>
                  </a:lnTo>
                  <a:cubicBezTo>
                    <a:pt x="1584960" y="407289"/>
                    <a:pt x="1245362" y="67691"/>
                    <a:pt x="826389" y="67691"/>
                  </a:cubicBezTo>
                  <a:lnTo>
                    <a:pt x="826389" y="33909"/>
                  </a:lnTo>
                  <a:lnTo>
                    <a:pt x="826389" y="67691"/>
                  </a:lnTo>
                  <a:cubicBezTo>
                    <a:pt x="407416" y="67691"/>
                    <a:pt x="67691" y="407416"/>
                    <a:pt x="67691" y="826389"/>
                  </a:cubicBez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0040112" y="2103120"/>
            <a:ext cx="1188720" cy="1188720"/>
            <a:chOff x="0" y="0"/>
            <a:chExt cx="1584960" cy="158496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584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57150"/>
              <a:ext cx="1584960" cy="1642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C9A8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204455" y="3462023"/>
            <a:ext cx="2768603" cy="2951483"/>
            <a:chOff x="0" y="0"/>
            <a:chExt cx="3691471" cy="3935311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16891" y="16891"/>
              <a:ext cx="3657600" cy="3901440"/>
            </a:xfrm>
            <a:custGeom>
              <a:avLst/>
              <a:gdLst/>
              <a:ahLst/>
              <a:cxnLst/>
              <a:rect r="r" b="b" t="t" l="l"/>
              <a:pathLst>
                <a:path h="39014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691382" cy="3935222"/>
            </a:xfrm>
            <a:custGeom>
              <a:avLst/>
              <a:gdLst/>
              <a:ahLst/>
              <a:cxnLst/>
              <a:rect r="r" b="b" t="t" l="l"/>
              <a:pathLst>
                <a:path h="3935222" w="3691382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3918331"/>
                  </a:lnTo>
                  <a:cubicBezTo>
                    <a:pt x="3691382" y="3927729"/>
                    <a:pt x="3683762" y="3935222"/>
                    <a:pt x="3674491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3674491" y="3901440"/>
                  </a:lnTo>
                  <a:lnTo>
                    <a:pt x="3674491" y="3918331"/>
                  </a:lnTo>
                  <a:lnTo>
                    <a:pt x="3657600" y="3918331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9217152" y="3566160"/>
            <a:ext cx="2743200" cy="822960"/>
            <a:chOff x="0" y="0"/>
            <a:chExt cx="3657600" cy="109728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657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365760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Extract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9217152" y="4425696"/>
            <a:ext cx="2743200" cy="1828800"/>
            <a:chOff x="0" y="0"/>
            <a:chExt cx="3657600" cy="24384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657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t="0" r="-35535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3657600" cy="247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8896A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 feature types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8896A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extracted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1984231" y="4705607"/>
            <a:ext cx="171707" cy="135131"/>
            <a:chOff x="0" y="0"/>
            <a:chExt cx="228943" cy="180175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16891" y="16891"/>
              <a:ext cx="195072" cy="146304"/>
            </a:xfrm>
            <a:custGeom>
              <a:avLst/>
              <a:gdLst/>
              <a:ahLst/>
              <a:cxnLst/>
              <a:rect r="r" b="b" t="t" l="l"/>
              <a:pathLst>
                <a:path h="146304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C9A84C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28854" cy="180088"/>
            </a:xfrm>
            <a:custGeom>
              <a:avLst/>
              <a:gdLst/>
              <a:ahLst/>
              <a:cxnLst/>
              <a:rect r="r" b="b" t="t" l="l"/>
              <a:pathLst>
                <a:path h="180088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63195"/>
                  </a:lnTo>
                  <a:cubicBezTo>
                    <a:pt x="228854" y="172593"/>
                    <a:pt x="221234" y="180086"/>
                    <a:pt x="211963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211963" y="146304"/>
                  </a:lnTo>
                  <a:lnTo>
                    <a:pt x="211963" y="163195"/>
                  </a:lnTo>
                  <a:lnTo>
                    <a:pt x="195072" y="163195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2904213" y="2077717"/>
            <a:ext cx="1239517" cy="1239517"/>
            <a:chOff x="0" y="0"/>
            <a:chExt cx="1652689" cy="1652689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33909" y="33909"/>
              <a:ext cx="1584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584960">
                  <a:moveTo>
                    <a:pt x="0" y="792480"/>
                  </a:moveTo>
                  <a:cubicBezTo>
                    <a:pt x="0" y="354838"/>
                    <a:pt x="354838" y="0"/>
                    <a:pt x="792480" y="0"/>
                  </a:cubicBezTo>
                  <a:cubicBezTo>
                    <a:pt x="1230122" y="0"/>
                    <a:pt x="1584960" y="354838"/>
                    <a:pt x="1584960" y="792480"/>
                  </a:cubicBezTo>
                  <a:cubicBezTo>
                    <a:pt x="1584960" y="1230122"/>
                    <a:pt x="1230122" y="1584960"/>
                    <a:pt x="792480" y="1584960"/>
                  </a:cubicBezTo>
                  <a:cubicBezTo>
                    <a:pt x="354838" y="1584960"/>
                    <a:pt x="0" y="1230122"/>
                    <a:pt x="0" y="792480"/>
                  </a:cubicBez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652651" cy="1652778"/>
            </a:xfrm>
            <a:custGeom>
              <a:avLst/>
              <a:gdLst/>
              <a:ahLst/>
              <a:cxnLst/>
              <a:rect r="r" b="b" t="t" l="l"/>
              <a:pathLst>
                <a:path h="1652778" w="1652651">
                  <a:moveTo>
                    <a:pt x="0" y="826389"/>
                  </a:moveTo>
                  <a:cubicBezTo>
                    <a:pt x="0" y="369951"/>
                    <a:pt x="369951" y="0"/>
                    <a:pt x="826389" y="0"/>
                  </a:cubicBezTo>
                  <a:lnTo>
                    <a:pt x="826389" y="33909"/>
                  </a:lnTo>
                  <a:lnTo>
                    <a:pt x="826389" y="0"/>
                  </a:lnTo>
                  <a:cubicBezTo>
                    <a:pt x="1282700" y="0"/>
                    <a:pt x="1652651" y="369951"/>
                    <a:pt x="1652651" y="826389"/>
                  </a:cubicBezTo>
                  <a:cubicBezTo>
                    <a:pt x="1652651" y="1282827"/>
                    <a:pt x="1282700" y="1652778"/>
                    <a:pt x="826262" y="1652778"/>
                  </a:cubicBezTo>
                  <a:lnTo>
                    <a:pt x="826262" y="1618869"/>
                  </a:lnTo>
                  <a:lnTo>
                    <a:pt x="826262" y="1652778"/>
                  </a:lnTo>
                  <a:cubicBezTo>
                    <a:pt x="369951" y="1652651"/>
                    <a:pt x="0" y="1282700"/>
                    <a:pt x="0" y="826389"/>
                  </a:cubicBezTo>
                  <a:lnTo>
                    <a:pt x="33909" y="826389"/>
                  </a:lnTo>
                  <a:lnTo>
                    <a:pt x="62611" y="844296"/>
                  </a:lnTo>
                  <a:cubicBezTo>
                    <a:pt x="54610" y="857123"/>
                    <a:pt x="39116" y="863092"/>
                    <a:pt x="24511" y="858901"/>
                  </a:cubicBezTo>
                  <a:cubicBezTo>
                    <a:pt x="9906" y="854710"/>
                    <a:pt x="0" y="841502"/>
                    <a:pt x="0" y="826389"/>
                  </a:cubicBezTo>
                  <a:moveTo>
                    <a:pt x="67691" y="826389"/>
                  </a:moveTo>
                  <a:lnTo>
                    <a:pt x="33909" y="826389"/>
                  </a:lnTo>
                  <a:lnTo>
                    <a:pt x="5207" y="808355"/>
                  </a:lnTo>
                  <a:cubicBezTo>
                    <a:pt x="13208" y="795528"/>
                    <a:pt x="28702" y="789559"/>
                    <a:pt x="43307" y="793750"/>
                  </a:cubicBezTo>
                  <a:cubicBezTo>
                    <a:pt x="57912" y="797941"/>
                    <a:pt x="67818" y="811149"/>
                    <a:pt x="67818" y="826262"/>
                  </a:cubicBezTo>
                  <a:cubicBezTo>
                    <a:pt x="67818" y="1245235"/>
                    <a:pt x="407416" y="1584833"/>
                    <a:pt x="826389" y="1584833"/>
                  </a:cubicBezTo>
                  <a:cubicBezTo>
                    <a:pt x="1245362" y="1584833"/>
                    <a:pt x="1584960" y="1245235"/>
                    <a:pt x="1584960" y="826262"/>
                  </a:cubicBezTo>
                  <a:lnTo>
                    <a:pt x="1618869" y="826262"/>
                  </a:lnTo>
                  <a:lnTo>
                    <a:pt x="1584960" y="826262"/>
                  </a:lnTo>
                  <a:cubicBezTo>
                    <a:pt x="1584960" y="407289"/>
                    <a:pt x="1245362" y="67691"/>
                    <a:pt x="826389" y="67691"/>
                  </a:cubicBezTo>
                  <a:lnTo>
                    <a:pt x="826389" y="33909"/>
                  </a:lnTo>
                  <a:lnTo>
                    <a:pt x="826389" y="67691"/>
                  </a:lnTo>
                  <a:cubicBezTo>
                    <a:pt x="407416" y="67691"/>
                    <a:pt x="67691" y="407416"/>
                    <a:pt x="67691" y="826389"/>
                  </a:cubicBez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2929616" y="2103120"/>
            <a:ext cx="1188720" cy="1188720"/>
            <a:chOff x="0" y="0"/>
            <a:chExt cx="1584960" cy="158496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584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57150"/>
              <a:ext cx="1584960" cy="1642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C9A8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2093959" y="3462023"/>
            <a:ext cx="2768603" cy="2951483"/>
            <a:chOff x="0" y="0"/>
            <a:chExt cx="3691471" cy="3935311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16891" y="16891"/>
              <a:ext cx="3657600" cy="3901440"/>
            </a:xfrm>
            <a:custGeom>
              <a:avLst/>
              <a:gdLst/>
              <a:ahLst/>
              <a:cxnLst/>
              <a:rect r="r" b="b" t="t" l="l"/>
              <a:pathLst>
                <a:path h="39014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691382" cy="3935222"/>
            </a:xfrm>
            <a:custGeom>
              <a:avLst/>
              <a:gdLst/>
              <a:ahLst/>
              <a:cxnLst/>
              <a:rect r="r" b="b" t="t" l="l"/>
              <a:pathLst>
                <a:path h="3935222" w="3691382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3918331"/>
                  </a:lnTo>
                  <a:cubicBezTo>
                    <a:pt x="3691382" y="3927729"/>
                    <a:pt x="3683762" y="3935222"/>
                    <a:pt x="3674491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3674491" y="3901440"/>
                  </a:lnTo>
                  <a:lnTo>
                    <a:pt x="3674491" y="3918331"/>
                  </a:lnTo>
                  <a:lnTo>
                    <a:pt x="3657600" y="3918331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2106656" y="3566160"/>
            <a:ext cx="2743200" cy="822960"/>
            <a:chOff x="0" y="0"/>
            <a:chExt cx="3657600" cy="109728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657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365760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Scale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2106656" y="4425696"/>
            <a:ext cx="2743200" cy="1828800"/>
            <a:chOff x="0" y="0"/>
            <a:chExt cx="3657600" cy="243840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657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t="0" r="-35535" b="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3657600" cy="247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8896A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StandardScaler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8896A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normalization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4873735" y="4705607"/>
            <a:ext cx="171707" cy="135131"/>
            <a:chOff x="0" y="0"/>
            <a:chExt cx="228943" cy="180175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16891" y="16891"/>
              <a:ext cx="195072" cy="146304"/>
            </a:xfrm>
            <a:custGeom>
              <a:avLst/>
              <a:gdLst/>
              <a:ahLst/>
              <a:cxnLst/>
              <a:rect r="r" b="b" t="t" l="l"/>
              <a:pathLst>
                <a:path h="146304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C9A84C"/>
            </a:solidFill>
          </p:spPr>
        </p:sp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28854" cy="180088"/>
            </a:xfrm>
            <a:custGeom>
              <a:avLst/>
              <a:gdLst/>
              <a:ahLst/>
              <a:cxnLst/>
              <a:rect r="r" b="b" t="t" l="l"/>
              <a:pathLst>
                <a:path h="180088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63195"/>
                  </a:lnTo>
                  <a:cubicBezTo>
                    <a:pt x="228854" y="172593"/>
                    <a:pt x="221234" y="180086"/>
                    <a:pt x="211963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211963" y="146304"/>
                  </a:lnTo>
                  <a:lnTo>
                    <a:pt x="211963" y="163195"/>
                  </a:lnTo>
                  <a:lnTo>
                    <a:pt x="195072" y="163195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15793717" y="2077717"/>
            <a:ext cx="1239517" cy="1239517"/>
            <a:chOff x="0" y="0"/>
            <a:chExt cx="1652689" cy="1652689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33909" y="33909"/>
              <a:ext cx="1584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584960">
                  <a:moveTo>
                    <a:pt x="0" y="792480"/>
                  </a:moveTo>
                  <a:cubicBezTo>
                    <a:pt x="0" y="354838"/>
                    <a:pt x="354838" y="0"/>
                    <a:pt x="792480" y="0"/>
                  </a:cubicBezTo>
                  <a:cubicBezTo>
                    <a:pt x="1230122" y="0"/>
                    <a:pt x="1584960" y="354838"/>
                    <a:pt x="1584960" y="792480"/>
                  </a:cubicBezTo>
                  <a:cubicBezTo>
                    <a:pt x="1584960" y="1230122"/>
                    <a:pt x="1230122" y="1584960"/>
                    <a:pt x="792480" y="1584960"/>
                  </a:cubicBezTo>
                  <a:cubicBezTo>
                    <a:pt x="354838" y="1584960"/>
                    <a:pt x="0" y="1230122"/>
                    <a:pt x="0" y="792480"/>
                  </a:cubicBez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652651" cy="1652778"/>
            </a:xfrm>
            <a:custGeom>
              <a:avLst/>
              <a:gdLst/>
              <a:ahLst/>
              <a:cxnLst/>
              <a:rect r="r" b="b" t="t" l="l"/>
              <a:pathLst>
                <a:path h="1652778" w="1652651">
                  <a:moveTo>
                    <a:pt x="0" y="826389"/>
                  </a:moveTo>
                  <a:cubicBezTo>
                    <a:pt x="0" y="369951"/>
                    <a:pt x="369951" y="0"/>
                    <a:pt x="826389" y="0"/>
                  </a:cubicBezTo>
                  <a:lnTo>
                    <a:pt x="826389" y="33909"/>
                  </a:lnTo>
                  <a:lnTo>
                    <a:pt x="826389" y="0"/>
                  </a:lnTo>
                  <a:cubicBezTo>
                    <a:pt x="1282700" y="0"/>
                    <a:pt x="1652651" y="369951"/>
                    <a:pt x="1652651" y="826389"/>
                  </a:cubicBezTo>
                  <a:cubicBezTo>
                    <a:pt x="1652651" y="1282827"/>
                    <a:pt x="1282700" y="1652778"/>
                    <a:pt x="826262" y="1652778"/>
                  </a:cubicBezTo>
                  <a:lnTo>
                    <a:pt x="826262" y="1618869"/>
                  </a:lnTo>
                  <a:lnTo>
                    <a:pt x="826262" y="1652778"/>
                  </a:lnTo>
                  <a:cubicBezTo>
                    <a:pt x="369951" y="1652651"/>
                    <a:pt x="0" y="1282700"/>
                    <a:pt x="0" y="826389"/>
                  </a:cubicBezTo>
                  <a:lnTo>
                    <a:pt x="33909" y="826389"/>
                  </a:lnTo>
                  <a:lnTo>
                    <a:pt x="62611" y="844296"/>
                  </a:lnTo>
                  <a:cubicBezTo>
                    <a:pt x="54610" y="857123"/>
                    <a:pt x="39116" y="863092"/>
                    <a:pt x="24511" y="858901"/>
                  </a:cubicBezTo>
                  <a:cubicBezTo>
                    <a:pt x="9906" y="854710"/>
                    <a:pt x="0" y="841502"/>
                    <a:pt x="0" y="826389"/>
                  </a:cubicBezTo>
                  <a:moveTo>
                    <a:pt x="67691" y="826389"/>
                  </a:moveTo>
                  <a:lnTo>
                    <a:pt x="33909" y="826389"/>
                  </a:lnTo>
                  <a:lnTo>
                    <a:pt x="5207" y="808355"/>
                  </a:lnTo>
                  <a:cubicBezTo>
                    <a:pt x="13208" y="795528"/>
                    <a:pt x="28702" y="789559"/>
                    <a:pt x="43307" y="793750"/>
                  </a:cubicBezTo>
                  <a:cubicBezTo>
                    <a:pt x="57912" y="797941"/>
                    <a:pt x="67818" y="811149"/>
                    <a:pt x="67818" y="826262"/>
                  </a:cubicBezTo>
                  <a:cubicBezTo>
                    <a:pt x="67818" y="1245235"/>
                    <a:pt x="407416" y="1584833"/>
                    <a:pt x="826389" y="1584833"/>
                  </a:cubicBezTo>
                  <a:cubicBezTo>
                    <a:pt x="1245362" y="1584833"/>
                    <a:pt x="1584960" y="1245235"/>
                    <a:pt x="1584960" y="826262"/>
                  </a:cubicBezTo>
                  <a:lnTo>
                    <a:pt x="1618869" y="826262"/>
                  </a:lnTo>
                  <a:lnTo>
                    <a:pt x="1584960" y="826262"/>
                  </a:lnTo>
                  <a:cubicBezTo>
                    <a:pt x="1584960" y="407289"/>
                    <a:pt x="1245362" y="67691"/>
                    <a:pt x="826389" y="67691"/>
                  </a:cubicBezTo>
                  <a:lnTo>
                    <a:pt x="826389" y="33909"/>
                  </a:lnTo>
                  <a:lnTo>
                    <a:pt x="826389" y="67691"/>
                  </a:lnTo>
                  <a:cubicBezTo>
                    <a:pt x="407416" y="67691"/>
                    <a:pt x="67691" y="407416"/>
                    <a:pt x="67691" y="826389"/>
                  </a:cubicBez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15819120" y="2103120"/>
            <a:ext cx="1188720" cy="1188720"/>
            <a:chOff x="0" y="0"/>
            <a:chExt cx="1584960" cy="158496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584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57150"/>
              <a:ext cx="1584960" cy="1642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C9A8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4983463" y="3462023"/>
            <a:ext cx="2768603" cy="2951483"/>
            <a:chOff x="0" y="0"/>
            <a:chExt cx="3691471" cy="3935311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16891" y="16891"/>
              <a:ext cx="3657600" cy="3901440"/>
            </a:xfrm>
            <a:custGeom>
              <a:avLst/>
              <a:gdLst/>
              <a:ahLst/>
              <a:cxnLst/>
              <a:rect r="r" b="b" t="t" l="l"/>
              <a:pathLst>
                <a:path h="39014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691382" cy="3935222"/>
            </a:xfrm>
            <a:custGeom>
              <a:avLst/>
              <a:gdLst/>
              <a:ahLst/>
              <a:cxnLst/>
              <a:rect r="r" b="b" t="t" l="l"/>
              <a:pathLst>
                <a:path h="3935222" w="3691382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3918331"/>
                  </a:lnTo>
                  <a:cubicBezTo>
                    <a:pt x="3691382" y="3927729"/>
                    <a:pt x="3683762" y="3935222"/>
                    <a:pt x="3674491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3674491" y="3901440"/>
                  </a:lnTo>
                  <a:lnTo>
                    <a:pt x="3674491" y="3918331"/>
                  </a:lnTo>
                  <a:lnTo>
                    <a:pt x="3657600" y="3918331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4996160" y="3566160"/>
            <a:ext cx="2743200" cy="822960"/>
            <a:chOff x="0" y="0"/>
            <a:chExt cx="3657600" cy="109728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3657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365760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Classify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4996160" y="4425696"/>
            <a:ext cx="2743200" cy="1828800"/>
            <a:chOff x="0" y="0"/>
            <a:chExt cx="3657600" cy="243840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3657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t="0" r="-35535" b="0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38100"/>
              <a:ext cx="3657600" cy="247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8896A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ML model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8896A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prediction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901703" y="6753863"/>
            <a:ext cx="16484603" cy="3042923"/>
            <a:chOff x="0" y="0"/>
            <a:chExt cx="21979471" cy="4057231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16891" y="16891"/>
              <a:ext cx="21945599" cy="4023360"/>
            </a:xfrm>
            <a:custGeom>
              <a:avLst/>
              <a:gdLst/>
              <a:ahLst/>
              <a:cxnLst/>
              <a:rect r="r" b="b" t="t" l="l"/>
              <a:pathLst>
                <a:path h="4023360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1979382" cy="4057142"/>
            </a:xfrm>
            <a:custGeom>
              <a:avLst/>
              <a:gdLst/>
              <a:ahLst/>
              <a:cxnLst/>
              <a:rect r="r" b="b" t="t" l="l"/>
              <a:pathLst>
                <a:path h="4057142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4040251"/>
                  </a:lnTo>
                  <a:cubicBezTo>
                    <a:pt x="21979382" y="4049649"/>
                    <a:pt x="21971763" y="4057142"/>
                    <a:pt x="21962490" y="4057142"/>
                  </a:cubicBezTo>
                  <a:lnTo>
                    <a:pt x="16891" y="4057142"/>
                  </a:lnTo>
                  <a:cubicBezTo>
                    <a:pt x="7493" y="4057142"/>
                    <a:pt x="0" y="4049522"/>
                    <a:pt x="0" y="4040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040251"/>
                  </a:lnTo>
                  <a:lnTo>
                    <a:pt x="16891" y="4040251"/>
                  </a:lnTo>
                  <a:lnTo>
                    <a:pt x="16891" y="4023360"/>
                  </a:lnTo>
                  <a:lnTo>
                    <a:pt x="21962490" y="4023360"/>
                  </a:lnTo>
                  <a:lnTo>
                    <a:pt x="21962490" y="4040251"/>
                  </a:lnTo>
                  <a:lnTo>
                    <a:pt x="21945600" y="4040251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1463040" y="6912864"/>
            <a:ext cx="7315200" cy="731520"/>
            <a:chOff x="0" y="0"/>
            <a:chExt cx="9753600" cy="97536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975360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19050"/>
              <a:ext cx="975360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C9A84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Key Design Choices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463040" y="7680960"/>
            <a:ext cx="15544800" cy="1920240"/>
            <a:chOff x="0" y="0"/>
            <a:chExt cx="20726400" cy="256032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20726400" cy="2560320"/>
            </a:xfrm>
            <a:custGeom>
              <a:avLst/>
              <a:gdLst/>
              <a:ahLst/>
              <a:cxnLst/>
              <a:rect r="r" b="b" t="t" l="l"/>
              <a:pathLst>
                <a:path h="256032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736" r="0" b="-107736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47625"/>
              <a:ext cx="20726400" cy="2607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4F1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Circular Hough Transform isolates only the coin region, eliminating background noise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4F1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If no circle detected, falls back to full grayscale image — robust to detection failures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4F1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Feature vector combines shape (diameter), texture (LBP, HOG), and color (HSV) for a holistic descriptor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48640" y="274320"/>
            <a:ext cx="1097280" cy="1097280"/>
            <a:chOff x="0" y="0"/>
            <a:chExt cx="1463040" cy="1463040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2011680" y="182880"/>
            <a:ext cx="15544800" cy="1463040"/>
            <a:chOff x="0" y="0"/>
            <a:chExt cx="20726400" cy="19507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26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028" r="0" b="-15702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726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Feature Extraction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29590" y="2212086"/>
            <a:ext cx="1043940" cy="1043940"/>
            <a:chOff x="0" y="0"/>
            <a:chExt cx="1391920" cy="13919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25400" y="2540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91920" cy="1391920"/>
            </a:xfrm>
            <a:custGeom>
              <a:avLst/>
              <a:gdLst/>
              <a:ahLst/>
              <a:cxnLst/>
              <a:rect r="r" b="b" t="t" l="l"/>
              <a:pathLst>
                <a:path h="1391920" w="1391920">
                  <a:moveTo>
                    <a:pt x="0" y="695960"/>
                  </a:moveTo>
                  <a:cubicBezTo>
                    <a:pt x="0" y="311531"/>
                    <a:pt x="311531" y="0"/>
                    <a:pt x="695960" y="0"/>
                  </a:cubicBezTo>
                  <a:lnTo>
                    <a:pt x="695960" y="25400"/>
                  </a:lnTo>
                  <a:lnTo>
                    <a:pt x="695960" y="0"/>
                  </a:lnTo>
                  <a:cubicBezTo>
                    <a:pt x="1080389" y="0"/>
                    <a:pt x="1391920" y="311531"/>
                    <a:pt x="1391920" y="695960"/>
                  </a:cubicBezTo>
                  <a:lnTo>
                    <a:pt x="1366520" y="695960"/>
                  </a:lnTo>
                  <a:lnTo>
                    <a:pt x="1391920" y="695960"/>
                  </a:lnTo>
                  <a:cubicBezTo>
                    <a:pt x="1391920" y="1080389"/>
                    <a:pt x="1080389" y="1391920"/>
                    <a:pt x="695960" y="1391920"/>
                  </a:cubicBezTo>
                  <a:lnTo>
                    <a:pt x="695960" y="1366520"/>
                  </a:lnTo>
                  <a:lnTo>
                    <a:pt x="695960" y="1391920"/>
                  </a:lnTo>
                  <a:cubicBezTo>
                    <a:pt x="311531" y="1391920"/>
                    <a:pt x="0" y="1080389"/>
                    <a:pt x="0" y="695960"/>
                  </a:cubicBezTo>
                  <a:lnTo>
                    <a:pt x="25400" y="695960"/>
                  </a:lnTo>
                  <a:lnTo>
                    <a:pt x="50800" y="695960"/>
                  </a:lnTo>
                  <a:lnTo>
                    <a:pt x="25400" y="695960"/>
                  </a:lnTo>
                  <a:lnTo>
                    <a:pt x="0" y="695960"/>
                  </a:lnTo>
                  <a:moveTo>
                    <a:pt x="50800" y="695960"/>
                  </a:moveTo>
                  <a:cubicBezTo>
                    <a:pt x="50800" y="709930"/>
                    <a:pt x="39370" y="721360"/>
                    <a:pt x="25400" y="721360"/>
                  </a:cubicBezTo>
                  <a:cubicBezTo>
                    <a:pt x="11430" y="721360"/>
                    <a:pt x="0" y="709930"/>
                    <a:pt x="0" y="695960"/>
                  </a:cubicBezTo>
                  <a:cubicBezTo>
                    <a:pt x="0" y="681990"/>
                    <a:pt x="11430" y="670560"/>
                    <a:pt x="25400" y="670560"/>
                  </a:cubicBezTo>
                  <a:cubicBezTo>
                    <a:pt x="39370" y="670560"/>
                    <a:pt x="50800" y="681990"/>
                    <a:pt x="50800" y="695960"/>
                  </a:cubicBezTo>
                  <a:cubicBezTo>
                    <a:pt x="50800" y="1052322"/>
                    <a:pt x="339598" y="1341120"/>
                    <a:pt x="695960" y="1341120"/>
                  </a:cubicBezTo>
                  <a:cubicBezTo>
                    <a:pt x="1052322" y="1341120"/>
                    <a:pt x="1341120" y="1052322"/>
                    <a:pt x="1341120" y="695960"/>
                  </a:cubicBezTo>
                  <a:cubicBezTo>
                    <a:pt x="1341120" y="339598"/>
                    <a:pt x="1052322" y="50800"/>
                    <a:pt x="695960" y="50800"/>
                  </a:cubicBezTo>
                  <a:lnTo>
                    <a:pt x="695960" y="25400"/>
                  </a:lnTo>
                  <a:lnTo>
                    <a:pt x="695960" y="50800"/>
                  </a:lnTo>
                  <a:cubicBezTo>
                    <a:pt x="339598" y="50800"/>
                    <a:pt x="50800" y="339598"/>
                    <a:pt x="50800" y="695960"/>
                  </a:cubicBez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48640" y="2231136"/>
            <a:ext cx="1005840" cy="1005840"/>
            <a:chOff x="0" y="0"/>
            <a:chExt cx="1341120" cy="13411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3411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C9A8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920240" y="2048256"/>
            <a:ext cx="5120640" cy="731520"/>
            <a:chOff x="0" y="0"/>
            <a:chExt cx="6827520" cy="9753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27520" cy="975360"/>
            </a:xfrm>
            <a:custGeom>
              <a:avLst/>
              <a:gdLst/>
              <a:ahLst/>
              <a:cxnLst/>
              <a:rect r="r" b="b" t="t" l="l"/>
              <a:pathLst>
                <a:path h="97536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6827520" cy="103251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Diameter Ratio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920240" y="2743200"/>
            <a:ext cx="13533120" cy="768096"/>
            <a:chOff x="0" y="0"/>
            <a:chExt cx="18044160" cy="102412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8044161" cy="1024128"/>
            </a:xfrm>
            <a:custGeom>
              <a:avLst/>
              <a:gdLst/>
              <a:ahLst/>
              <a:cxnLst/>
              <a:rect r="r" b="b" t="t" l="l"/>
              <a:pathLst>
                <a:path h="1024128" w="18044161">
                  <a:moveTo>
                    <a:pt x="0" y="0"/>
                  </a:moveTo>
                  <a:lnTo>
                    <a:pt x="18044161" y="0"/>
                  </a:lnTo>
                  <a:lnTo>
                    <a:pt x="18044161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307" r="0" b="-29330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804416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896A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radius / 128.0 — normalized coin size, differentiates denominations by physical dimension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806423" y="2181863"/>
            <a:ext cx="2037083" cy="939803"/>
            <a:chOff x="0" y="0"/>
            <a:chExt cx="2716111" cy="125307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6891" y="16891"/>
              <a:ext cx="26822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0EDE5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716022" cy="1252984"/>
            </a:xfrm>
            <a:custGeom>
              <a:avLst/>
              <a:gdLst/>
              <a:ahLst/>
              <a:cxnLst/>
              <a:rect r="r" b="b" t="t" l="l"/>
              <a:pathLst>
                <a:path h="1252984" w="2716022">
                  <a:moveTo>
                    <a:pt x="16891" y="0"/>
                  </a:moveTo>
                  <a:lnTo>
                    <a:pt x="2699131" y="0"/>
                  </a:lnTo>
                  <a:cubicBezTo>
                    <a:pt x="2708529" y="0"/>
                    <a:pt x="2716022" y="7620"/>
                    <a:pt x="2716022" y="16891"/>
                  </a:cubicBezTo>
                  <a:lnTo>
                    <a:pt x="2716022" y="1236091"/>
                  </a:lnTo>
                  <a:cubicBezTo>
                    <a:pt x="2716022" y="1245489"/>
                    <a:pt x="2708402" y="1252982"/>
                    <a:pt x="269913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2699131" y="1219200"/>
                  </a:lnTo>
                  <a:lnTo>
                    <a:pt x="2699131" y="1236091"/>
                  </a:lnTo>
                  <a:lnTo>
                    <a:pt x="2682240" y="1236091"/>
                  </a:lnTo>
                  <a:lnTo>
                    <a:pt x="2682240" y="16891"/>
                  </a:lnTo>
                  <a:lnTo>
                    <a:pt x="2699131" y="16891"/>
                  </a:lnTo>
                  <a:lnTo>
                    <a:pt x="2699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5819120" y="2194560"/>
            <a:ext cx="2011680" cy="914400"/>
            <a:chOff x="0" y="0"/>
            <a:chExt cx="2682240" cy="1219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6822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19" t="0" r="-8319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268224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dim: 1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35943" y="3352295"/>
            <a:ext cx="17216123" cy="52835"/>
            <a:chOff x="0" y="0"/>
            <a:chExt cx="22954831" cy="7044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22920960" cy="36576"/>
            </a:xfrm>
            <a:custGeom>
              <a:avLst/>
              <a:gdLst/>
              <a:ahLst/>
              <a:cxnLst/>
              <a:rect r="r" b="b" t="t" l="l"/>
              <a:pathLst>
                <a:path h="36576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E0DDD8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954743" cy="70360"/>
            </a:xfrm>
            <a:custGeom>
              <a:avLst/>
              <a:gdLst/>
              <a:ahLst/>
              <a:cxnLst/>
              <a:rect r="r" b="b" t="t" l="l"/>
              <a:pathLst>
                <a:path h="70360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53467"/>
                  </a:lnTo>
                  <a:cubicBezTo>
                    <a:pt x="22954743" y="62865"/>
                    <a:pt x="22947123" y="70358"/>
                    <a:pt x="22937851" y="70358"/>
                  </a:cubicBezTo>
                  <a:lnTo>
                    <a:pt x="16891" y="70358"/>
                  </a:lnTo>
                  <a:cubicBezTo>
                    <a:pt x="7620" y="70485"/>
                    <a:pt x="0" y="62865"/>
                    <a:pt x="0" y="534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3467"/>
                  </a:lnTo>
                  <a:lnTo>
                    <a:pt x="16891" y="53467"/>
                  </a:lnTo>
                  <a:lnTo>
                    <a:pt x="16891" y="36576"/>
                  </a:lnTo>
                  <a:lnTo>
                    <a:pt x="22937851" y="36576"/>
                  </a:lnTo>
                  <a:lnTo>
                    <a:pt x="22937851" y="53467"/>
                  </a:lnTo>
                  <a:lnTo>
                    <a:pt x="22920961" y="53467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DDD8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529590" y="3821430"/>
            <a:ext cx="1043940" cy="1043940"/>
            <a:chOff x="0" y="0"/>
            <a:chExt cx="1391920" cy="13919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25400" y="2540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91920" cy="1391920"/>
            </a:xfrm>
            <a:custGeom>
              <a:avLst/>
              <a:gdLst/>
              <a:ahLst/>
              <a:cxnLst/>
              <a:rect r="r" b="b" t="t" l="l"/>
              <a:pathLst>
                <a:path h="1391920" w="1391920">
                  <a:moveTo>
                    <a:pt x="0" y="695960"/>
                  </a:moveTo>
                  <a:cubicBezTo>
                    <a:pt x="0" y="311531"/>
                    <a:pt x="311531" y="0"/>
                    <a:pt x="695960" y="0"/>
                  </a:cubicBezTo>
                  <a:lnTo>
                    <a:pt x="695960" y="25400"/>
                  </a:lnTo>
                  <a:lnTo>
                    <a:pt x="695960" y="0"/>
                  </a:lnTo>
                  <a:cubicBezTo>
                    <a:pt x="1080389" y="0"/>
                    <a:pt x="1391920" y="311531"/>
                    <a:pt x="1391920" y="695960"/>
                  </a:cubicBezTo>
                  <a:lnTo>
                    <a:pt x="1366520" y="695960"/>
                  </a:lnTo>
                  <a:lnTo>
                    <a:pt x="1391920" y="695960"/>
                  </a:lnTo>
                  <a:cubicBezTo>
                    <a:pt x="1391920" y="1080389"/>
                    <a:pt x="1080389" y="1391920"/>
                    <a:pt x="695960" y="1391920"/>
                  </a:cubicBezTo>
                  <a:lnTo>
                    <a:pt x="695960" y="1366520"/>
                  </a:lnTo>
                  <a:lnTo>
                    <a:pt x="695960" y="1391920"/>
                  </a:lnTo>
                  <a:cubicBezTo>
                    <a:pt x="311531" y="1391920"/>
                    <a:pt x="0" y="1080389"/>
                    <a:pt x="0" y="695960"/>
                  </a:cubicBezTo>
                  <a:lnTo>
                    <a:pt x="25400" y="695960"/>
                  </a:lnTo>
                  <a:lnTo>
                    <a:pt x="50800" y="695960"/>
                  </a:lnTo>
                  <a:lnTo>
                    <a:pt x="25400" y="695960"/>
                  </a:lnTo>
                  <a:lnTo>
                    <a:pt x="0" y="695960"/>
                  </a:lnTo>
                  <a:moveTo>
                    <a:pt x="50800" y="695960"/>
                  </a:moveTo>
                  <a:cubicBezTo>
                    <a:pt x="50800" y="709930"/>
                    <a:pt x="39370" y="721360"/>
                    <a:pt x="25400" y="721360"/>
                  </a:cubicBezTo>
                  <a:cubicBezTo>
                    <a:pt x="11430" y="721360"/>
                    <a:pt x="0" y="709930"/>
                    <a:pt x="0" y="695960"/>
                  </a:cubicBezTo>
                  <a:cubicBezTo>
                    <a:pt x="0" y="681990"/>
                    <a:pt x="11430" y="670560"/>
                    <a:pt x="25400" y="670560"/>
                  </a:cubicBezTo>
                  <a:cubicBezTo>
                    <a:pt x="39370" y="670560"/>
                    <a:pt x="50800" y="681990"/>
                    <a:pt x="50800" y="695960"/>
                  </a:cubicBezTo>
                  <a:cubicBezTo>
                    <a:pt x="50800" y="1052322"/>
                    <a:pt x="339598" y="1341120"/>
                    <a:pt x="695960" y="1341120"/>
                  </a:cubicBezTo>
                  <a:cubicBezTo>
                    <a:pt x="1052322" y="1341120"/>
                    <a:pt x="1341120" y="1052322"/>
                    <a:pt x="1341120" y="695960"/>
                  </a:cubicBezTo>
                  <a:cubicBezTo>
                    <a:pt x="1341120" y="339598"/>
                    <a:pt x="1052322" y="50800"/>
                    <a:pt x="695960" y="50800"/>
                  </a:cubicBezTo>
                  <a:lnTo>
                    <a:pt x="695960" y="25400"/>
                  </a:lnTo>
                  <a:lnTo>
                    <a:pt x="695960" y="50800"/>
                  </a:lnTo>
                  <a:cubicBezTo>
                    <a:pt x="339598" y="50800"/>
                    <a:pt x="50800" y="339598"/>
                    <a:pt x="50800" y="695960"/>
                  </a:cubicBez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548640" y="3840480"/>
            <a:ext cx="1005840" cy="1005840"/>
            <a:chOff x="0" y="0"/>
            <a:chExt cx="1341120" cy="13411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13411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C9A8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920240" y="3657600"/>
            <a:ext cx="5120640" cy="731520"/>
            <a:chOff x="0" y="0"/>
            <a:chExt cx="6827520" cy="9753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827520" cy="975360"/>
            </a:xfrm>
            <a:custGeom>
              <a:avLst/>
              <a:gdLst/>
              <a:ahLst/>
              <a:cxnLst/>
              <a:rect r="r" b="b" t="t" l="l"/>
              <a:pathLst>
                <a:path h="97536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6827520" cy="103251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Edge Density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920240" y="4352544"/>
            <a:ext cx="13533120" cy="768096"/>
            <a:chOff x="0" y="0"/>
            <a:chExt cx="18044160" cy="102412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8044161" cy="1024128"/>
            </a:xfrm>
            <a:custGeom>
              <a:avLst/>
              <a:gdLst/>
              <a:ahLst/>
              <a:cxnLst/>
              <a:rect r="r" b="b" t="t" l="l"/>
              <a:pathLst>
                <a:path h="1024128" w="18044161">
                  <a:moveTo>
                    <a:pt x="0" y="0"/>
                  </a:moveTo>
                  <a:lnTo>
                    <a:pt x="18044161" y="0"/>
                  </a:lnTo>
                  <a:lnTo>
                    <a:pt x="18044161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307" r="0" b="-29330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804416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896A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Canny edge detector (100–200 thresholds) — captures embossing &amp; engraving complexity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5806423" y="3791207"/>
            <a:ext cx="2037083" cy="939803"/>
            <a:chOff x="0" y="0"/>
            <a:chExt cx="2716111" cy="125307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6891" y="16891"/>
              <a:ext cx="26822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0EDE5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716022" cy="1252984"/>
            </a:xfrm>
            <a:custGeom>
              <a:avLst/>
              <a:gdLst/>
              <a:ahLst/>
              <a:cxnLst/>
              <a:rect r="r" b="b" t="t" l="l"/>
              <a:pathLst>
                <a:path h="1252984" w="2716022">
                  <a:moveTo>
                    <a:pt x="16891" y="0"/>
                  </a:moveTo>
                  <a:lnTo>
                    <a:pt x="2699131" y="0"/>
                  </a:lnTo>
                  <a:cubicBezTo>
                    <a:pt x="2708529" y="0"/>
                    <a:pt x="2716022" y="7620"/>
                    <a:pt x="2716022" y="16891"/>
                  </a:cubicBezTo>
                  <a:lnTo>
                    <a:pt x="2716022" y="1236091"/>
                  </a:lnTo>
                  <a:cubicBezTo>
                    <a:pt x="2716022" y="1245489"/>
                    <a:pt x="2708402" y="1252982"/>
                    <a:pt x="269913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2699131" y="1219200"/>
                  </a:lnTo>
                  <a:lnTo>
                    <a:pt x="2699131" y="1236091"/>
                  </a:lnTo>
                  <a:lnTo>
                    <a:pt x="2682240" y="1236091"/>
                  </a:lnTo>
                  <a:lnTo>
                    <a:pt x="2682240" y="16891"/>
                  </a:lnTo>
                  <a:lnTo>
                    <a:pt x="2699131" y="16891"/>
                  </a:lnTo>
                  <a:lnTo>
                    <a:pt x="2699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5819120" y="3803904"/>
            <a:ext cx="2011680" cy="914400"/>
            <a:chOff x="0" y="0"/>
            <a:chExt cx="2682240" cy="12192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6822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19" t="0" r="-8319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268224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dim: 1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535943" y="4961639"/>
            <a:ext cx="17216123" cy="52835"/>
            <a:chOff x="0" y="0"/>
            <a:chExt cx="22954831" cy="7044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16891" y="16891"/>
              <a:ext cx="22920960" cy="36576"/>
            </a:xfrm>
            <a:custGeom>
              <a:avLst/>
              <a:gdLst/>
              <a:ahLst/>
              <a:cxnLst/>
              <a:rect r="r" b="b" t="t" l="l"/>
              <a:pathLst>
                <a:path h="36576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E0DDD8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2954743" cy="70360"/>
            </a:xfrm>
            <a:custGeom>
              <a:avLst/>
              <a:gdLst/>
              <a:ahLst/>
              <a:cxnLst/>
              <a:rect r="r" b="b" t="t" l="l"/>
              <a:pathLst>
                <a:path h="70360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53467"/>
                  </a:lnTo>
                  <a:cubicBezTo>
                    <a:pt x="22954743" y="62865"/>
                    <a:pt x="22947123" y="70358"/>
                    <a:pt x="22937851" y="70358"/>
                  </a:cubicBezTo>
                  <a:lnTo>
                    <a:pt x="16891" y="70358"/>
                  </a:lnTo>
                  <a:cubicBezTo>
                    <a:pt x="7620" y="70485"/>
                    <a:pt x="0" y="62865"/>
                    <a:pt x="0" y="534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3467"/>
                  </a:lnTo>
                  <a:lnTo>
                    <a:pt x="16891" y="53467"/>
                  </a:lnTo>
                  <a:lnTo>
                    <a:pt x="16891" y="36576"/>
                  </a:lnTo>
                  <a:lnTo>
                    <a:pt x="22937851" y="36576"/>
                  </a:lnTo>
                  <a:lnTo>
                    <a:pt x="22937851" y="53467"/>
                  </a:lnTo>
                  <a:lnTo>
                    <a:pt x="22920961" y="53467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DDD8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529590" y="5430774"/>
            <a:ext cx="1043940" cy="1043940"/>
            <a:chOff x="0" y="0"/>
            <a:chExt cx="1391920" cy="13919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25400" y="2540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391920" cy="1391920"/>
            </a:xfrm>
            <a:custGeom>
              <a:avLst/>
              <a:gdLst/>
              <a:ahLst/>
              <a:cxnLst/>
              <a:rect r="r" b="b" t="t" l="l"/>
              <a:pathLst>
                <a:path h="1391920" w="1391920">
                  <a:moveTo>
                    <a:pt x="0" y="695960"/>
                  </a:moveTo>
                  <a:cubicBezTo>
                    <a:pt x="0" y="311531"/>
                    <a:pt x="311531" y="0"/>
                    <a:pt x="695960" y="0"/>
                  </a:cubicBezTo>
                  <a:lnTo>
                    <a:pt x="695960" y="25400"/>
                  </a:lnTo>
                  <a:lnTo>
                    <a:pt x="695960" y="0"/>
                  </a:lnTo>
                  <a:cubicBezTo>
                    <a:pt x="1080389" y="0"/>
                    <a:pt x="1391920" y="311531"/>
                    <a:pt x="1391920" y="695960"/>
                  </a:cubicBezTo>
                  <a:lnTo>
                    <a:pt x="1366520" y="695960"/>
                  </a:lnTo>
                  <a:lnTo>
                    <a:pt x="1391920" y="695960"/>
                  </a:lnTo>
                  <a:cubicBezTo>
                    <a:pt x="1391920" y="1080389"/>
                    <a:pt x="1080389" y="1391920"/>
                    <a:pt x="695960" y="1391920"/>
                  </a:cubicBezTo>
                  <a:lnTo>
                    <a:pt x="695960" y="1366520"/>
                  </a:lnTo>
                  <a:lnTo>
                    <a:pt x="695960" y="1391920"/>
                  </a:lnTo>
                  <a:cubicBezTo>
                    <a:pt x="311531" y="1391920"/>
                    <a:pt x="0" y="1080389"/>
                    <a:pt x="0" y="695960"/>
                  </a:cubicBezTo>
                  <a:lnTo>
                    <a:pt x="25400" y="695960"/>
                  </a:lnTo>
                  <a:lnTo>
                    <a:pt x="50800" y="695960"/>
                  </a:lnTo>
                  <a:lnTo>
                    <a:pt x="25400" y="695960"/>
                  </a:lnTo>
                  <a:lnTo>
                    <a:pt x="0" y="695960"/>
                  </a:lnTo>
                  <a:moveTo>
                    <a:pt x="50800" y="695960"/>
                  </a:moveTo>
                  <a:cubicBezTo>
                    <a:pt x="50800" y="709930"/>
                    <a:pt x="39370" y="721360"/>
                    <a:pt x="25400" y="721360"/>
                  </a:cubicBezTo>
                  <a:cubicBezTo>
                    <a:pt x="11430" y="721360"/>
                    <a:pt x="0" y="709930"/>
                    <a:pt x="0" y="695960"/>
                  </a:cubicBezTo>
                  <a:cubicBezTo>
                    <a:pt x="0" y="681990"/>
                    <a:pt x="11430" y="670560"/>
                    <a:pt x="25400" y="670560"/>
                  </a:cubicBezTo>
                  <a:cubicBezTo>
                    <a:pt x="39370" y="670560"/>
                    <a:pt x="50800" y="681990"/>
                    <a:pt x="50800" y="695960"/>
                  </a:cubicBezTo>
                  <a:cubicBezTo>
                    <a:pt x="50800" y="1052322"/>
                    <a:pt x="339598" y="1341120"/>
                    <a:pt x="695960" y="1341120"/>
                  </a:cubicBezTo>
                  <a:cubicBezTo>
                    <a:pt x="1052322" y="1341120"/>
                    <a:pt x="1341120" y="1052322"/>
                    <a:pt x="1341120" y="695960"/>
                  </a:cubicBezTo>
                  <a:cubicBezTo>
                    <a:pt x="1341120" y="339598"/>
                    <a:pt x="1052322" y="50800"/>
                    <a:pt x="695960" y="50800"/>
                  </a:cubicBezTo>
                  <a:lnTo>
                    <a:pt x="695960" y="25400"/>
                  </a:lnTo>
                  <a:lnTo>
                    <a:pt x="695960" y="50800"/>
                  </a:lnTo>
                  <a:cubicBezTo>
                    <a:pt x="339598" y="50800"/>
                    <a:pt x="50800" y="339598"/>
                    <a:pt x="50800" y="695960"/>
                  </a:cubicBez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548640" y="5449824"/>
            <a:ext cx="1005840" cy="1005840"/>
            <a:chOff x="0" y="0"/>
            <a:chExt cx="1341120" cy="13411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13411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C9A8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920240" y="5266944"/>
            <a:ext cx="5120640" cy="731520"/>
            <a:chOff x="0" y="0"/>
            <a:chExt cx="6827520" cy="9753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827520" cy="975360"/>
            </a:xfrm>
            <a:custGeom>
              <a:avLst/>
              <a:gdLst/>
              <a:ahLst/>
              <a:cxnLst/>
              <a:rect r="r" b="b" t="t" l="l"/>
              <a:pathLst>
                <a:path h="97536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57150"/>
              <a:ext cx="6827520" cy="103251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LBP Histogram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920240" y="5961888"/>
            <a:ext cx="13533120" cy="768096"/>
            <a:chOff x="0" y="0"/>
            <a:chExt cx="18044160" cy="102412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8044161" cy="1024128"/>
            </a:xfrm>
            <a:custGeom>
              <a:avLst/>
              <a:gdLst/>
              <a:ahLst/>
              <a:cxnLst/>
              <a:rect r="r" b="b" t="t" l="l"/>
              <a:pathLst>
                <a:path h="1024128" w="18044161">
                  <a:moveTo>
                    <a:pt x="0" y="0"/>
                  </a:moveTo>
                  <a:lnTo>
                    <a:pt x="18044161" y="0"/>
                  </a:lnTo>
                  <a:lnTo>
                    <a:pt x="18044161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307" r="0" b="-293307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1804416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896A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Local Binary Pattern (radius=3, 24 pts, uniform) — encodes surface texture &amp; coin embossing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5806423" y="5400551"/>
            <a:ext cx="2037083" cy="939803"/>
            <a:chOff x="0" y="0"/>
            <a:chExt cx="2716111" cy="125307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16891" y="16891"/>
              <a:ext cx="26822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0EDE5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716022" cy="1252984"/>
            </a:xfrm>
            <a:custGeom>
              <a:avLst/>
              <a:gdLst/>
              <a:ahLst/>
              <a:cxnLst/>
              <a:rect r="r" b="b" t="t" l="l"/>
              <a:pathLst>
                <a:path h="1252984" w="2716022">
                  <a:moveTo>
                    <a:pt x="16891" y="0"/>
                  </a:moveTo>
                  <a:lnTo>
                    <a:pt x="2699131" y="0"/>
                  </a:lnTo>
                  <a:cubicBezTo>
                    <a:pt x="2708529" y="0"/>
                    <a:pt x="2716022" y="7620"/>
                    <a:pt x="2716022" y="16891"/>
                  </a:cubicBezTo>
                  <a:lnTo>
                    <a:pt x="2716022" y="1236091"/>
                  </a:lnTo>
                  <a:cubicBezTo>
                    <a:pt x="2716022" y="1245489"/>
                    <a:pt x="2708402" y="1252982"/>
                    <a:pt x="269913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2699131" y="1219200"/>
                  </a:lnTo>
                  <a:lnTo>
                    <a:pt x="2699131" y="1236091"/>
                  </a:lnTo>
                  <a:lnTo>
                    <a:pt x="2682240" y="1236091"/>
                  </a:lnTo>
                  <a:lnTo>
                    <a:pt x="2682240" y="16891"/>
                  </a:lnTo>
                  <a:lnTo>
                    <a:pt x="2699131" y="16891"/>
                  </a:lnTo>
                  <a:lnTo>
                    <a:pt x="2699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5819120" y="5413248"/>
            <a:ext cx="2011680" cy="914400"/>
            <a:chOff x="0" y="0"/>
            <a:chExt cx="2682240" cy="12192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6822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19" t="0" r="-8319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268224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dim: 26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535943" y="6570983"/>
            <a:ext cx="17216123" cy="52835"/>
            <a:chOff x="0" y="0"/>
            <a:chExt cx="22954831" cy="70447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16891" y="16891"/>
              <a:ext cx="22920960" cy="36576"/>
            </a:xfrm>
            <a:custGeom>
              <a:avLst/>
              <a:gdLst/>
              <a:ahLst/>
              <a:cxnLst/>
              <a:rect r="r" b="b" t="t" l="l"/>
              <a:pathLst>
                <a:path h="36576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E0DDD8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2954743" cy="70360"/>
            </a:xfrm>
            <a:custGeom>
              <a:avLst/>
              <a:gdLst/>
              <a:ahLst/>
              <a:cxnLst/>
              <a:rect r="r" b="b" t="t" l="l"/>
              <a:pathLst>
                <a:path h="70360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53467"/>
                  </a:lnTo>
                  <a:cubicBezTo>
                    <a:pt x="22954743" y="62865"/>
                    <a:pt x="22947123" y="70358"/>
                    <a:pt x="22937851" y="70358"/>
                  </a:cubicBezTo>
                  <a:lnTo>
                    <a:pt x="16891" y="70358"/>
                  </a:lnTo>
                  <a:cubicBezTo>
                    <a:pt x="7620" y="70485"/>
                    <a:pt x="0" y="62865"/>
                    <a:pt x="0" y="534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3467"/>
                  </a:lnTo>
                  <a:lnTo>
                    <a:pt x="16891" y="53467"/>
                  </a:lnTo>
                  <a:lnTo>
                    <a:pt x="16891" y="36576"/>
                  </a:lnTo>
                  <a:lnTo>
                    <a:pt x="22937851" y="36576"/>
                  </a:lnTo>
                  <a:lnTo>
                    <a:pt x="22937851" y="53467"/>
                  </a:lnTo>
                  <a:lnTo>
                    <a:pt x="22920961" y="53467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DDD8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529590" y="7040118"/>
            <a:ext cx="1043940" cy="1043940"/>
            <a:chOff x="0" y="0"/>
            <a:chExt cx="1391920" cy="139192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25400" y="2540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391920" cy="1391920"/>
            </a:xfrm>
            <a:custGeom>
              <a:avLst/>
              <a:gdLst/>
              <a:ahLst/>
              <a:cxnLst/>
              <a:rect r="r" b="b" t="t" l="l"/>
              <a:pathLst>
                <a:path h="1391920" w="1391920">
                  <a:moveTo>
                    <a:pt x="0" y="695960"/>
                  </a:moveTo>
                  <a:cubicBezTo>
                    <a:pt x="0" y="311531"/>
                    <a:pt x="311531" y="0"/>
                    <a:pt x="695960" y="0"/>
                  </a:cubicBezTo>
                  <a:lnTo>
                    <a:pt x="695960" y="25400"/>
                  </a:lnTo>
                  <a:lnTo>
                    <a:pt x="695960" y="0"/>
                  </a:lnTo>
                  <a:cubicBezTo>
                    <a:pt x="1080389" y="0"/>
                    <a:pt x="1391920" y="311531"/>
                    <a:pt x="1391920" y="695960"/>
                  </a:cubicBezTo>
                  <a:lnTo>
                    <a:pt x="1366520" y="695960"/>
                  </a:lnTo>
                  <a:lnTo>
                    <a:pt x="1391920" y="695960"/>
                  </a:lnTo>
                  <a:cubicBezTo>
                    <a:pt x="1391920" y="1080389"/>
                    <a:pt x="1080389" y="1391920"/>
                    <a:pt x="695960" y="1391920"/>
                  </a:cubicBezTo>
                  <a:lnTo>
                    <a:pt x="695960" y="1366520"/>
                  </a:lnTo>
                  <a:lnTo>
                    <a:pt x="695960" y="1391920"/>
                  </a:lnTo>
                  <a:cubicBezTo>
                    <a:pt x="311531" y="1391920"/>
                    <a:pt x="0" y="1080389"/>
                    <a:pt x="0" y="695960"/>
                  </a:cubicBezTo>
                  <a:lnTo>
                    <a:pt x="25400" y="695960"/>
                  </a:lnTo>
                  <a:lnTo>
                    <a:pt x="50800" y="695960"/>
                  </a:lnTo>
                  <a:lnTo>
                    <a:pt x="25400" y="695960"/>
                  </a:lnTo>
                  <a:lnTo>
                    <a:pt x="0" y="695960"/>
                  </a:lnTo>
                  <a:moveTo>
                    <a:pt x="50800" y="695960"/>
                  </a:moveTo>
                  <a:cubicBezTo>
                    <a:pt x="50800" y="709930"/>
                    <a:pt x="39370" y="721360"/>
                    <a:pt x="25400" y="721360"/>
                  </a:cubicBezTo>
                  <a:cubicBezTo>
                    <a:pt x="11430" y="721360"/>
                    <a:pt x="0" y="709930"/>
                    <a:pt x="0" y="695960"/>
                  </a:cubicBezTo>
                  <a:cubicBezTo>
                    <a:pt x="0" y="681990"/>
                    <a:pt x="11430" y="670560"/>
                    <a:pt x="25400" y="670560"/>
                  </a:cubicBezTo>
                  <a:cubicBezTo>
                    <a:pt x="39370" y="670560"/>
                    <a:pt x="50800" y="681990"/>
                    <a:pt x="50800" y="695960"/>
                  </a:cubicBezTo>
                  <a:cubicBezTo>
                    <a:pt x="50800" y="1052322"/>
                    <a:pt x="339598" y="1341120"/>
                    <a:pt x="695960" y="1341120"/>
                  </a:cubicBezTo>
                  <a:cubicBezTo>
                    <a:pt x="1052322" y="1341120"/>
                    <a:pt x="1341120" y="1052322"/>
                    <a:pt x="1341120" y="695960"/>
                  </a:cubicBezTo>
                  <a:cubicBezTo>
                    <a:pt x="1341120" y="339598"/>
                    <a:pt x="1052322" y="50800"/>
                    <a:pt x="695960" y="50800"/>
                  </a:cubicBezTo>
                  <a:lnTo>
                    <a:pt x="695960" y="25400"/>
                  </a:lnTo>
                  <a:lnTo>
                    <a:pt x="695960" y="50800"/>
                  </a:lnTo>
                  <a:cubicBezTo>
                    <a:pt x="339598" y="50800"/>
                    <a:pt x="50800" y="339598"/>
                    <a:pt x="50800" y="695960"/>
                  </a:cubicBez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548640" y="7059168"/>
            <a:ext cx="1005840" cy="1005840"/>
            <a:chOff x="0" y="0"/>
            <a:chExt cx="1341120" cy="134112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47625"/>
              <a:ext cx="13411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C9A8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920240" y="6876288"/>
            <a:ext cx="5120640" cy="731520"/>
            <a:chOff x="0" y="0"/>
            <a:chExt cx="6827520" cy="97536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827520" cy="975360"/>
            </a:xfrm>
            <a:custGeom>
              <a:avLst/>
              <a:gdLst/>
              <a:ahLst/>
              <a:cxnLst/>
              <a:rect r="r" b="b" t="t" l="l"/>
              <a:pathLst>
                <a:path h="97536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57150"/>
              <a:ext cx="6827520" cy="103251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HOG Features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920240" y="7571232"/>
            <a:ext cx="13533120" cy="768096"/>
            <a:chOff x="0" y="0"/>
            <a:chExt cx="18044160" cy="102412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8044161" cy="1024128"/>
            </a:xfrm>
            <a:custGeom>
              <a:avLst/>
              <a:gdLst/>
              <a:ahLst/>
              <a:cxnLst/>
              <a:rect r="r" b="b" t="t" l="l"/>
              <a:pathLst>
                <a:path h="1024128" w="18044161">
                  <a:moveTo>
                    <a:pt x="0" y="0"/>
                  </a:moveTo>
                  <a:lnTo>
                    <a:pt x="18044161" y="0"/>
                  </a:lnTo>
                  <a:lnTo>
                    <a:pt x="18044161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307" r="0" b="-293307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1804416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896A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Histogram of Oriented Gradients (9 orientations, 16×16 cells) — captures structural edge layout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5806423" y="7009895"/>
            <a:ext cx="2037083" cy="939803"/>
            <a:chOff x="0" y="0"/>
            <a:chExt cx="2716111" cy="1253071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16891" y="16891"/>
              <a:ext cx="26822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0EDE5"/>
            </a:solidFill>
          </p:spPr>
        </p:sp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716022" cy="1252984"/>
            </a:xfrm>
            <a:custGeom>
              <a:avLst/>
              <a:gdLst/>
              <a:ahLst/>
              <a:cxnLst/>
              <a:rect r="r" b="b" t="t" l="l"/>
              <a:pathLst>
                <a:path h="1252984" w="2716022">
                  <a:moveTo>
                    <a:pt x="16891" y="0"/>
                  </a:moveTo>
                  <a:lnTo>
                    <a:pt x="2699131" y="0"/>
                  </a:lnTo>
                  <a:cubicBezTo>
                    <a:pt x="2708529" y="0"/>
                    <a:pt x="2716022" y="7620"/>
                    <a:pt x="2716022" y="16891"/>
                  </a:cubicBezTo>
                  <a:lnTo>
                    <a:pt x="2716022" y="1236091"/>
                  </a:lnTo>
                  <a:cubicBezTo>
                    <a:pt x="2716022" y="1245489"/>
                    <a:pt x="2708402" y="1252982"/>
                    <a:pt x="269913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2699131" y="1219200"/>
                  </a:lnTo>
                  <a:lnTo>
                    <a:pt x="2699131" y="1236091"/>
                  </a:lnTo>
                  <a:lnTo>
                    <a:pt x="2682240" y="1236091"/>
                  </a:lnTo>
                  <a:lnTo>
                    <a:pt x="2682240" y="16891"/>
                  </a:lnTo>
                  <a:lnTo>
                    <a:pt x="2699131" y="16891"/>
                  </a:lnTo>
                  <a:lnTo>
                    <a:pt x="2699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5819120" y="7022592"/>
            <a:ext cx="2011680" cy="914400"/>
            <a:chOff x="0" y="0"/>
            <a:chExt cx="2682240" cy="12192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6822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19" t="0" r="-8319" b="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47625"/>
              <a:ext cx="268224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dim: 200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535943" y="8180327"/>
            <a:ext cx="17216123" cy="52835"/>
            <a:chOff x="0" y="0"/>
            <a:chExt cx="22954831" cy="70447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16891" y="16891"/>
              <a:ext cx="22920960" cy="36576"/>
            </a:xfrm>
            <a:custGeom>
              <a:avLst/>
              <a:gdLst/>
              <a:ahLst/>
              <a:cxnLst/>
              <a:rect r="r" b="b" t="t" l="l"/>
              <a:pathLst>
                <a:path h="36576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E0DDD8"/>
            </a:solidFill>
          </p:spPr>
        </p:sp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2954743" cy="70360"/>
            </a:xfrm>
            <a:custGeom>
              <a:avLst/>
              <a:gdLst/>
              <a:ahLst/>
              <a:cxnLst/>
              <a:rect r="r" b="b" t="t" l="l"/>
              <a:pathLst>
                <a:path h="70360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53467"/>
                  </a:lnTo>
                  <a:cubicBezTo>
                    <a:pt x="22954743" y="62865"/>
                    <a:pt x="22947123" y="70358"/>
                    <a:pt x="22937851" y="70358"/>
                  </a:cubicBezTo>
                  <a:lnTo>
                    <a:pt x="16891" y="70358"/>
                  </a:lnTo>
                  <a:cubicBezTo>
                    <a:pt x="7620" y="70485"/>
                    <a:pt x="0" y="62865"/>
                    <a:pt x="0" y="534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3467"/>
                  </a:lnTo>
                  <a:lnTo>
                    <a:pt x="16891" y="53467"/>
                  </a:lnTo>
                  <a:lnTo>
                    <a:pt x="16891" y="36576"/>
                  </a:lnTo>
                  <a:lnTo>
                    <a:pt x="22937851" y="36576"/>
                  </a:lnTo>
                  <a:lnTo>
                    <a:pt x="22937851" y="53467"/>
                  </a:lnTo>
                  <a:lnTo>
                    <a:pt x="22920961" y="53467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DDD8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529590" y="8649462"/>
            <a:ext cx="1043940" cy="1043940"/>
            <a:chOff x="0" y="0"/>
            <a:chExt cx="1391920" cy="139192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25400" y="2540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391920" cy="1391920"/>
            </a:xfrm>
            <a:custGeom>
              <a:avLst/>
              <a:gdLst/>
              <a:ahLst/>
              <a:cxnLst/>
              <a:rect r="r" b="b" t="t" l="l"/>
              <a:pathLst>
                <a:path h="1391920" w="1391920">
                  <a:moveTo>
                    <a:pt x="0" y="695960"/>
                  </a:moveTo>
                  <a:cubicBezTo>
                    <a:pt x="0" y="311531"/>
                    <a:pt x="311531" y="0"/>
                    <a:pt x="695960" y="0"/>
                  </a:cubicBezTo>
                  <a:lnTo>
                    <a:pt x="695960" y="25400"/>
                  </a:lnTo>
                  <a:lnTo>
                    <a:pt x="695960" y="0"/>
                  </a:lnTo>
                  <a:cubicBezTo>
                    <a:pt x="1080389" y="0"/>
                    <a:pt x="1391920" y="311531"/>
                    <a:pt x="1391920" y="695960"/>
                  </a:cubicBezTo>
                  <a:lnTo>
                    <a:pt x="1366520" y="695960"/>
                  </a:lnTo>
                  <a:lnTo>
                    <a:pt x="1391920" y="695960"/>
                  </a:lnTo>
                  <a:cubicBezTo>
                    <a:pt x="1391920" y="1080389"/>
                    <a:pt x="1080389" y="1391920"/>
                    <a:pt x="695960" y="1391920"/>
                  </a:cubicBezTo>
                  <a:lnTo>
                    <a:pt x="695960" y="1366520"/>
                  </a:lnTo>
                  <a:lnTo>
                    <a:pt x="695960" y="1391920"/>
                  </a:lnTo>
                  <a:cubicBezTo>
                    <a:pt x="311531" y="1391920"/>
                    <a:pt x="0" y="1080389"/>
                    <a:pt x="0" y="695960"/>
                  </a:cubicBezTo>
                  <a:lnTo>
                    <a:pt x="25400" y="695960"/>
                  </a:lnTo>
                  <a:lnTo>
                    <a:pt x="50800" y="695960"/>
                  </a:lnTo>
                  <a:lnTo>
                    <a:pt x="25400" y="695960"/>
                  </a:lnTo>
                  <a:lnTo>
                    <a:pt x="0" y="695960"/>
                  </a:lnTo>
                  <a:moveTo>
                    <a:pt x="50800" y="695960"/>
                  </a:moveTo>
                  <a:cubicBezTo>
                    <a:pt x="50800" y="709930"/>
                    <a:pt x="39370" y="721360"/>
                    <a:pt x="25400" y="721360"/>
                  </a:cubicBezTo>
                  <a:cubicBezTo>
                    <a:pt x="11430" y="721360"/>
                    <a:pt x="0" y="709930"/>
                    <a:pt x="0" y="695960"/>
                  </a:cubicBezTo>
                  <a:cubicBezTo>
                    <a:pt x="0" y="681990"/>
                    <a:pt x="11430" y="670560"/>
                    <a:pt x="25400" y="670560"/>
                  </a:cubicBezTo>
                  <a:cubicBezTo>
                    <a:pt x="39370" y="670560"/>
                    <a:pt x="50800" y="681990"/>
                    <a:pt x="50800" y="695960"/>
                  </a:cubicBezTo>
                  <a:cubicBezTo>
                    <a:pt x="50800" y="1052322"/>
                    <a:pt x="339598" y="1341120"/>
                    <a:pt x="695960" y="1341120"/>
                  </a:cubicBezTo>
                  <a:cubicBezTo>
                    <a:pt x="1052322" y="1341120"/>
                    <a:pt x="1341120" y="1052322"/>
                    <a:pt x="1341120" y="695960"/>
                  </a:cubicBezTo>
                  <a:cubicBezTo>
                    <a:pt x="1341120" y="339598"/>
                    <a:pt x="1052322" y="50800"/>
                    <a:pt x="695960" y="50800"/>
                  </a:cubicBezTo>
                  <a:lnTo>
                    <a:pt x="695960" y="25400"/>
                  </a:lnTo>
                  <a:lnTo>
                    <a:pt x="695960" y="50800"/>
                  </a:lnTo>
                  <a:cubicBezTo>
                    <a:pt x="339598" y="50800"/>
                    <a:pt x="50800" y="339598"/>
                    <a:pt x="50800" y="695960"/>
                  </a:cubicBez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548640" y="8668512"/>
            <a:ext cx="1005840" cy="1005840"/>
            <a:chOff x="0" y="0"/>
            <a:chExt cx="1341120" cy="134112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47625"/>
              <a:ext cx="13411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C9A8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920240" y="8485632"/>
            <a:ext cx="5120640" cy="731520"/>
            <a:chOff x="0" y="0"/>
            <a:chExt cx="6827520" cy="97536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6827520" cy="975360"/>
            </a:xfrm>
            <a:custGeom>
              <a:avLst/>
              <a:gdLst/>
              <a:ahLst/>
              <a:cxnLst/>
              <a:rect r="r" b="b" t="t" l="l"/>
              <a:pathLst>
                <a:path h="97536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57150"/>
              <a:ext cx="6827520" cy="103251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HSV Histogram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920240" y="9180576"/>
            <a:ext cx="13533120" cy="768096"/>
            <a:chOff x="0" y="0"/>
            <a:chExt cx="18044160" cy="1024128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8044161" cy="1024128"/>
            </a:xfrm>
            <a:custGeom>
              <a:avLst/>
              <a:gdLst/>
              <a:ahLst/>
              <a:cxnLst/>
              <a:rect r="r" b="b" t="t" l="l"/>
              <a:pathLst>
                <a:path h="1024128" w="18044161">
                  <a:moveTo>
                    <a:pt x="0" y="0"/>
                  </a:moveTo>
                  <a:lnTo>
                    <a:pt x="18044161" y="0"/>
                  </a:lnTo>
                  <a:lnTo>
                    <a:pt x="18044161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307" r="0" b="-293307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1804416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896A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8×8 bin joint hue-saturation histogram — distinguishes silver, brass, bi-metallic coins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5806423" y="8619239"/>
            <a:ext cx="2037083" cy="939803"/>
            <a:chOff x="0" y="0"/>
            <a:chExt cx="2716111" cy="1253071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16891" y="16891"/>
              <a:ext cx="26822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0EDE5"/>
            </a:solidFill>
          </p:spPr>
        </p:sp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716022" cy="1252984"/>
            </a:xfrm>
            <a:custGeom>
              <a:avLst/>
              <a:gdLst/>
              <a:ahLst/>
              <a:cxnLst/>
              <a:rect r="r" b="b" t="t" l="l"/>
              <a:pathLst>
                <a:path h="1252984" w="2716022">
                  <a:moveTo>
                    <a:pt x="16891" y="0"/>
                  </a:moveTo>
                  <a:lnTo>
                    <a:pt x="2699131" y="0"/>
                  </a:lnTo>
                  <a:cubicBezTo>
                    <a:pt x="2708529" y="0"/>
                    <a:pt x="2716022" y="7620"/>
                    <a:pt x="2716022" y="16891"/>
                  </a:cubicBezTo>
                  <a:lnTo>
                    <a:pt x="2716022" y="1236091"/>
                  </a:lnTo>
                  <a:cubicBezTo>
                    <a:pt x="2716022" y="1245489"/>
                    <a:pt x="2708402" y="1252982"/>
                    <a:pt x="269913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2699131" y="1219200"/>
                  </a:lnTo>
                  <a:lnTo>
                    <a:pt x="2699131" y="1236091"/>
                  </a:lnTo>
                  <a:lnTo>
                    <a:pt x="2682240" y="1236091"/>
                  </a:lnTo>
                  <a:lnTo>
                    <a:pt x="2682240" y="16891"/>
                  </a:lnTo>
                  <a:lnTo>
                    <a:pt x="2699131" y="16891"/>
                  </a:lnTo>
                  <a:lnTo>
                    <a:pt x="2699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5819120" y="8631936"/>
            <a:ext cx="2011680" cy="914400"/>
            <a:chOff x="0" y="0"/>
            <a:chExt cx="2682240" cy="121920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6822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19" t="0" r="-8319" b="0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47625"/>
              <a:ext cx="268224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dim: 64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535943" y="9899399"/>
            <a:ext cx="17216123" cy="482603"/>
            <a:chOff x="0" y="0"/>
            <a:chExt cx="22954831" cy="643471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16891" y="16891"/>
              <a:ext cx="22920960" cy="609600"/>
            </a:xfrm>
            <a:custGeom>
              <a:avLst/>
              <a:gdLst/>
              <a:ahLst/>
              <a:cxnLst/>
              <a:rect r="r" b="b" t="t" l="l"/>
              <a:pathLst>
                <a:path h="609600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2954743" cy="643384"/>
            </a:xfrm>
            <a:custGeom>
              <a:avLst/>
              <a:gdLst/>
              <a:ahLst/>
              <a:cxnLst/>
              <a:rect r="r" b="b" t="t" l="l"/>
              <a:pathLst>
                <a:path h="643384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626491"/>
                  </a:lnTo>
                  <a:cubicBezTo>
                    <a:pt x="22954743" y="635889"/>
                    <a:pt x="22947123" y="643382"/>
                    <a:pt x="22937851" y="643382"/>
                  </a:cubicBezTo>
                  <a:lnTo>
                    <a:pt x="16891" y="643382"/>
                  </a:lnTo>
                  <a:cubicBezTo>
                    <a:pt x="7620" y="643509"/>
                    <a:pt x="0" y="635889"/>
                    <a:pt x="0" y="626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16891" y="609600"/>
                  </a:lnTo>
                  <a:lnTo>
                    <a:pt x="22937851" y="609600"/>
                  </a:lnTo>
                  <a:lnTo>
                    <a:pt x="22937851" y="626491"/>
                  </a:lnTo>
                  <a:lnTo>
                    <a:pt x="22920961" y="626491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548640" y="9912096"/>
            <a:ext cx="17190720" cy="457200"/>
            <a:chOff x="0" y="0"/>
            <a:chExt cx="22920960" cy="60960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22920961" cy="609600"/>
            </a:xfrm>
            <a:custGeom>
              <a:avLst/>
              <a:gdLst/>
              <a:ahLst/>
              <a:cxnLst/>
              <a:rect r="r" b="b" t="t" l="l"/>
              <a:pathLst>
                <a:path h="60960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2637" r="0" b="-682637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38100"/>
              <a:ext cx="2292096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C9A8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Total Feature Vector Length: 292 dimensions  (1 + 1 + 26 + 200 + 64)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D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48640" y="274320"/>
            <a:ext cx="1097280" cy="1097280"/>
            <a:chOff x="0" y="0"/>
            <a:chExt cx="1463040" cy="1463040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2011680" y="182880"/>
            <a:ext cx="15544800" cy="1463040"/>
            <a:chOff x="0" y="0"/>
            <a:chExt cx="20726400" cy="19507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26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028" r="0" b="-15702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726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ML Classifiers Evaluated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29590" y="1992630"/>
            <a:ext cx="5524500" cy="7901940"/>
            <a:chOff x="0" y="0"/>
            <a:chExt cx="7366000" cy="105359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25400" y="25400"/>
              <a:ext cx="7315200" cy="10485120"/>
            </a:xfrm>
            <a:custGeom>
              <a:avLst/>
              <a:gdLst/>
              <a:ahLst/>
              <a:cxnLst/>
              <a:rect r="r" b="b" t="t" l="l"/>
              <a:pathLst>
                <a:path h="104851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485120"/>
                  </a:lnTo>
                  <a:lnTo>
                    <a:pt x="0" y="104851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66000" cy="10535920"/>
            </a:xfrm>
            <a:custGeom>
              <a:avLst/>
              <a:gdLst/>
              <a:ahLst/>
              <a:cxnLst/>
              <a:rect r="r" b="b" t="t" l="l"/>
              <a:pathLst>
                <a:path h="10535920" w="7366000">
                  <a:moveTo>
                    <a:pt x="25400" y="0"/>
                  </a:moveTo>
                  <a:lnTo>
                    <a:pt x="7340600" y="0"/>
                  </a:lnTo>
                  <a:cubicBezTo>
                    <a:pt x="7354570" y="0"/>
                    <a:pt x="7366000" y="11430"/>
                    <a:pt x="7366000" y="25400"/>
                  </a:cubicBezTo>
                  <a:lnTo>
                    <a:pt x="7366000" y="10510520"/>
                  </a:lnTo>
                  <a:cubicBezTo>
                    <a:pt x="7366000" y="10524489"/>
                    <a:pt x="7354570" y="10535920"/>
                    <a:pt x="7340600" y="10535920"/>
                  </a:cubicBezTo>
                  <a:lnTo>
                    <a:pt x="25400" y="10535920"/>
                  </a:lnTo>
                  <a:cubicBezTo>
                    <a:pt x="11430" y="10535920"/>
                    <a:pt x="0" y="10524489"/>
                    <a:pt x="0" y="1051052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0510520"/>
                  </a:lnTo>
                  <a:lnTo>
                    <a:pt x="25400" y="10510520"/>
                  </a:lnTo>
                  <a:lnTo>
                    <a:pt x="25400" y="10485120"/>
                  </a:lnTo>
                  <a:lnTo>
                    <a:pt x="7340600" y="10485120"/>
                  </a:lnTo>
                  <a:lnTo>
                    <a:pt x="7340600" y="10510520"/>
                  </a:lnTo>
                  <a:lnTo>
                    <a:pt x="7315200" y="10510520"/>
                  </a:lnTo>
                  <a:lnTo>
                    <a:pt x="7315200" y="25400"/>
                  </a:lnTo>
                  <a:lnTo>
                    <a:pt x="7340600" y="25400"/>
                  </a:lnTo>
                  <a:lnTo>
                    <a:pt x="73406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35943" y="1998983"/>
            <a:ext cx="5511803" cy="1031243"/>
            <a:chOff x="0" y="0"/>
            <a:chExt cx="7349071" cy="137499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7315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2D9E6B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489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358011"/>
                  </a:lnTo>
                  <a:cubicBezTo>
                    <a:pt x="7348982" y="1367409"/>
                    <a:pt x="7341362" y="1374902"/>
                    <a:pt x="733209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7332091" y="1341120"/>
                  </a:lnTo>
                  <a:lnTo>
                    <a:pt x="7332091" y="1358011"/>
                  </a:lnTo>
                  <a:lnTo>
                    <a:pt x="7315200" y="135801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9E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48640" y="2011680"/>
            <a:ext cx="5486400" cy="1005840"/>
            <a:chOff x="0" y="0"/>
            <a:chExt cx="7315200" cy="13411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15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282" r="0" b="-5628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731520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🏆 Best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48640" y="3054096"/>
            <a:ext cx="5486400" cy="1005840"/>
            <a:chOff x="0" y="0"/>
            <a:chExt cx="7315200" cy="13411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315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282" r="0" b="-5628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731520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D1B2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Random Forest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633223" y="4102103"/>
            <a:ext cx="3317243" cy="1031243"/>
            <a:chOff x="0" y="0"/>
            <a:chExt cx="4422991" cy="137499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6891" y="16891"/>
              <a:ext cx="4389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0EDE5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422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4422902">
                  <a:moveTo>
                    <a:pt x="16891" y="0"/>
                  </a:moveTo>
                  <a:lnTo>
                    <a:pt x="4406011" y="0"/>
                  </a:lnTo>
                  <a:cubicBezTo>
                    <a:pt x="4415409" y="0"/>
                    <a:pt x="4422902" y="7620"/>
                    <a:pt x="4422902" y="16891"/>
                  </a:cubicBezTo>
                  <a:lnTo>
                    <a:pt x="4422902" y="1358011"/>
                  </a:lnTo>
                  <a:cubicBezTo>
                    <a:pt x="4422902" y="1367409"/>
                    <a:pt x="4415282" y="1374902"/>
                    <a:pt x="440601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4406011" y="1341120"/>
                  </a:lnTo>
                  <a:lnTo>
                    <a:pt x="4406011" y="1358011"/>
                  </a:lnTo>
                  <a:lnTo>
                    <a:pt x="4389120" y="1358011"/>
                  </a:lnTo>
                  <a:lnTo>
                    <a:pt x="4389120" y="16891"/>
                  </a:lnTo>
                  <a:lnTo>
                    <a:pt x="4406011" y="16891"/>
                  </a:lnTo>
                  <a:lnTo>
                    <a:pt x="4406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645920" y="4114800"/>
            <a:ext cx="3291840" cy="1005840"/>
            <a:chOff x="0" y="0"/>
            <a:chExt cx="4389120" cy="13411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389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69" r="0" b="-13769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43891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Accuracy: 70%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31520" y="5266944"/>
            <a:ext cx="5120640" cy="640080"/>
            <a:chOff x="0" y="0"/>
            <a:chExt cx="6827520" cy="8534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68275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i="true">
                  <a:solidFill>
                    <a:srgbClr val="8896A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n_estimators=100, random_state=42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5998464"/>
            <a:ext cx="4937760" cy="548640"/>
            <a:chOff x="0" y="0"/>
            <a:chExt cx="658368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583680" cy="731520"/>
            </a:xfrm>
            <a:custGeom>
              <a:avLst/>
              <a:gdLst/>
              <a:ahLst/>
              <a:cxnLst/>
              <a:rect r="r" b="b" t="t" l="l"/>
              <a:pathLst>
                <a:path h="731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65836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D9E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Strengths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22960" y="6547104"/>
            <a:ext cx="4937760" cy="512064"/>
            <a:chOff x="0" y="0"/>
            <a:chExt cx="6583680" cy="68275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583680" cy="682752"/>
            </a:xfrm>
            <a:custGeom>
              <a:avLst/>
              <a:gdLst/>
              <a:ahLst/>
              <a:cxnLst/>
              <a:rect r="r" b="b" t="t" l="l"/>
              <a:pathLst>
                <a:path h="68275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65836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Handles high-dimensional features well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22960" y="7095744"/>
            <a:ext cx="4937760" cy="512064"/>
            <a:chOff x="0" y="0"/>
            <a:chExt cx="6583680" cy="68275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583680" cy="682752"/>
            </a:xfrm>
            <a:custGeom>
              <a:avLst/>
              <a:gdLst/>
              <a:ahLst/>
              <a:cxnLst/>
              <a:rect r="r" b="b" t="t" l="l"/>
              <a:pathLst>
                <a:path h="68275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65836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Robust to noise &amp; outliers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22960" y="7644384"/>
            <a:ext cx="4937760" cy="512064"/>
            <a:chOff x="0" y="0"/>
            <a:chExt cx="6583680" cy="68275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583680" cy="682752"/>
            </a:xfrm>
            <a:custGeom>
              <a:avLst/>
              <a:gdLst/>
              <a:ahLst/>
              <a:cxnLst/>
              <a:rect r="r" b="b" t="t" l="l"/>
              <a:pathLst>
                <a:path h="68275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65836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No feature scaling needed (but used)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381750" y="1992630"/>
            <a:ext cx="5524500" cy="7901940"/>
            <a:chOff x="0" y="0"/>
            <a:chExt cx="7366000" cy="105359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25400" y="25400"/>
              <a:ext cx="7315200" cy="10485120"/>
            </a:xfrm>
            <a:custGeom>
              <a:avLst/>
              <a:gdLst/>
              <a:ahLst/>
              <a:cxnLst/>
              <a:rect r="r" b="b" t="t" l="l"/>
              <a:pathLst>
                <a:path h="104851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485120"/>
                  </a:lnTo>
                  <a:lnTo>
                    <a:pt x="0" y="104851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366000" cy="10535920"/>
            </a:xfrm>
            <a:custGeom>
              <a:avLst/>
              <a:gdLst/>
              <a:ahLst/>
              <a:cxnLst/>
              <a:rect r="r" b="b" t="t" l="l"/>
              <a:pathLst>
                <a:path h="10535920" w="7366000">
                  <a:moveTo>
                    <a:pt x="25400" y="0"/>
                  </a:moveTo>
                  <a:lnTo>
                    <a:pt x="7340600" y="0"/>
                  </a:lnTo>
                  <a:cubicBezTo>
                    <a:pt x="7354570" y="0"/>
                    <a:pt x="7366000" y="11430"/>
                    <a:pt x="7366000" y="25400"/>
                  </a:cubicBezTo>
                  <a:lnTo>
                    <a:pt x="7366000" y="10510520"/>
                  </a:lnTo>
                  <a:cubicBezTo>
                    <a:pt x="7366000" y="10524489"/>
                    <a:pt x="7354570" y="10535920"/>
                    <a:pt x="7340600" y="10535920"/>
                  </a:cubicBezTo>
                  <a:lnTo>
                    <a:pt x="25400" y="10535920"/>
                  </a:lnTo>
                  <a:cubicBezTo>
                    <a:pt x="11430" y="10535920"/>
                    <a:pt x="0" y="10524489"/>
                    <a:pt x="0" y="1051052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0510520"/>
                  </a:lnTo>
                  <a:lnTo>
                    <a:pt x="25400" y="10510520"/>
                  </a:lnTo>
                  <a:lnTo>
                    <a:pt x="25400" y="10485120"/>
                  </a:lnTo>
                  <a:lnTo>
                    <a:pt x="7340600" y="10485120"/>
                  </a:lnTo>
                  <a:lnTo>
                    <a:pt x="7340600" y="10510520"/>
                  </a:lnTo>
                  <a:lnTo>
                    <a:pt x="7315200" y="10510520"/>
                  </a:lnTo>
                  <a:lnTo>
                    <a:pt x="7315200" y="25400"/>
                  </a:lnTo>
                  <a:lnTo>
                    <a:pt x="7340600" y="25400"/>
                  </a:lnTo>
                  <a:lnTo>
                    <a:pt x="73406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6388103" y="1998983"/>
            <a:ext cx="5511803" cy="1031243"/>
            <a:chOff x="0" y="0"/>
            <a:chExt cx="7349071" cy="137499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6891" y="16891"/>
              <a:ext cx="7315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2E86AB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3489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358011"/>
                  </a:lnTo>
                  <a:cubicBezTo>
                    <a:pt x="7348982" y="1367409"/>
                    <a:pt x="7341362" y="1374902"/>
                    <a:pt x="733209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7332091" y="1341120"/>
                  </a:lnTo>
                  <a:lnTo>
                    <a:pt x="7332091" y="1358011"/>
                  </a:lnTo>
                  <a:lnTo>
                    <a:pt x="7315200" y="135801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86AB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6400800" y="2011680"/>
            <a:ext cx="5486400" cy="1005840"/>
            <a:chOff x="0" y="0"/>
            <a:chExt cx="7315200" cy="13411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315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282" r="0" b="-5628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731520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2nd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400800" y="3054096"/>
            <a:ext cx="5486400" cy="1005840"/>
            <a:chOff x="0" y="0"/>
            <a:chExt cx="7315200" cy="13411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315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282" r="0" b="-5628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731520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D1B2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SVM (RBF)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7485383" y="4102103"/>
            <a:ext cx="3317243" cy="1031243"/>
            <a:chOff x="0" y="0"/>
            <a:chExt cx="4422991" cy="137499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6891" y="16891"/>
              <a:ext cx="4389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0EDE5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422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4422902">
                  <a:moveTo>
                    <a:pt x="16891" y="0"/>
                  </a:moveTo>
                  <a:lnTo>
                    <a:pt x="4406011" y="0"/>
                  </a:lnTo>
                  <a:cubicBezTo>
                    <a:pt x="4415409" y="0"/>
                    <a:pt x="4422902" y="7620"/>
                    <a:pt x="4422902" y="16891"/>
                  </a:cubicBezTo>
                  <a:lnTo>
                    <a:pt x="4422902" y="1358011"/>
                  </a:lnTo>
                  <a:cubicBezTo>
                    <a:pt x="4422902" y="1367409"/>
                    <a:pt x="4415282" y="1374902"/>
                    <a:pt x="440601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4406011" y="1341120"/>
                  </a:lnTo>
                  <a:lnTo>
                    <a:pt x="4406011" y="1358011"/>
                  </a:lnTo>
                  <a:lnTo>
                    <a:pt x="4389120" y="1358011"/>
                  </a:lnTo>
                  <a:lnTo>
                    <a:pt x="4389120" y="16891"/>
                  </a:lnTo>
                  <a:lnTo>
                    <a:pt x="4406011" y="16891"/>
                  </a:lnTo>
                  <a:lnTo>
                    <a:pt x="4406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7498080" y="4114800"/>
            <a:ext cx="3291840" cy="1005840"/>
            <a:chOff x="0" y="0"/>
            <a:chExt cx="4389120" cy="13411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389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69" r="0" b="-13769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43891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Accuracy: 58%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6583680" y="5266944"/>
            <a:ext cx="5120640" cy="640080"/>
            <a:chOff x="0" y="0"/>
            <a:chExt cx="6827520" cy="8534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68275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i="true">
                  <a:solidFill>
                    <a:srgbClr val="8896A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kernel='rbf', random_state=42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6675120" y="5998464"/>
            <a:ext cx="4937760" cy="548640"/>
            <a:chOff x="0" y="0"/>
            <a:chExt cx="6583680" cy="7315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583680" cy="731520"/>
            </a:xfrm>
            <a:custGeom>
              <a:avLst/>
              <a:gdLst/>
              <a:ahLst/>
              <a:cxnLst/>
              <a:rect r="r" b="b" t="t" l="l"/>
              <a:pathLst>
                <a:path h="731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65836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D9E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Strengths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6675120" y="6547104"/>
            <a:ext cx="4937760" cy="512064"/>
            <a:chOff x="0" y="0"/>
            <a:chExt cx="6583680" cy="68275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583680" cy="682752"/>
            </a:xfrm>
            <a:custGeom>
              <a:avLst/>
              <a:gdLst/>
              <a:ahLst/>
              <a:cxnLst/>
              <a:rect r="r" b="b" t="t" l="l"/>
              <a:pathLst>
                <a:path h="68275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65836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Effective in high-dimensional space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6675120" y="7095744"/>
            <a:ext cx="4937760" cy="512064"/>
            <a:chOff x="0" y="0"/>
            <a:chExt cx="6583680" cy="68275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583680" cy="682752"/>
            </a:xfrm>
            <a:custGeom>
              <a:avLst/>
              <a:gdLst/>
              <a:ahLst/>
              <a:cxnLst/>
              <a:rect r="r" b="b" t="t" l="l"/>
              <a:pathLst>
                <a:path h="68275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65836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Good for non-linear boundaries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2233910" y="1992630"/>
            <a:ext cx="5524500" cy="7901940"/>
            <a:chOff x="0" y="0"/>
            <a:chExt cx="7366000" cy="1053592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25400" y="25400"/>
              <a:ext cx="7315200" cy="10485120"/>
            </a:xfrm>
            <a:custGeom>
              <a:avLst/>
              <a:gdLst/>
              <a:ahLst/>
              <a:cxnLst/>
              <a:rect r="r" b="b" t="t" l="l"/>
              <a:pathLst>
                <a:path h="104851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485120"/>
                  </a:lnTo>
                  <a:lnTo>
                    <a:pt x="0" y="104851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366000" cy="10535920"/>
            </a:xfrm>
            <a:custGeom>
              <a:avLst/>
              <a:gdLst/>
              <a:ahLst/>
              <a:cxnLst/>
              <a:rect r="r" b="b" t="t" l="l"/>
              <a:pathLst>
                <a:path h="10535920" w="7366000">
                  <a:moveTo>
                    <a:pt x="25400" y="0"/>
                  </a:moveTo>
                  <a:lnTo>
                    <a:pt x="7340600" y="0"/>
                  </a:lnTo>
                  <a:cubicBezTo>
                    <a:pt x="7354570" y="0"/>
                    <a:pt x="7366000" y="11430"/>
                    <a:pt x="7366000" y="25400"/>
                  </a:cubicBezTo>
                  <a:lnTo>
                    <a:pt x="7366000" y="10510520"/>
                  </a:lnTo>
                  <a:cubicBezTo>
                    <a:pt x="7366000" y="10524489"/>
                    <a:pt x="7354570" y="10535920"/>
                    <a:pt x="7340600" y="10535920"/>
                  </a:cubicBezTo>
                  <a:lnTo>
                    <a:pt x="25400" y="10535920"/>
                  </a:lnTo>
                  <a:cubicBezTo>
                    <a:pt x="11430" y="10535920"/>
                    <a:pt x="0" y="10524489"/>
                    <a:pt x="0" y="1051052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0510520"/>
                  </a:lnTo>
                  <a:lnTo>
                    <a:pt x="25400" y="10510520"/>
                  </a:lnTo>
                  <a:lnTo>
                    <a:pt x="25400" y="10485120"/>
                  </a:lnTo>
                  <a:lnTo>
                    <a:pt x="7340600" y="10485120"/>
                  </a:lnTo>
                  <a:lnTo>
                    <a:pt x="7340600" y="10510520"/>
                  </a:lnTo>
                  <a:lnTo>
                    <a:pt x="7315200" y="10510520"/>
                  </a:lnTo>
                  <a:lnTo>
                    <a:pt x="7315200" y="25400"/>
                  </a:lnTo>
                  <a:lnTo>
                    <a:pt x="7340600" y="25400"/>
                  </a:lnTo>
                  <a:lnTo>
                    <a:pt x="73406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2240263" y="1998983"/>
            <a:ext cx="5511803" cy="1031243"/>
            <a:chOff x="0" y="0"/>
            <a:chExt cx="7349071" cy="1374991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16891" y="16891"/>
              <a:ext cx="7315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E08C2D"/>
            </a:solidFill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3489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358011"/>
                  </a:lnTo>
                  <a:cubicBezTo>
                    <a:pt x="7348982" y="1367409"/>
                    <a:pt x="7341362" y="1374902"/>
                    <a:pt x="733209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7332091" y="1341120"/>
                  </a:lnTo>
                  <a:lnTo>
                    <a:pt x="7332091" y="1358011"/>
                  </a:lnTo>
                  <a:lnTo>
                    <a:pt x="7315200" y="135801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8C2D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2252960" y="2011680"/>
            <a:ext cx="5486400" cy="1005840"/>
            <a:chOff x="0" y="0"/>
            <a:chExt cx="7315200" cy="134112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7315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282" r="0" b="-56282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57150"/>
              <a:ext cx="731520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3rd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2252960" y="3054096"/>
            <a:ext cx="5486400" cy="1005840"/>
            <a:chOff x="0" y="0"/>
            <a:chExt cx="7315200" cy="134112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7315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282" r="0" b="-56282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19050"/>
              <a:ext cx="731520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D1B2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KNN (k=5)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3337543" y="4102103"/>
            <a:ext cx="3317243" cy="1031243"/>
            <a:chOff x="0" y="0"/>
            <a:chExt cx="4422991" cy="1374991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16891" y="16891"/>
              <a:ext cx="4389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0EDE5"/>
            </a:solidFill>
          </p:spPr>
        </p:sp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422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4422902">
                  <a:moveTo>
                    <a:pt x="16891" y="0"/>
                  </a:moveTo>
                  <a:lnTo>
                    <a:pt x="4406011" y="0"/>
                  </a:lnTo>
                  <a:cubicBezTo>
                    <a:pt x="4415409" y="0"/>
                    <a:pt x="4422902" y="7620"/>
                    <a:pt x="4422902" y="16891"/>
                  </a:cubicBezTo>
                  <a:lnTo>
                    <a:pt x="4422902" y="1358011"/>
                  </a:lnTo>
                  <a:cubicBezTo>
                    <a:pt x="4422902" y="1367409"/>
                    <a:pt x="4415282" y="1374902"/>
                    <a:pt x="440601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4406011" y="1341120"/>
                  </a:lnTo>
                  <a:lnTo>
                    <a:pt x="4406011" y="1358011"/>
                  </a:lnTo>
                  <a:lnTo>
                    <a:pt x="4389120" y="1358011"/>
                  </a:lnTo>
                  <a:lnTo>
                    <a:pt x="4389120" y="16891"/>
                  </a:lnTo>
                  <a:lnTo>
                    <a:pt x="4406011" y="16891"/>
                  </a:lnTo>
                  <a:lnTo>
                    <a:pt x="4406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3350240" y="4114800"/>
            <a:ext cx="3291840" cy="1005840"/>
            <a:chOff x="0" y="0"/>
            <a:chExt cx="4389120" cy="134112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4389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69" r="0" b="-13769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47625"/>
              <a:ext cx="43891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Accuracy: 61%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2435840" y="5266944"/>
            <a:ext cx="5120640" cy="640080"/>
            <a:chOff x="0" y="0"/>
            <a:chExt cx="6827520" cy="85344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68275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i="true">
                  <a:solidFill>
                    <a:srgbClr val="8896A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n_neighbors=5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2527280" y="5998464"/>
            <a:ext cx="4937760" cy="548640"/>
            <a:chOff x="0" y="0"/>
            <a:chExt cx="6583680" cy="73152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6583680" cy="731520"/>
            </a:xfrm>
            <a:custGeom>
              <a:avLst/>
              <a:gdLst/>
              <a:ahLst/>
              <a:cxnLst/>
              <a:rect r="r" b="b" t="t" l="l"/>
              <a:pathLst>
                <a:path h="731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65836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D9E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Strengths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2527280" y="6547104"/>
            <a:ext cx="4937760" cy="512064"/>
            <a:chOff x="0" y="0"/>
            <a:chExt cx="6583680" cy="682752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6583680" cy="682752"/>
            </a:xfrm>
            <a:custGeom>
              <a:avLst/>
              <a:gdLst/>
              <a:ahLst/>
              <a:cxnLst/>
              <a:rect r="r" b="b" t="t" l="l"/>
              <a:pathLst>
                <a:path h="68275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65836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Simple, interpretable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2527280" y="7095744"/>
            <a:ext cx="4937760" cy="512064"/>
            <a:chOff x="0" y="0"/>
            <a:chExt cx="6583680" cy="682752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6583680" cy="682752"/>
            </a:xfrm>
            <a:custGeom>
              <a:avLst/>
              <a:gdLst/>
              <a:ahLst/>
              <a:cxnLst/>
              <a:rect r="r" b="b" t="t" l="l"/>
              <a:pathLst>
                <a:path h="68275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65836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No training time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48640" y="274320"/>
            <a:ext cx="1097280" cy="1097280"/>
            <a:chOff x="0" y="0"/>
            <a:chExt cx="1463040" cy="1463040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2011680" y="182880"/>
            <a:ext cx="15544800" cy="1463040"/>
            <a:chOff x="0" y="0"/>
            <a:chExt cx="20726400" cy="19507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26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028" r="0" b="-15702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726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Model Performance Results</a:t>
              </a:r>
            </a:p>
          </p:txBody>
        </p:sp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219456" y="1060704"/>
            <a:ext cx="11411712" cy="8851392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 rot="0">
            <a:off x="10789920" y="2011680"/>
            <a:ext cx="7132320" cy="731520"/>
            <a:chOff x="0" y="0"/>
            <a:chExt cx="9509760" cy="9753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509760" cy="975360"/>
            </a:xfrm>
            <a:custGeom>
              <a:avLst/>
              <a:gdLst/>
              <a:ahLst/>
              <a:cxnLst/>
              <a:rect r="r" b="b" t="t" l="l"/>
              <a:pathLst>
                <a:path h="9753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979" r="0" b="-13997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950976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1B2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Random Forest — Per-Class Results</a:t>
              </a:r>
            </a:p>
          </p:txBody>
        </p:sp>
      </p:grp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10789920" y="2834640"/>
          <a:ext cx="7112000" cy="4724400"/>
        </p:xfrm>
        <a:graphic>
          <a:graphicData uri="http://schemas.openxmlformats.org/drawingml/2006/table">
            <a:tbl>
              <a:tblPr/>
              <a:tblGrid>
                <a:gridCol w="1645019"/>
                <a:gridCol w="1822327"/>
                <a:gridCol w="1822327"/>
                <a:gridCol w="1822327"/>
              </a:tblGrid>
              <a:tr h="787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Class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Precision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Recall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787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₹1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0.59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0.83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0.69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787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₹2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0.67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0.25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0.36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787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₹5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0.79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0.70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0.75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787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₹10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0.74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0.86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0.79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787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₹20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0.73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0.67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0.70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grpSp>
        <p:nvGrpSpPr>
          <p:cNvPr name="Group 15" id="15"/>
          <p:cNvGrpSpPr/>
          <p:nvPr/>
        </p:nvGrpSpPr>
        <p:grpSpPr>
          <a:xfrm rot="0">
            <a:off x="10770870" y="7661910"/>
            <a:ext cx="7170420" cy="1592580"/>
            <a:chOff x="0" y="0"/>
            <a:chExt cx="9560560" cy="21234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25400" y="25400"/>
              <a:ext cx="9509760" cy="2072640"/>
            </a:xfrm>
            <a:custGeom>
              <a:avLst/>
              <a:gdLst/>
              <a:ahLst/>
              <a:cxnLst/>
              <a:rect r="r" b="b" t="t" l="l"/>
              <a:pathLst>
                <a:path h="20726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FF3CD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560560" cy="2123440"/>
            </a:xfrm>
            <a:custGeom>
              <a:avLst/>
              <a:gdLst/>
              <a:ahLst/>
              <a:cxnLst/>
              <a:rect r="r" b="b" t="t" l="l"/>
              <a:pathLst>
                <a:path h="2123440" w="9560560">
                  <a:moveTo>
                    <a:pt x="25400" y="0"/>
                  </a:moveTo>
                  <a:lnTo>
                    <a:pt x="9535160" y="0"/>
                  </a:lnTo>
                  <a:cubicBezTo>
                    <a:pt x="9549130" y="0"/>
                    <a:pt x="9560560" y="11430"/>
                    <a:pt x="9560560" y="25400"/>
                  </a:cubicBezTo>
                  <a:lnTo>
                    <a:pt x="9560560" y="2098040"/>
                  </a:lnTo>
                  <a:cubicBezTo>
                    <a:pt x="9560560" y="2112010"/>
                    <a:pt x="9549130" y="2123440"/>
                    <a:pt x="9535160" y="2123440"/>
                  </a:cubicBezTo>
                  <a:lnTo>
                    <a:pt x="25400" y="2123440"/>
                  </a:lnTo>
                  <a:cubicBezTo>
                    <a:pt x="11430" y="2123440"/>
                    <a:pt x="0" y="2112010"/>
                    <a:pt x="0" y="20980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098040"/>
                  </a:lnTo>
                  <a:lnTo>
                    <a:pt x="25400" y="2098040"/>
                  </a:lnTo>
                  <a:lnTo>
                    <a:pt x="25400" y="2072640"/>
                  </a:lnTo>
                  <a:lnTo>
                    <a:pt x="9535160" y="2072640"/>
                  </a:lnTo>
                  <a:lnTo>
                    <a:pt x="9535160" y="2098040"/>
                  </a:lnTo>
                  <a:lnTo>
                    <a:pt x="9509760" y="2098040"/>
                  </a:lnTo>
                  <a:lnTo>
                    <a:pt x="9509760" y="25400"/>
                  </a:lnTo>
                  <a:lnTo>
                    <a:pt x="9535160" y="25400"/>
                  </a:lnTo>
                  <a:lnTo>
                    <a:pt x="95351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E08C2D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155680" y="7900416"/>
            <a:ext cx="731520" cy="731520"/>
            <a:chOff x="0" y="0"/>
            <a:chExt cx="975360" cy="975360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161520" y="7717536"/>
            <a:ext cx="5486400" cy="1463040"/>
            <a:chOff x="0" y="0"/>
            <a:chExt cx="7315200" cy="19507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3152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7315200" cy="198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7B4F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₹2 has lowest F1 (0.36) — its scalloped edge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7B4F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&amp; similar size to ₹1 confuses the model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D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702" y="-12697"/>
            <a:ext cx="18313403" cy="1292857"/>
            <a:chOff x="0" y="0"/>
            <a:chExt cx="24417871" cy="17238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1777"/>
              <a:ext cx="24383999" cy="1700192"/>
            </a:xfrm>
            <a:custGeom>
              <a:avLst/>
              <a:gdLst/>
              <a:ahLst/>
              <a:cxnLst/>
              <a:rect r="r" b="b" t="t" l="l"/>
              <a:pathLst>
                <a:path h="170019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00193"/>
                  </a:lnTo>
                  <a:lnTo>
                    <a:pt x="0" y="1700193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23747"/>
            </a:xfrm>
            <a:custGeom>
              <a:avLst/>
              <a:gdLst/>
              <a:ahLst/>
              <a:cxnLst/>
              <a:rect r="r" b="b" t="t" l="l"/>
              <a:pathLst>
                <a:path h="1723747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5313"/>
                    <a:pt x="24417782" y="11777"/>
                  </a:cubicBezTo>
                  <a:lnTo>
                    <a:pt x="24417782" y="1711970"/>
                  </a:lnTo>
                  <a:cubicBezTo>
                    <a:pt x="24417782" y="1718523"/>
                    <a:pt x="24410163" y="1723747"/>
                    <a:pt x="24400890" y="1723747"/>
                  </a:cubicBezTo>
                  <a:lnTo>
                    <a:pt x="16891" y="1723747"/>
                  </a:lnTo>
                  <a:cubicBezTo>
                    <a:pt x="7493" y="1723747"/>
                    <a:pt x="0" y="1718434"/>
                    <a:pt x="0" y="1711970"/>
                  </a:cubicBezTo>
                  <a:lnTo>
                    <a:pt x="0" y="11777"/>
                  </a:lnTo>
                  <a:cubicBezTo>
                    <a:pt x="0" y="5313"/>
                    <a:pt x="7620" y="0"/>
                    <a:pt x="16891" y="0"/>
                  </a:cubicBezTo>
                  <a:moveTo>
                    <a:pt x="16891" y="23643"/>
                  </a:moveTo>
                  <a:lnTo>
                    <a:pt x="16891" y="11777"/>
                  </a:lnTo>
                  <a:lnTo>
                    <a:pt x="33909" y="11777"/>
                  </a:lnTo>
                  <a:lnTo>
                    <a:pt x="33909" y="1711970"/>
                  </a:lnTo>
                  <a:lnTo>
                    <a:pt x="16891" y="1711970"/>
                  </a:lnTo>
                  <a:lnTo>
                    <a:pt x="16891" y="1700192"/>
                  </a:lnTo>
                  <a:lnTo>
                    <a:pt x="24400890" y="1700192"/>
                  </a:lnTo>
                  <a:lnTo>
                    <a:pt x="24400890" y="1711970"/>
                  </a:lnTo>
                  <a:lnTo>
                    <a:pt x="24384000" y="1711970"/>
                  </a:lnTo>
                  <a:lnTo>
                    <a:pt x="24384000" y="11777"/>
                  </a:lnTo>
                  <a:lnTo>
                    <a:pt x="24400890" y="11777"/>
                  </a:lnTo>
                  <a:lnTo>
                    <a:pt x="24400890" y="23643"/>
                  </a:lnTo>
                  <a:lnTo>
                    <a:pt x="16891" y="23643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434340" y="197634"/>
            <a:ext cx="16824960" cy="987276"/>
            <a:chOff x="0" y="0"/>
            <a:chExt cx="22433280" cy="13163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316368"/>
            </a:xfrm>
            <a:custGeom>
              <a:avLst/>
              <a:gdLst/>
              <a:ahLst/>
              <a:cxnLst/>
              <a:rect r="r" b="b" t="t" l="l"/>
              <a:pathLst>
                <a:path h="1316368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316368"/>
                  </a:lnTo>
                  <a:lnTo>
                    <a:pt x="0" y="1316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7965" r="0" b="-30615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433280" cy="13258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Confusion Matrix — Random Forest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572000" y="1280160"/>
            <a:ext cx="8229600" cy="640080"/>
            <a:chOff x="0" y="0"/>
            <a:chExt cx="10972800" cy="853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972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Predicted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3017520" y="3017520"/>
            <a:ext cx="1097280" cy="4023360"/>
            <a:chOff x="0" y="0"/>
            <a:chExt cx="1463040" cy="53644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040" cy="5364480"/>
            </a:xfrm>
            <a:custGeom>
              <a:avLst/>
              <a:gdLst/>
              <a:ahLst/>
              <a:cxnLst/>
              <a:rect r="r" b="b" t="t" l="l"/>
              <a:pathLst>
                <a:path h="536448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364480"/>
                  </a:lnTo>
                  <a:lnTo>
                    <a:pt x="0" y="536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20446" t="0" r="-420446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63040" cy="540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Actual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572000" y="1645920"/>
            <a:ext cx="1645920" cy="457200"/>
            <a:chOff x="0" y="0"/>
            <a:chExt cx="2194560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19456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566160" y="2103120"/>
            <a:ext cx="914400" cy="1645920"/>
            <a:chOff x="0" y="0"/>
            <a:chExt cx="1219200" cy="21945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192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0946" t="0" r="-180946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21920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217920" y="1645920"/>
            <a:ext cx="1645920" cy="457200"/>
            <a:chOff x="0" y="0"/>
            <a:chExt cx="2194560" cy="609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456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219456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₹2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566160" y="3749040"/>
            <a:ext cx="914400" cy="1645920"/>
            <a:chOff x="0" y="0"/>
            <a:chExt cx="1219200" cy="21945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192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0946" t="0" r="-180946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21920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863840" y="1645920"/>
            <a:ext cx="1645920" cy="457200"/>
            <a:chOff x="0" y="0"/>
            <a:chExt cx="2194560" cy="609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9456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219456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₹5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566160" y="5394960"/>
            <a:ext cx="914400" cy="1645920"/>
            <a:chOff x="0" y="0"/>
            <a:chExt cx="1219200" cy="21945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192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0946" t="0" r="-180946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21920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₹5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509760" y="1645920"/>
            <a:ext cx="1645920" cy="457200"/>
            <a:chOff x="0" y="0"/>
            <a:chExt cx="2194560" cy="6096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9456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219456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₹10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566160" y="7040880"/>
            <a:ext cx="914400" cy="1645920"/>
            <a:chOff x="0" y="0"/>
            <a:chExt cx="1219200" cy="21945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192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0946" t="0" r="-180946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121920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₹10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155680" y="1645920"/>
            <a:ext cx="1645920" cy="457200"/>
            <a:chOff x="0" y="0"/>
            <a:chExt cx="2194560" cy="609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9456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219456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₹20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3566160" y="8686800"/>
            <a:ext cx="914400" cy="1645920"/>
            <a:chOff x="0" y="0"/>
            <a:chExt cx="1219200" cy="21945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192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0946" t="0" r="-180946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121920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₹20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4552950" y="2084070"/>
            <a:ext cx="1684020" cy="1684020"/>
            <a:chOff x="0" y="0"/>
            <a:chExt cx="2245360" cy="22453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25400" y="2540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245360" cy="2245360"/>
            </a:xfrm>
            <a:custGeom>
              <a:avLst/>
              <a:gdLst/>
              <a:ahLst/>
              <a:cxnLst/>
              <a:rect r="r" b="b" t="t" l="l"/>
              <a:pathLst>
                <a:path h="2245360" w="2245360">
                  <a:moveTo>
                    <a:pt x="25400" y="0"/>
                  </a:moveTo>
                  <a:lnTo>
                    <a:pt x="2219960" y="0"/>
                  </a:lnTo>
                  <a:cubicBezTo>
                    <a:pt x="2233930" y="0"/>
                    <a:pt x="2245360" y="11430"/>
                    <a:pt x="2245360" y="25400"/>
                  </a:cubicBezTo>
                  <a:lnTo>
                    <a:pt x="2245360" y="2219960"/>
                  </a:lnTo>
                  <a:cubicBezTo>
                    <a:pt x="2245360" y="2233930"/>
                    <a:pt x="2233930" y="2245360"/>
                    <a:pt x="2219960" y="2245360"/>
                  </a:cubicBezTo>
                  <a:lnTo>
                    <a:pt x="25400" y="2245360"/>
                  </a:lnTo>
                  <a:cubicBezTo>
                    <a:pt x="11430" y="2245360"/>
                    <a:pt x="0" y="2233930"/>
                    <a:pt x="0" y="22199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219960"/>
                  </a:lnTo>
                  <a:lnTo>
                    <a:pt x="25400" y="2219960"/>
                  </a:lnTo>
                  <a:lnTo>
                    <a:pt x="25400" y="2194560"/>
                  </a:lnTo>
                  <a:lnTo>
                    <a:pt x="2219960" y="2194560"/>
                  </a:lnTo>
                  <a:lnTo>
                    <a:pt x="2219960" y="2219960"/>
                  </a:lnTo>
                  <a:lnTo>
                    <a:pt x="2194560" y="2219960"/>
                  </a:lnTo>
                  <a:lnTo>
                    <a:pt x="2194560" y="25400"/>
                  </a:lnTo>
                  <a:lnTo>
                    <a:pt x="2219960" y="25400"/>
                  </a:lnTo>
                  <a:lnTo>
                    <a:pt x="22199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4572000" y="2103120"/>
            <a:ext cx="1645920" cy="1645920"/>
            <a:chOff x="0" y="0"/>
            <a:chExt cx="2194560" cy="21945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2194560" cy="2251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C9A8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35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198870" y="2084070"/>
            <a:ext cx="1684020" cy="1684020"/>
            <a:chOff x="0" y="0"/>
            <a:chExt cx="2245360" cy="22453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25400" y="2540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AFBFC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245360" cy="2245360"/>
            </a:xfrm>
            <a:custGeom>
              <a:avLst/>
              <a:gdLst/>
              <a:ahLst/>
              <a:cxnLst/>
              <a:rect r="r" b="b" t="t" l="l"/>
              <a:pathLst>
                <a:path h="2245360" w="2245360">
                  <a:moveTo>
                    <a:pt x="25400" y="0"/>
                  </a:moveTo>
                  <a:lnTo>
                    <a:pt x="2219960" y="0"/>
                  </a:lnTo>
                  <a:cubicBezTo>
                    <a:pt x="2233930" y="0"/>
                    <a:pt x="2245360" y="11430"/>
                    <a:pt x="2245360" y="25400"/>
                  </a:cubicBezTo>
                  <a:lnTo>
                    <a:pt x="2245360" y="2219960"/>
                  </a:lnTo>
                  <a:cubicBezTo>
                    <a:pt x="2245360" y="2233930"/>
                    <a:pt x="2233930" y="2245360"/>
                    <a:pt x="2219960" y="2245360"/>
                  </a:cubicBezTo>
                  <a:lnTo>
                    <a:pt x="25400" y="2245360"/>
                  </a:lnTo>
                  <a:cubicBezTo>
                    <a:pt x="11430" y="2245360"/>
                    <a:pt x="0" y="2233930"/>
                    <a:pt x="0" y="22199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219960"/>
                  </a:lnTo>
                  <a:lnTo>
                    <a:pt x="25400" y="2219960"/>
                  </a:lnTo>
                  <a:lnTo>
                    <a:pt x="25400" y="2194560"/>
                  </a:lnTo>
                  <a:lnTo>
                    <a:pt x="2219960" y="2194560"/>
                  </a:lnTo>
                  <a:lnTo>
                    <a:pt x="2219960" y="2219960"/>
                  </a:lnTo>
                  <a:lnTo>
                    <a:pt x="2194560" y="2219960"/>
                  </a:lnTo>
                  <a:lnTo>
                    <a:pt x="2194560" y="25400"/>
                  </a:lnTo>
                  <a:lnTo>
                    <a:pt x="2219960" y="25400"/>
                  </a:lnTo>
                  <a:lnTo>
                    <a:pt x="22199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217920" y="2103120"/>
            <a:ext cx="1645920" cy="1645920"/>
            <a:chOff x="0" y="0"/>
            <a:chExt cx="2194560" cy="21945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2194560" cy="2251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844790" y="2084070"/>
            <a:ext cx="1684020" cy="1684020"/>
            <a:chOff x="0" y="0"/>
            <a:chExt cx="2245360" cy="22453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25400" y="2540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AFBFC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245360" cy="2245360"/>
            </a:xfrm>
            <a:custGeom>
              <a:avLst/>
              <a:gdLst/>
              <a:ahLst/>
              <a:cxnLst/>
              <a:rect r="r" b="b" t="t" l="l"/>
              <a:pathLst>
                <a:path h="2245360" w="2245360">
                  <a:moveTo>
                    <a:pt x="25400" y="0"/>
                  </a:moveTo>
                  <a:lnTo>
                    <a:pt x="2219960" y="0"/>
                  </a:lnTo>
                  <a:cubicBezTo>
                    <a:pt x="2233930" y="0"/>
                    <a:pt x="2245360" y="11430"/>
                    <a:pt x="2245360" y="25400"/>
                  </a:cubicBezTo>
                  <a:lnTo>
                    <a:pt x="2245360" y="2219960"/>
                  </a:lnTo>
                  <a:cubicBezTo>
                    <a:pt x="2245360" y="2233930"/>
                    <a:pt x="2233930" y="2245360"/>
                    <a:pt x="2219960" y="2245360"/>
                  </a:cubicBezTo>
                  <a:lnTo>
                    <a:pt x="25400" y="2245360"/>
                  </a:lnTo>
                  <a:cubicBezTo>
                    <a:pt x="11430" y="2245360"/>
                    <a:pt x="0" y="2233930"/>
                    <a:pt x="0" y="22199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219960"/>
                  </a:lnTo>
                  <a:lnTo>
                    <a:pt x="25400" y="2219960"/>
                  </a:lnTo>
                  <a:lnTo>
                    <a:pt x="25400" y="2194560"/>
                  </a:lnTo>
                  <a:lnTo>
                    <a:pt x="2219960" y="2194560"/>
                  </a:lnTo>
                  <a:lnTo>
                    <a:pt x="2219960" y="2219960"/>
                  </a:lnTo>
                  <a:lnTo>
                    <a:pt x="2194560" y="2219960"/>
                  </a:lnTo>
                  <a:lnTo>
                    <a:pt x="2194560" y="25400"/>
                  </a:lnTo>
                  <a:lnTo>
                    <a:pt x="2219960" y="25400"/>
                  </a:lnTo>
                  <a:lnTo>
                    <a:pt x="22199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7863840" y="2103120"/>
            <a:ext cx="1645920" cy="1645920"/>
            <a:chOff x="0" y="0"/>
            <a:chExt cx="2194560" cy="21945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2194560" cy="2251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490710" y="2084070"/>
            <a:ext cx="1684020" cy="1684020"/>
            <a:chOff x="0" y="0"/>
            <a:chExt cx="2245360" cy="224536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25400" y="2540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6F8FA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245360" cy="2245360"/>
            </a:xfrm>
            <a:custGeom>
              <a:avLst/>
              <a:gdLst/>
              <a:ahLst/>
              <a:cxnLst/>
              <a:rect r="r" b="b" t="t" l="l"/>
              <a:pathLst>
                <a:path h="2245360" w="2245360">
                  <a:moveTo>
                    <a:pt x="25400" y="0"/>
                  </a:moveTo>
                  <a:lnTo>
                    <a:pt x="2219960" y="0"/>
                  </a:lnTo>
                  <a:cubicBezTo>
                    <a:pt x="2233930" y="0"/>
                    <a:pt x="2245360" y="11430"/>
                    <a:pt x="2245360" y="25400"/>
                  </a:cubicBezTo>
                  <a:lnTo>
                    <a:pt x="2245360" y="2219960"/>
                  </a:lnTo>
                  <a:cubicBezTo>
                    <a:pt x="2245360" y="2233930"/>
                    <a:pt x="2233930" y="2245360"/>
                    <a:pt x="2219960" y="2245360"/>
                  </a:cubicBezTo>
                  <a:lnTo>
                    <a:pt x="25400" y="2245360"/>
                  </a:lnTo>
                  <a:cubicBezTo>
                    <a:pt x="11430" y="2245360"/>
                    <a:pt x="0" y="2233930"/>
                    <a:pt x="0" y="22199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219960"/>
                  </a:lnTo>
                  <a:lnTo>
                    <a:pt x="25400" y="2219960"/>
                  </a:lnTo>
                  <a:lnTo>
                    <a:pt x="25400" y="2194560"/>
                  </a:lnTo>
                  <a:lnTo>
                    <a:pt x="2219960" y="2194560"/>
                  </a:lnTo>
                  <a:lnTo>
                    <a:pt x="2219960" y="2219960"/>
                  </a:lnTo>
                  <a:lnTo>
                    <a:pt x="2194560" y="2219960"/>
                  </a:lnTo>
                  <a:lnTo>
                    <a:pt x="2194560" y="25400"/>
                  </a:lnTo>
                  <a:lnTo>
                    <a:pt x="2219960" y="25400"/>
                  </a:lnTo>
                  <a:lnTo>
                    <a:pt x="22199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509760" y="2103120"/>
            <a:ext cx="1645920" cy="1645920"/>
            <a:chOff x="0" y="0"/>
            <a:chExt cx="2194560" cy="219456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57150"/>
              <a:ext cx="2194560" cy="2251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1136630" y="2084070"/>
            <a:ext cx="1684020" cy="1684020"/>
            <a:chOff x="0" y="0"/>
            <a:chExt cx="2245360" cy="224536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25400" y="2540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2F4F7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245360" cy="2245360"/>
            </a:xfrm>
            <a:custGeom>
              <a:avLst/>
              <a:gdLst/>
              <a:ahLst/>
              <a:cxnLst/>
              <a:rect r="r" b="b" t="t" l="l"/>
              <a:pathLst>
                <a:path h="2245360" w="2245360">
                  <a:moveTo>
                    <a:pt x="25400" y="0"/>
                  </a:moveTo>
                  <a:lnTo>
                    <a:pt x="2219960" y="0"/>
                  </a:lnTo>
                  <a:cubicBezTo>
                    <a:pt x="2233930" y="0"/>
                    <a:pt x="2245360" y="11430"/>
                    <a:pt x="2245360" y="25400"/>
                  </a:cubicBezTo>
                  <a:lnTo>
                    <a:pt x="2245360" y="2219960"/>
                  </a:lnTo>
                  <a:cubicBezTo>
                    <a:pt x="2245360" y="2233930"/>
                    <a:pt x="2233930" y="2245360"/>
                    <a:pt x="2219960" y="2245360"/>
                  </a:cubicBezTo>
                  <a:lnTo>
                    <a:pt x="25400" y="2245360"/>
                  </a:lnTo>
                  <a:cubicBezTo>
                    <a:pt x="11430" y="2245360"/>
                    <a:pt x="0" y="2233930"/>
                    <a:pt x="0" y="22199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219960"/>
                  </a:lnTo>
                  <a:lnTo>
                    <a:pt x="25400" y="2219960"/>
                  </a:lnTo>
                  <a:lnTo>
                    <a:pt x="25400" y="2194560"/>
                  </a:lnTo>
                  <a:lnTo>
                    <a:pt x="2219960" y="2194560"/>
                  </a:lnTo>
                  <a:lnTo>
                    <a:pt x="2219960" y="2219960"/>
                  </a:lnTo>
                  <a:lnTo>
                    <a:pt x="2194560" y="2219960"/>
                  </a:lnTo>
                  <a:lnTo>
                    <a:pt x="2194560" y="25400"/>
                  </a:lnTo>
                  <a:lnTo>
                    <a:pt x="2219960" y="25400"/>
                  </a:lnTo>
                  <a:lnTo>
                    <a:pt x="22199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1155680" y="2103120"/>
            <a:ext cx="1645920" cy="1645920"/>
            <a:chOff x="0" y="0"/>
            <a:chExt cx="2194560" cy="219456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57150"/>
              <a:ext cx="2194560" cy="2251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4552950" y="3729990"/>
            <a:ext cx="1684020" cy="1684020"/>
            <a:chOff x="0" y="0"/>
            <a:chExt cx="2245360" cy="224536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25400" y="2540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DBE1E8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245360" cy="2245360"/>
            </a:xfrm>
            <a:custGeom>
              <a:avLst/>
              <a:gdLst/>
              <a:ahLst/>
              <a:cxnLst/>
              <a:rect r="r" b="b" t="t" l="l"/>
              <a:pathLst>
                <a:path h="2245360" w="2245360">
                  <a:moveTo>
                    <a:pt x="25400" y="0"/>
                  </a:moveTo>
                  <a:lnTo>
                    <a:pt x="2219960" y="0"/>
                  </a:lnTo>
                  <a:cubicBezTo>
                    <a:pt x="2233930" y="0"/>
                    <a:pt x="2245360" y="11430"/>
                    <a:pt x="2245360" y="25400"/>
                  </a:cubicBezTo>
                  <a:lnTo>
                    <a:pt x="2245360" y="2219960"/>
                  </a:lnTo>
                  <a:cubicBezTo>
                    <a:pt x="2245360" y="2233930"/>
                    <a:pt x="2233930" y="2245360"/>
                    <a:pt x="2219960" y="2245360"/>
                  </a:cubicBezTo>
                  <a:lnTo>
                    <a:pt x="25400" y="2245360"/>
                  </a:lnTo>
                  <a:cubicBezTo>
                    <a:pt x="11430" y="2245360"/>
                    <a:pt x="0" y="2233930"/>
                    <a:pt x="0" y="22199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219960"/>
                  </a:lnTo>
                  <a:lnTo>
                    <a:pt x="25400" y="2219960"/>
                  </a:lnTo>
                  <a:lnTo>
                    <a:pt x="25400" y="2194560"/>
                  </a:lnTo>
                  <a:lnTo>
                    <a:pt x="2219960" y="2194560"/>
                  </a:lnTo>
                  <a:lnTo>
                    <a:pt x="2219960" y="2219960"/>
                  </a:lnTo>
                  <a:lnTo>
                    <a:pt x="2194560" y="2219960"/>
                  </a:lnTo>
                  <a:lnTo>
                    <a:pt x="2194560" y="25400"/>
                  </a:lnTo>
                  <a:lnTo>
                    <a:pt x="2219960" y="25400"/>
                  </a:lnTo>
                  <a:lnTo>
                    <a:pt x="22199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4572000" y="3749040"/>
            <a:ext cx="1645920" cy="1645920"/>
            <a:chOff x="0" y="0"/>
            <a:chExt cx="2194560" cy="219456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57150"/>
              <a:ext cx="2194560" cy="2251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6198870" y="3729990"/>
            <a:ext cx="1684020" cy="1684020"/>
            <a:chOff x="0" y="0"/>
            <a:chExt cx="2245360" cy="224536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25400" y="2540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245360" cy="2245360"/>
            </a:xfrm>
            <a:custGeom>
              <a:avLst/>
              <a:gdLst/>
              <a:ahLst/>
              <a:cxnLst/>
              <a:rect r="r" b="b" t="t" l="l"/>
              <a:pathLst>
                <a:path h="2245360" w="2245360">
                  <a:moveTo>
                    <a:pt x="25400" y="0"/>
                  </a:moveTo>
                  <a:lnTo>
                    <a:pt x="2219960" y="0"/>
                  </a:lnTo>
                  <a:cubicBezTo>
                    <a:pt x="2233930" y="0"/>
                    <a:pt x="2245360" y="11430"/>
                    <a:pt x="2245360" y="25400"/>
                  </a:cubicBezTo>
                  <a:lnTo>
                    <a:pt x="2245360" y="2219960"/>
                  </a:lnTo>
                  <a:cubicBezTo>
                    <a:pt x="2245360" y="2233930"/>
                    <a:pt x="2233930" y="2245360"/>
                    <a:pt x="2219960" y="2245360"/>
                  </a:cubicBezTo>
                  <a:lnTo>
                    <a:pt x="25400" y="2245360"/>
                  </a:lnTo>
                  <a:cubicBezTo>
                    <a:pt x="11430" y="2245360"/>
                    <a:pt x="0" y="2233930"/>
                    <a:pt x="0" y="22199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219960"/>
                  </a:lnTo>
                  <a:lnTo>
                    <a:pt x="25400" y="2219960"/>
                  </a:lnTo>
                  <a:lnTo>
                    <a:pt x="25400" y="2194560"/>
                  </a:lnTo>
                  <a:lnTo>
                    <a:pt x="2219960" y="2194560"/>
                  </a:lnTo>
                  <a:lnTo>
                    <a:pt x="2219960" y="2219960"/>
                  </a:lnTo>
                  <a:lnTo>
                    <a:pt x="2194560" y="2219960"/>
                  </a:lnTo>
                  <a:lnTo>
                    <a:pt x="2194560" y="25400"/>
                  </a:lnTo>
                  <a:lnTo>
                    <a:pt x="2219960" y="25400"/>
                  </a:lnTo>
                  <a:lnTo>
                    <a:pt x="22199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6217920" y="3749040"/>
            <a:ext cx="1645920" cy="1645920"/>
            <a:chOff x="0" y="0"/>
            <a:chExt cx="2194560" cy="219456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57150"/>
              <a:ext cx="2194560" cy="2251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C9A8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7844790" y="3729990"/>
            <a:ext cx="1684020" cy="1684020"/>
            <a:chOff x="0" y="0"/>
            <a:chExt cx="2245360" cy="224536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25400" y="2540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E8ECF1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245360" cy="2245360"/>
            </a:xfrm>
            <a:custGeom>
              <a:avLst/>
              <a:gdLst/>
              <a:ahLst/>
              <a:cxnLst/>
              <a:rect r="r" b="b" t="t" l="l"/>
              <a:pathLst>
                <a:path h="2245360" w="2245360">
                  <a:moveTo>
                    <a:pt x="25400" y="0"/>
                  </a:moveTo>
                  <a:lnTo>
                    <a:pt x="2219960" y="0"/>
                  </a:lnTo>
                  <a:cubicBezTo>
                    <a:pt x="2233930" y="0"/>
                    <a:pt x="2245360" y="11430"/>
                    <a:pt x="2245360" y="25400"/>
                  </a:cubicBezTo>
                  <a:lnTo>
                    <a:pt x="2245360" y="2219960"/>
                  </a:lnTo>
                  <a:cubicBezTo>
                    <a:pt x="2245360" y="2233930"/>
                    <a:pt x="2233930" y="2245360"/>
                    <a:pt x="2219960" y="2245360"/>
                  </a:cubicBezTo>
                  <a:lnTo>
                    <a:pt x="25400" y="2245360"/>
                  </a:lnTo>
                  <a:cubicBezTo>
                    <a:pt x="11430" y="2245360"/>
                    <a:pt x="0" y="2233930"/>
                    <a:pt x="0" y="22199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219960"/>
                  </a:lnTo>
                  <a:lnTo>
                    <a:pt x="25400" y="2219960"/>
                  </a:lnTo>
                  <a:lnTo>
                    <a:pt x="25400" y="2194560"/>
                  </a:lnTo>
                  <a:lnTo>
                    <a:pt x="2219960" y="2194560"/>
                  </a:lnTo>
                  <a:lnTo>
                    <a:pt x="2219960" y="2219960"/>
                  </a:lnTo>
                  <a:lnTo>
                    <a:pt x="2194560" y="2219960"/>
                  </a:lnTo>
                  <a:lnTo>
                    <a:pt x="2194560" y="25400"/>
                  </a:lnTo>
                  <a:lnTo>
                    <a:pt x="2219960" y="25400"/>
                  </a:lnTo>
                  <a:lnTo>
                    <a:pt x="22199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7863840" y="3749040"/>
            <a:ext cx="1645920" cy="1645920"/>
            <a:chOff x="0" y="0"/>
            <a:chExt cx="2194560" cy="219456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57150"/>
              <a:ext cx="2194560" cy="2251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490710" y="3729990"/>
            <a:ext cx="1684020" cy="1684020"/>
            <a:chOff x="0" y="0"/>
            <a:chExt cx="2245360" cy="224536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25400" y="2540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6F8FA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245360" cy="2245360"/>
            </a:xfrm>
            <a:custGeom>
              <a:avLst/>
              <a:gdLst/>
              <a:ahLst/>
              <a:cxnLst/>
              <a:rect r="r" b="b" t="t" l="l"/>
              <a:pathLst>
                <a:path h="2245360" w="2245360">
                  <a:moveTo>
                    <a:pt x="25400" y="0"/>
                  </a:moveTo>
                  <a:lnTo>
                    <a:pt x="2219960" y="0"/>
                  </a:lnTo>
                  <a:cubicBezTo>
                    <a:pt x="2233930" y="0"/>
                    <a:pt x="2245360" y="11430"/>
                    <a:pt x="2245360" y="25400"/>
                  </a:cubicBezTo>
                  <a:lnTo>
                    <a:pt x="2245360" y="2219960"/>
                  </a:lnTo>
                  <a:cubicBezTo>
                    <a:pt x="2245360" y="2233930"/>
                    <a:pt x="2233930" y="2245360"/>
                    <a:pt x="2219960" y="2245360"/>
                  </a:cubicBezTo>
                  <a:lnTo>
                    <a:pt x="25400" y="2245360"/>
                  </a:lnTo>
                  <a:cubicBezTo>
                    <a:pt x="11430" y="2245360"/>
                    <a:pt x="0" y="2233930"/>
                    <a:pt x="0" y="22199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219960"/>
                  </a:lnTo>
                  <a:lnTo>
                    <a:pt x="25400" y="2219960"/>
                  </a:lnTo>
                  <a:lnTo>
                    <a:pt x="25400" y="2194560"/>
                  </a:lnTo>
                  <a:lnTo>
                    <a:pt x="2219960" y="2194560"/>
                  </a:lnTo>
                  <a:lnTo>
                    <a:pt x="2219960" y="2219960"/>
                  </a:lnTo>
                  <a:lnTo>
                    <a:pt x="2194560" y="2219960"/>
                  </a:lnTo>
                  <a:lnTo>
                    <a:pt x="2194560" y="25400"/>
                  </a:lnTo>
                  <a:lnTo>
                    <a:pt x="2219960" y="25400"/>
                  </a:lnTo>
                  <a:lnTo>
                    <a:pt x="22199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9509760" y="3749040"/>
            <a:ext cx="1645920" cy="1645920"/>
            <a:chOff x="0" y="0"/>
            <a:chExt cx="2194560" cy="219456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57150"/>
              <a:ext cx="2194560" cy="2251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1136630" y="3729990"/>
            <a:ext cx="1684020" cy="1684020"/>
            <a:chOff x="0" y="0"/>
            <a:chExt cx="2245360" cy="224536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25400" y="2540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2F4F7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245360" cy="2245360"/>
            </a:xfrm>
            <a:custGeom>
              <a:avLst/>
              <a:gdLst/>
              <a:ahLst/>
              <a:cxnLst/>
              <a:rect r="r" b="b" t="t" l="l"/>
              <a:pathLst>
                <a:path h="2245360" w="2245360">
                  <a:moveTo>
                    <a:pt x="25400" y="0"/>
                  </a:moveTo>
                  <a:lnTo>
                    <a:pt x="2219960" y="0"/>
                  </a:lnTo>
                  <a:cubicBezTo>
                    <a:pt x="2233930" y="0"/>
                    <a:pt x="2245360" y="11430"/>
                    <a:pt x="2245360" y="25400"/>
                  </a:cubicBezTo>
                  <a:lnTo>
                    <a:pt x="2245360" y="2219960"/>
                  </a:lnTo>
                  <a:cubicBezTo>
                    <a:pt x="2245360" y="2233930"/>
                    <a:pt x="2233930" y="2245360"/>
                    <a:pt x="2219960" y="2245360"/>
                  </a:cubicBezTo>
                  <a:lnTo>
                    <a:pt x="25400" y="2245360"/>
                  </a:lnTo>
                  <a:cubicBezTo>
                    <a:pt x="11430" y="2245360"/>
                    <a:pt x="0" y="2233930"/>
                    <a:pt x="0" y="22199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219960"/>
                  </a:lnTo>
                  <a:lnTo>
                    <a:pt x="25400" y="2219960"/>
                  </a:lnTo>
                  <a:lnTo>
                    <a:pt x="25400" y="2194560"/>
                  </a:lnTo>
                  <a:lnTo>
                    <a:pt x="2219960" y="2194560"/>
                  </a:lnTo>
                  <a:lnTo>
                    <a:pt x="2219960" y="2219960"/>
                  </a:lnTo>
                  <a:lnTo>
                    <a:pt x="2194560" y="2219960"/>
                  </a:lnTo>
                  <a:lnTo>
                    <a:pt x="2194560" y="25400"/>
                  </a:lnTo>
                  <a:lnTo>
                    <a:pt x="2219960" y="25400"/>
                  </a:lnTo>
                  <a:lnTo>
                    <a:pt x="22199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1155680" y="3749040"/>
            <a:ext cx="1645920" cy="1645920"/>
            <a:chOff x="0" y="0"/>
            <a:chExt cx="2194560" cy="219456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57150"/>
              <a:ext cx="2194560" cy="2251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4552950" y="5375910"/>
            <a:ext cx="1684020" cy="1684020"/>
            <a:chOff x="0" y="0"/>
            <a:chExt cx="2245360" cy="224536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25400" y="2540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EDF0F4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245360" cy="2245360"/>
            </a:xfrm>
            <a:custGeom>
              <a:avLst/>
              <a:gdLst/>
              <a:ahLst/>
              <a:cxnLst/>
              <a:rect r="r" b="b" t="t" l="l"/>
              <a:pathLst>
                <a:path h="2245360" w="2245360">
                  <a:moveTo>
                    <a:pt x="25400" y="0"/>
                  </a:moveTo>
                  <a:lnTo>
                    <a:pt x="2219960" y="0"/>
                  </a:lnTo>
                  <a:cubicBezTo>
                    <a:pt x="2233930" y="0"/>
                    <a:pt x="2245360" y="11430"/>
                    <a:pt x="2245360" y="25400"/>
                  </a:cubicBezTo>
                  <a:lnTo>
                    <a:pt x="2245360" y="2219960"/>
                  </a:lnTo>
                  <a:cubicBezTo>
                    <a:pt x="2245360" y="2233930"/>
                    <a:pt x="2233930" y="2245360"/>
                    <a:pt x="2219960" y="2245360"/>
                  </a:cubicBezTo>
                  <a:lnTo>
                    <a:pt x="25400" y="2245360"/>
                  </a:lnTo>
                  <a:cubicBezTo>
                    <a:pt x="11430" y="2245360"/>
                    <a:pt x="0" y="2233930"/>
                    <a:pt x="0" y="22199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219960"/>
                  </a:lnTo>
                  <a:lnTo>
                    <a:pt x="25400" y="2219960"/>
                  </a:lnTo>
                  <a:lnTo>
                    <a:pt x="25400" y="2194560"/>
                  </a:lnTo>
                  <a:lnTo>
                    <a:pt x="2219960" y="2194560"/>
                  </a:lnTo>
                  <a:lnTo>
                    <a:pt x="2219960" y="2219960"/>
                  </a:lnTo>
                  <a:lnTo>
                    <a:pt x="2194560" y="2219960"/>
                  </a:lnTo>
                  <a:lnTo>
                    <a:pt x="2194560" y="25400"/>
                  </a:lnTo>
                  <a:lnTo>
                    <a:pt x="2219960" y="25400"/>
                  </a:lnTo>
                  <a:lnTo>
                    <a:pt x="22199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4572000" y="5394960"/>
            <a:ext cx="1645920" cy="1645920"/>
            <a:chOff x="0" y="0"/>
            <a:chExt cx="2194560" cy="219456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57150"/>
              <a:ext cx="2194560" cy="2251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6198870" y="5375910"/>
            <a:ext cx="1684020" cy="1684020"/>
            <a:chOff x="0" y="0"/>
            <a:chExt cx="2245360" cy="224536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25400" y="2540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6F8FA"/>
            </a:solidFill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2245360" cy="2245360"/>
            </a:xfrm>
            <a:custGeom>
              <a:avLst/>
              <a:gdLst/>
              <a:ahLst/>
              <a:cxnLst/>
              <a:rect r="r" b="b" t="t" l="l"/>
              <a:pathLst>
                <a:path h="2245360" w="2245360">
                  <a:moveTo>
                    <a:pt x="25400" y="0"/>
                  </a:moveTo>
                  <a:lnTo>
                    <a:pt x="2219960" y="0"/>
                  </a:lnTo>
                  <a:cubicBezTo>
                    <a:pt x="2233930" y="0"/>
                    <a:pt x="2245360" y="11430"/>
                    <a:pt x="2245360" y="25400"/>
                  </a:cubicBezTo>
                  <a:lnTo>
                    <a:pt x="2245360" y="2219960"/>
                  </a:lnTo>
                  <a:cubicBezTo>
                    <a:pt x="2245360" y="2233930"/>
                    <a:pt x="2233930" y="2245360"/>
                    <a:pt x="2219960" y="2245360"/>
                  </a:cubicBezTo>
                  <a:lnTo>
                    <a:pt x="25400" y="2245360"/>
                  </a:lnTo>
                  <a:cubicBezTo>
                    <a:pt x="11430" y="2245360"/>
                    <a:pt x="0" y="2233930"/>
                    <a:pt x="0" y="22199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219960"/>
                  </a:lnTo>
                  <a:lnTo>
                    <a:pt x="25400" y="2219960"/>
                  </a:lnTo>
                  <a:lnTo>
                    <a:pt x="25400" y="2194560"/>
                  </a:lnTo>
                  <a:lnTo>
                    <a:pt x="2219960" y="2194560"/>
                  </a:lnTo>
                  <a:lnTo>
                    <a:pt x="2219960" y="2219960"/>
                  </a:lnTo>
                  <a:lnTo>
                    <a:pt x="2194560" y="2219960"/>
                  </a:lnTo>
                  <a:lnTo>
                    <a:pt x="2194560" y="25400"/>
                  </a:lnTo>
                  <a:lnTo>
                    <a:pt x="2219960" y="25400"/>
                  </a:lnTo>
                  <a:lnTo>
                    <a:pt x="22199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6217920" y="5394960"/>
            <a:ext cx="1645920" cy="1645920"/>
            <a:chOff x="0" y="0"/>
            <a:chExt cx="2194560" cy="219456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57150"/>
              <a:ext cx="2194560" cy="2251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7844790" y="5375910"/>
            <a:ext cx="1684020" cy="1684020"/>
            <a:chOff x="0" y="0"/>
            <a:chExt cx="2245360" cy="224536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25400" y="2540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245360" cy="2245360"/>
            </a:xfrm>
            <a:custGeom>
              <a:avLst/>
              <a:gdLst/>
              <a:ahLst/>
              <a:cxnLst/>
              <a:rect r="r" b="b" t="t" l="l"/>
              <a:pathLst>
                <a:path h="2245360" w="2245360">
                  <a:moveTo>
                    <a:pt x="25400" y="0"/>
                  </a:moveTo>
                  <a:lnTo>
                    <a:pt x="2219960" y="0"/>
                  </a:lnTo>
                  <a:cubicBezTo>
                    <a:pt x="2233930" y="0"/>
                    <a:pt x="2245360" y="11430"/>
                    <a:pt x="2245360" y="25400"/>
                  </a:cubicBezTo>
                  <a:lnTo>
                    <a:pt x="2245360" y="2219960"/>
                  </a:lnTo>
                  <a:cubicBezTo>
                    <a:pt x="2245360" y="2233930"/>
                    <a:pt x="2233930" y="2245360"/>
                    <a:pt x="2219960" y="2245360"/>
                  </a:cubicBezTo>
                  <a:lnTo>
                    <a:pt x="25400" y="2245360"/>
                  </a:lnTo>
                  <a:cubicBezTo>
                    <a:pt x="11430" y="2245360"/>
                    <a:pt x="0" y="2233930"/>
                    <a:pt x="0" y="22199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219960"/>
                  </a:lnTo>
                  <a:lnTo>
                    <a:pt x="25400" y="2219960"/>
                  </a:lnTo>
                  <a:lnTo>
                    <a:pt x="25400" y="2194560"/>
                  </a:lnTo>
                  <a:lnTo>
                    <a:pt x="2219960" y="2194560"/>
                  </a:lnTo>
                  <a:lnTo>
                    <a:pt x="2219960" y="2219960"/>
                  </a:lnTo>
                  <a:lnTo>
                    <a:pt x="2194560" y="2219960"/>
                  </a:lnTo>
                  <a:lnTo>
                    <a:pt x="2194560" y="25400"/>
                  </a:lnTo>
                  <a:lnTo>
                    <a:pt x="2219960" y="25400"/>
                  </a:lnTo>
                  <a:lnTo>
                    <a:pt x="22199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7863840" y="5394960"/>
            <a:ext cx="1645920" cy="1645920"/>
            <a:chOff x="0" y="0"/>
            <a:chExt cx="2194560" cy="219456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57150"/>
              <a:ext cx="2194560" cy="2251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C9A8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38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9490710" y="5375910"/>
            <a:ext cx="1684020" cy="1684020"/>
            <a:chOff x="0" y="0"/>
            <a:chExt cx="2245360" cy="224536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25400" y="2540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2F4F7"/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245360" cy="2245360"/>
            </a:xfrm>
            <a:custGeom>
              <a:avLst/>
              <a:gdLst/>
              <a:ahLst/>
              <a:cxnLst/>
              <a:rect r="r" b="b" t="t" l="l"/>
              <a:pathLst>
                <a:path h="2245360" w="2245360">
                  <a:moveTo>
                    <a:pt x="25400" y="0"/>
                  </a:moveTo>
                  <a:lnTo>
                    <a:pt x="2219960" y="0"/>
                  </a:lnTo>
                  <a:cubicBezTo>
                    <a:pt x="2233930" y="0"/>
                    <a:pt x="2245360" y="11430"/>
                    <a:pt x="2245360" y="25400"/>
                  </a:cubicBezTo>
                  <a:lnTo>
                    <a:pt x="2245360" y="2219960"/>
                  </a:lnTo>
                  <a:cubicBezTo>
                    <a:pt x="2245360" y="2233930"/>
                    <a:pt x="2233930" y="2245360"/>
                    <a:pt x="2219960" y="2245360"/>
                  </a:cubicBezTo>
                  <a:lnTo>
                    <a:pt x="25400" y="2245360"/>
                  </a:lnTo>
                  <a:cubicBezTo>
                    <a:pt x="11430" y="2245360"/>
                    <a:pt x="0" y="2233930"/>
                    <a:pt x="0" y="22199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219960"/>
                  </a:lnTo>
                  <a:lnTo>
                    <a:pt x="25400" y="2219960"/>
                  </a:lnTo>
                  <a:lnTo>
                    <a:pt x="25400" y="2194560"/>
                  </a:lnTo>
                  <a:lnTo>
                    <a:pt x="2219960" y="2194560"/>
                  </a:lnTo>
                  <a:lnTo>
                    <a:pt x="2219960" y="2219960"/>
                  </a:lnTo>
                  <a:lnTo>
                    <a:pt x="2194560" y="2219960"/>
                  </a:lnTo>
                  <a:lnTo>
                    <a:pt x="2194560" y="25400"/>
                  </a:lnTo>
                  <a:lnTo>
                    <a:pt x="2219960" y="25400"/>
                  </a:lnTo>
                  <a:lnTo>
                    <a:pt x="22199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9509760" y="5394960"/>
            <a:ext cx="1645920" cy="1645920"/>
            <a:chOff x="0" y="0"/>
            <a:chExt cx="2194560" cy="219456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57150"/>
              <a:ext cx="2194560" cy="2251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1136630" y="5375910"/>
            <a:ext cx="1684020" cy="1684020"/>
            <a:chOff x="0" y="0"/>
            <a:chExt cx="2245360" cy="224536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25400" y="2540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E0E5EB"/>
            </a:solidFill>
          </p:spPr>
        </p:sp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2245360" cy="2245360"/>
            </a:xfrm>
            <a:custGeom>
              <a:avLst/>
              <a:gdLst/>
              <a:ahLst/>
              <a:cxnLst/>
              <a:rect r="r" b="b" t="t" l="l"/>
              <a:pathLst>
                <a:path h="2245360" w="2245360">
                  <a:moveTo>
                    <a:pt x="25400" y="0"/>
                  </a:moveTo>
                  <a:lnTo>
                    <a:pt x="2219960" y="0"/>
                  </a:lnTo>
                  <a:cubicBezTo>
                    <a:pt x="2233930" y="0"/>
                    <a:pt x="2245360" y="11430"/>
                    <a:pt x="2245360" y="25400"/>
                  </a:cubicBezTo>
                  <a:lnTo>
                    <a:pt x="2245360" y="2219960"/>
                  </a:lnTo>
                  <a:cubicBezTo>
                    <a:pt x="2245360" y="2233930"/>
                    <a:pt x="2233930" y="2245360"/>
                    <a:pt x="2219960" y="2245360"/>
                  </a:cubicBezTo>
                  <a:lnTo>
                    <a:pt x="25400" y="2245360"/>
                  </a:lnTo>
                  <a:cubicBezTo>
                    <a:pt x="11430" y="2245360"/>
                    <a:pt x="0" y="2233930"/>
                    <a:pt x="0" y="22199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219960"/>
                  </a:lnTo>
                  <a:lnTo>
                    <a:pt x="25400" y="2219960"/>
                  </a:lnTo>
                  <a:lnTo>
                    <a:pt x="25400" y="2194560"/>
                  </a:lnTo>
                  <a:lnTo>
                    <a:pt x="2219960" y="2194560"/>
                  </a:lnTo>
                  <a:lnTo>
                    <a:pt x="2219960" y="2219960"/>
                  </a:lnTo>
                  <a:lnTo>
                    <a:pt x="2194560" y="2219960"/>
                  </a:lnTo>
                  <a:lnTo>
                    <a:pt x="2194560" y="25400"/>
                  </a:lnTo>
                  <a:lnTo>
                    <a:pt x="2219960" y="25400"/>
                  </a:lnTo>
                  <a:lnTo>
                    <a:pt x="22199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11136630" y="5414010"/>
            <a:ext cx="1645920" cy="1645920"/>
            <a:chOff x="0" y="0"/>
            <a:chExt cx="2194560" cy="219456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57150"/>
              <a:ext cx="2194560" cy="2251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4552950" y="7021830"/>
            <a:ext cx="1684020" cy="1684020"/>
            <a:chOff x="0" y="0"/>
            <a:chExt cx="2245360" cy="224536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25400" y="2540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6F8FA"/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2245360" cy="2245360"/>
            </a:xfrm>
            <a:custGeom>
              <a:avLst/>
              <a:gdLst/>
              <a:ahLst/>
              <a:cxnLst/>
              <a:rect r="r" b="b" t="t" l="l"/>
              <a:pathLst>
                <a:path h="2245360" w="2245360">
                  <a:moveTo>
                    <a:pt x="25400" y="0"/>
                  </a:moveTo>
                  <a:lnTo>
                    <a:pt x="2219960" y="0"/>
                  </a:lnTo>
                  <a:cubicBezTo>
                    <a:pt x="2233930" y="0"/>
                    <a:pt x="2245360" y="11430"/>
                    <a:pt x="2245360" y="25400"/>
                  </a:cubicBezTo>
                  <a:lnTo>
                    <a:pt x="2245360" y="2219960"/>
                  </a:lnTo>
                  <a:cubicBezTo>
                    <a:pt x="2245360" y="2233930"/>
                    <a:pt x="2233930" y="2245360"/>
                    <a:pt x="2219960" y="2245360"/>
                  </a:cubicBezTo>
                  <a:lnTo>
                    <a:pt x="25400" y="2245360"/>
                  </a:lnTo>
                  <a:cubicBezTo>
                    <a:pt x="11430" y="2245360"/>
                    <a:pt x="0" y="2233930"/>
                    <a:pt x="0" y="22199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219960"/>
                  </a:lnTo>
                  <a:lnTo>
                    <a:pt x="25400" y="2219960"/>
                  </a:lnTo>
                  <a:lnTo>
                    <a:pt x="25400" y="2194560"/>
                  </a:lnTo>
                  <a:lnTo>
                    <a:pt x="2219960" y="2194560"/>
                  </a:lnTo>
                  <a:lnTo>
                    <a:pt x="2219960" y="2219960"/>
                  </a:lnTo>
                  <a:lnTo>
                    <a:pt x="2194560" y="2219960"/>
                  </a:lnTo>
                  <a:lnTo>
                    <a:pt x="2194560" y="25400"/>
                  </a:lnTo>
                  <a:lnTo>
                    <a:pt x="2219960" y="25400"/>
                  </a:lnTo>
                  <a:lnTo>
                    <a:pt x="22199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4572000" y="7040880"/>
            <a:ext cx="1645920" cy="1645920"/>
            <a:chOff x="0" y="0"/>
            <a:chExt cx="2194560" cy="219456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57150"/>
              <a:ext cx="2194560" cy="2251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6198870" y="7021830"/>
            <a:ext cx="1684020" cy="1684020"/>
            <a:chOff x="0" y="0"/>
            <a:chExt cx="2245360" cy="224536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25400" y="2540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AFBFC"/>
            </a:solidFill>
          </p:spPr>
        </p:sp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2245360" cy="2245360"/>
            </a:xfrm>
            <a:custGeom>
              <a:avLst/>
              <a:gdLst/>
              <a:ahLst/>
              <a:cxnLst/>
              <a:rect r="r" b="b" t="t" l="l"/>
              <a:pathLst>
                <a:path h="2245360" w="2245360">
                  <a:moveTo>
                    <a:pt x="25400" y="0"/>
                  </a:moveTo>
                  <a:lnTo>
                    <a:pt x="2219960" y="0"/>
                  </a:lnTo>
                  <a:cubicBezTo>
                    <a:pt x="2233930" y="0"/>
                    <a:pt x="2245360" y="11430"/>
                    <a:pt x="2245360" y="25400"/>
                  </a:cubicBezTo>
                  <a:lnTo>
                    <a:pt x="2245360" y="2219960"/>
                  </a:lnTo>
                  <a:cubicBezTo>
                    <a:pt x="2245360" y="2233930"/>
                    <a:pt x="2233930" y="2245360"/>
                    <a:pt x="2219960" y="2245360"/>
                  </a:cubicBezTo>
                  <a:lnTo>
                    <a:pt x="25400" y="2245360"/>
                  </a:lnTo>
                  <a:cubicBezTo>
                    <a:pt x="11430" y="2245360"/>
                    <a:pt x="0" y="2233930"/>
                    <a:pt x="0" y="22199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219960"/>
                  </a:lnTo>
                  <a:lnTo>
                    <a:pt x="25400" y="2219960"/>
                  </a:lnTo>
                  <a:lnTo>
                    <a:pt x="25400" y="2194560"/>
                  </a:lnTo>
                  <a:lnTo>
                    <a:pt x="2219960" y="2194560"/>
                  </a:lnTo>
                  <a:lnTo>
                    <a:pt x="2219960" y="2219960"/>
                  </a:lnTo>
                  <a:lnTo>
                    <a:pt x="2194560" y="2219960"/>
                  </a:lnTo>
                  <a:lnTo>
                    <a:pt x="2194560" y="25400"/>
                  </a:lnTo>
                  <a:lnTo>
                    <a:pt x="2219960" y="25400"/>
                  </a:lnTo>
                  <a:lnTo>
                    <a:pt x="22199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6217920" y="7040880"/>
            <a:ext cx="1645920" cy="1645920"/>
            <a:chOff x="0" y="0"/>
            <a:chExt cx="2194560" cy="219456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57150"/>
              <a:ext cx="2194560" cy="2251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7844790" y="7021830"/>
            <a:ext cx="1684020" cy="1684020"/>
            <a:chOff x="0" y="0"/>
            <a:chExt cx="2245360" cy="224536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25400" y="2540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AFBFC"/>
            </a:solidFill>
          </p:spPr>
        </p:sp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2245360" cy="2245360"/>
            </a:xfrm>
            <a:custGeom>
              <a:avLst/>
              <a:gdLst/>
              <a:ahLst/>
              <a:cxnLst/>
              <a:rect r="r" b="b" t="t" l="l"/>
              <a:pathLst>
                <a:path h="2245360" w="2245360">
                  <a:moveTo>
                    <a:pt x="25400" y="0"/>
                  </a:moveTo>
                  <a:lnTo>
                    <a:pt x="2219960" y="0"/>
                  </a:lnTo>
                  <a:cubicBezTo>
                    <a:pt x="2233930" y="0"/>
                    <a:pt x="2245360" y="11430"/>
                    <a:pt x="2245360" y="25400"/>
                  </a:cubicBezTo>
                  <a:lnTo>
                    <a:pt x="2245360" y="2219960"/>
                  </a:lnTo>
                  <a:cubicBezTo>
                    <a:pt x="2245360" y="2233930"/>
                    <a:pt x="2233930" y="2245360"/>
                    <a:pt x="2219960" y="2245360"/>
                  </a:cubicBezTo>
                  <a:lnTo>
                    <a:pt x="25400" y="2245360"/>
                  </a:lnTo>
                  <a:cubicBezTo>
                    <a:pt x="11430" y="2245360"/>
                    <a:pt x="0" y="2233930"/>
                    <a:pt x="0" y="22199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219960"/>
                  </a:lnTo>
                  <a:lnTo>
                    <a:pt x="25400" y="2219960"/>
                  </a:lnTo>
                  <a:lnTo>
                    <a:pt x="25400" y="2194560"/>
                  </a:lnTo>
                  <a:lnTo>
                    <a:pt x="2219960" y="2194560"/>
                  </a:lnTo>
                  <a:lnTo>
                    <a:pt x="2219960" y="2219960"/>
                  </a:lnTo>
                  <a:lnTo>
                    <a:pt x="2194560" y="2219960"/>
                  </a:lnTo>
                  <a:lnTo>
                    <a:pt x="2194560" y="25400"/>
                  </a:lnTo>
                  <a:lnTo>
                    <a:pt x="2219960" y="25400"/>
                  </a:lnTo>
                  <a:lnTo>
                    <a:pt x="22199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7863840" y="7040880"/>
            <a:ext cx="1645920" cy="1645920"/>
            <a:chOff x="0" y="0"/>
            <a:chExt cx="2194560" cy="219456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57150"/>
              <a:ext cx="2194560" cy="2251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9490710" y="7021830"/>
            <a:ext cx="1684020" cy="1684020"/>
            <a:chOff x="0" y="0"/>
            <a:chExt cx="2245360" cy="224536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25400" y="2540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2245360" cy="2245360"/>
            </a:xfrm>
            <a:custGeom>
              <a:avLst/>
              <a:gdLst/>
              <a:ahLst/>
              <a:cxnLst/>
              <a:rect r="r" b="b" t="t" l="l"/>
              <a:pathLst>
                <a:path h="2245360" w="2245360">
                  <a:moveTo>
                    <a:pt x="25400" y="0"/>
                  </a:moveTo>
                  <a:lnTo>
                    <a:pt x="2219960" y="0"/>
                  </a:lnTo>
                  <a:cubicBezTo>
                    <a:pt x="2233930" y="0"/>
                    <a:pt x="2245360" y="11430"/>
                    <a:pt x="2245360" y="25400"/>
                  </a:cubicBezTo>
                  <a:lnTo>
                    <a:pt x="2245360" y="2219960"/>
                  </a:lnTo>
                  <a:cubicBezTo>
                    <a:pt x="2245360" y="2233930"/>
                    <a:pt x="2233930" y="2245360"/>
                    <a:pt x="2219960" y="2245360"/>
                  </a:cubicBezTo>
                  <a:lnTo>
                    <a:pt x="25400" y="2245360"/>
                  </a:lnTo>
                  <a:cubicBezTo>
                    <a:pt x="11430" y="2245360"/>
                    <a:pt x="0" y="2233930"/>
                    <a:pt x="0" y="22199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219960"/>
                  </a:lnTo>
                  <a:lnTo>
                    <a:pt x="25400" y="2219960"/>
                  </a:lnTo>
                  <a:lnTo>
                    <a:pt x="25400" y="2194560"/>
                  </a:lnTo>
                  <a:lnTo>
                    <a:pt x="2219960" y="2194560"/>
                  </a:lnTo>
                  <a:lnTo>
                    <a:pt x="2219960" y="2219960"/>
                  </a:lnTo>
                  <a:lnTo>
                    <a:pt x="2194560" y="2219960"/>
                  </a:lnTo>
                  <a:lnTo>
                    <a:pt x="2194560" y="25400"/>
                  </a:lnTo>
                  <a:lnTo>
                    <a:pt x="2219960" y="25400"/>
                  </a:lnTo>
                  <a:lnTo>
                    <a:pt x="22199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9509760" y="7040880"/>
            <a:ext cx="1645920" cy="1645920"/>
            <a:chOff x="0" y="0"/>
            <a:chExt cx="2194560" cy="2194560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57150"/>
              <a:ext cx="2194560" cy="2251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C9A8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31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1136630" y="7021830"/>
            <a:ext cx="1684020" cy="1684020"/>
            <a:chOff x="0" y="0"/>
            <a:chExt cx="2245360" cy="2245360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25400" y="2540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AFBFC"/>
            </a:solidFill>
          </p:spPr>
        </p:sp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2245360" cy="2245360"/>
            </a:xfrm>
            <a:custGeom>
              <a:avLst/>
              <a:gdLst/>
              <a:ahLst/>
              <a:cxnLst/>
              <a:rect r="r" b="b" t="t" l="l"/>
              <a:pathLst>
                <a:path h="2245360" w="2245360">
                  <a:moveTo>
                    <a:pt x="25400" y="0"/>
                  </a:moveTo>
                  <a:lnTo>
                    <a:pt x="2219960" y="0"/>
                  </a:lnTo>
                  <a:cubicBezTo>
                    <a:pt x="2233930" y="0"/>
                    <a:pt x="2245360" y="11430"/>
                    <a:pt x="2245360" y="25400"/>
                  </a:cubicBezTo>
                  <a:lnTo>
                    <a:pt x="2245360" y="2219960"/>
                  </a:lnTo>
                  <a:cubicBezTo>
                    <a:pt x="2245360" y="2233930"/>
                    <a:pt x="2233930" y="2245360"/>
                    <a:pt x="2219960" y="2245360"/>
                  </a:cubicBezTo>
                  <a:lnTo>
                    <a:pt x="25400" y="2245360"/>
                  </a:lnTo>
                  <a:cubicBezTo>
                    <a:pt x="11430" y="2245360"/>
                    <a:pt x="0" y="2233930"/>
                    <a:pt x="0" y="22199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219960"/>
                  </a:lnTo>
                  <a:lnTo>
                    <a:pt x="25400" y="2219960"/>
                  </a:lnTo>
                  <a:lnTo>
                    <a:pt x="25400" y="2194560"/>
                  </a:lnTo>
                  <a:lnTo>
                    <a:pt x="2219960" y="2194560"/>
                  </a:lnTo>
                  <a:lnTo>
                    <a:pt x="2219960" y="2219960"/>
                  </a:lnTo>
                  <a:lnTo>
                    <a:pt x="2194560" y="2219960"/>
                  </a:lnTo>
                  <a:lnTo>
                    <a:pt x="2194560" y="25400"/>
                  </a:lnTo>
                  <a:lnTo>
                    <a:pt x="2219960" y="25400"/>
                  </a:lnTo>
                  <a:lnTo>
                    <a:pt x="22199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1" id="161"/>
          <p:cNvGrpSpPr/>
          <p:nvPr/>
        </p:nvGrpSpPr>
        <p:grpSpPr>
          <a:xfrm rot="0">
            <a:off x="11155680" y="7040880"/>
            <a:ext cx="1645920" cy="1645920"/>
            <a:chOff x="0" y="0"/>
            <a:chExt cx="2194560" cy="2194560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3" id="163"/>
            <p:cNvSpPr txBox="true"/>
            <p:nvPr/>
          </p:nvSpPr>
          <p:spPr>
            <a:xfrm>
              <a:off x="0" y="-57150"/>
              <a:ext cx="2194560" cy="2251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</a:t>
              </a:r>
            </a:p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4552950" y="8667750"/>
            <a:ext cx="1684020" cy="1684020"/>
            <a:chOff x="0" y="0"/>
            <a:chExt cx="2245360" cy="2245360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25400" y="2540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2F4F7"/>
            </a:solidFill>
          </p:spPr>
        </p:sp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2245360" cy="2245360"/>
            </a:xfrm>
            <a:custGeom>
              <a:avLst/>
              <a:gdLst/>
              <a:ahLst/>
              <a:cxnLst/>
              <a:rect r="r" b="b" t="t" l="l"/>
              <a:pathLst>
                <a:path h="2245360" w="2245360">
                  <a:moveTo>
                    <a:pt x="25400" y="0"/>
                  </a:moveTo>
                  <a:lnTo>
                    <a:pt x="2219960" y="0"/>
                  </a:lnTo>
                  <a:cubicBezTo>
                    <a:pt x="2233930" y="0"/>
                    <a:pt x="2245360" y="11430"/>
                    <a:pt x="2245360" y="25400"/>
                  </a:cubicBezTo>
                  <a:lnTo>
                    <a:pt x="2245360" y="2219960"/>
                  </a:lnTo>
                  <a:cubicBezTo>
                    <a:pt x="2245360" y="2233930"/>
                    <a:pt x="2233930" y="2245360"/>
                    <a:pt x="2219960" y="2245360"/>
                  </a:cubicBezTo>
                  <a:lnTo>
                    <a:pt x="25400" y="2245360"/>
                  </a:lnTo>
                  <a:cubicBezTo>
                    <a:pt x="11430" y="2245360"/>
                    <a:pt x="0" y="2233930"/>
                    <a:pt x="0" y="22199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219960"/>
                  </a:lnTo>
                  <a:lnTo>
                    <a:pt x="25400" y="2219960"/>
                  </a:lnTo>
                  <a:lnTo>
                    <a:pt x="25400" y="2194560"/>
                  </a:lnTo>
                  <a:lnTo>
                    <a:pt x="2219960" y="2194560"/>
                  </a:lnTo>
                  <a:lnTo>
                    <a:pt x="2219960" y="2219960"/>
                  </a:lnTo>
                  <a:lnTo>
                    <a:pt x="2194560" y="2219960"/>
                  </a:lnTo>
                  <a:lnTo>
                    <a:pt x="2194560" y="25400"/>
                  </a:lnTo>
                  <a:lnTo>
                    <a:pt x="2219960" y="25400"/>
                  </a:lnTo>
                  <a:lnTo>
                    <a:pt x="22199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4572000" y="8686800"/>
            <a:ext cx="1645920" cy="1645920"/>
            <a:chOff x="0" y="0"/>
            <a:chExt cx="2194560" cy="2194560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57150"/>
              <a:ext cx="2194560" cy="2251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6198870" y="8667750"/>
            <a:ext cx="1684020" cy="1684020"/>
            <a:chOff x="0" y="0"/>
            <a:chExt cx="2245360" cy="2245360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25400" y="2540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6F8FA"/>
            </a:solidFill>
          </p:spPr>
        </p:sp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2245360" cy="2245360"/>
            </a:xfrm>
            <a:custGeom>
              <a:avLst/>
              <a:gdLst/>
              <a:ahLst/>
              <a:cxnLst/>
              <a:rect r="r" b="b" t="t" l="l"/>
              <a:pathLst>
                <a:path h="2245360" w="2245360">
                  <a:moveTo>
                    <a:pt x="25400" y="0"/>
                  </a:moveTo>
                  <a:lnTo>
                    <a:pt x="2219960" y="0"/>
                  </a:lnTo>
                  <a:cubicBezTo>
                    <a:pt x="2233930" y="0"/>
                    <a:pt x="2245360" y="11430"/>
                    <a:pt x="2245360" y="25400"/>
                  </a:cubicBezTo>
                  <a:lnTo>
                    <a:pt x="2245360" y="2219960"/>
                  </a:lnTo>
                  <a:cubicBezTo>
                    <a:pt x="2245360" y="2233930"/>
                    <a:pt x="2233930" y="2245360"/>
                    <a:pt x="2219960" y="2245360"/>
                  </a:cubicBezTo>
                  <a:lnTo>
                    <a:pt x="25400" y="2245360"/>
                  </a:lnTo>
                  <a:cubicBezTo>
                    <a:pt x="11430" y="2245360"/>
                    <a:pt x="0" y="2233930"/>
                    <a:pt x="0" y="22199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219960"/>
                  </a:lnTo>
                  <a:lnTo>
                    <a:pt x="25400" y="2219960"/>
                  </a:lnTo>
                  <a:lnTo>
                    <a:pt x="25400" y="2194560"/>
                  </a:lnTo>
                  <a:lnTo>
                    <a:pt x="2219960" y="2194560"/>
                  </a:lnTo>
                  <a:lnTo>
                    <a:pt x="2219960" y="2219960"/>
                  </a:lnTo>
                  <a:lnTo>
                    <a:pt x="2194560" y="2219960"/>
                  </a:lnTo>
                  <a:lnTo>
                    <a:pt x="2194560" y="25400"/>
                  </a:lnTo>
                  <a:lnTo>
                    <a:pt x="2219960" y="25400"/>
                  </a:lnTo>
                  <a:lnTo>
                    <a:pt x="22199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6217920" y="8686800"/>
            <a:ext cx="1645920" cy="1645920"/>
            <a:chOff x="0" y="0"/>
            <a:chExt cx="2194560" cy="2194560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5" id="175"/>
            <p:cNvSpPr txBox="true"/>
            <p:nvPr/>
          </p:nvSpPr>
          <p:spPr>
            <a:xfrm>
              <a:off x="0" y="-57150"/>
              <a:ext cx="2194560" cy="2251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grpSp>
        <p:nvGrpSpPr>
          <p:cNvPr name="Group 176" id="176"/>
          <p:cNvGrpSpPr/>
          <p:nvPr/>
        </p:nvGrpSpPr>
        <p:grpSpPr>
          <a:xfrm rot="0">
            <a:off x="7844790" y="8667750"/>
            <a:ext cx="1684020" cy="1684020"/>
            <a:chOff x="0" y="0"/>
            <a:chExt cx="2245360" cy="224536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25400" y="2540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E8ECF1"/>
            </a:solidFill>
          </p:spPr>
        </p:sp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2245360" cy="2245360"/>
            </a:xfrm>
            <a:custGeom>
              <a:avLst/>
              <a:gdLst/>
              <a:ahLst/>
              <a:cxnLst/>
              <a:rect r="r" b="b" t="t" l="l"/>
              <a:pathLst>
                <a:path h="2245360" w="2245360">
                  <a:moveTo>
                    <a:pt x="25400" y="0"/>
                  </a:moveTo>
                  <a:lnTo>
                    <a:pt x="2219960" y="0"/>
                  </a:lnTo>
                  <a:cubicBezTo>
                    <a:pt x="2233930" y="0"/>
                    <a:pt x="2245360" y="11430"/>
                    <a:pt x="2245360" y="25400"/>
                  </a:cubicBezTo>
                  <a:lnTo>
                    <a:pt x="2245360" y="2219960"/>
                  </a:lnTo>
                  <a:cubicBezTo>
                    <a:pt x="2245360" y="2233930"/>
                    <a:pt x="2233930" y="2245360"/>
                    <a:pt x="2219960" y="2245360"/>
                  </a:cubicBezTo>
                  <a:lnTo>
                    <a:pt x="25400" y="2245360"/>
                  </a:lnTo>
                  <a:cubicBezTo>
                    <a:pt x="11430" y="2245360"/>
                    <a:pt x="0" y="2233930"/>
                    <a:pt x="0" y="22199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219960"/>
                  </a:lnTo>
                  <a:lnTo>
                    <a:pt x="25400" y="2219960"/>
                  </a:lnTo>
                  <a:lnTo>
                    <a:pt x="25400" y="2194560"/>
                  </a:lnTo>
                  <a:lnTo>
                    <a:pt x="2219960" y="2194560"/>
                  </a:lnTo>
                  <a:lnTo>
                    <a:pt x="2219960" y="2219960"/>
                  </a:lnTo>
                  <a:lnTo>
                    <a:pt x="2194560" y="2219960"/>
                  </a:lnTo>
                  <a:lnTo>
                    <a:pt x="2194560" y="25400"/>
                  </a:lnTo>
                  <a:lnTo>
                    <a:pt x="2219960" y="25400"/>
                  </a:lnTo>
                  <a:lnTo>
                    <a:pt x="22199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7863840" y="8686800"/>
            <a:ext cx="1645920" cy="1645920"/>
            <a:chOff x="0" y="0"/>
            <a:chExt cx="2194560" cy="2194560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81" id="181"/>
            <p:cNvSpPr txBox="true"/>
            <p:nvPr/>
          </p:nvSpPr>
          <p:spPr>
            <a:xfrm>
              <a:off x="0" y="-57150"/>
              <a:ext cx="2194560" cy="2251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  <p:grpSp>
        <p:nvGrpSpPr>
          <p:cNvPr name="Group 182" id="182"/>
          <p:cNvGrpSpPr/>
          <p:nvPr/>
        </p:nvGrpSpPr>
        <p:grpSpPr>
          <a:xfrm rot="0">
            <a:off x="9490710" y="8667750"/>
            <a:ext cx="1684020" cy="1684020"/>
            <a:chOff x="0" y="0"/>
            <a:chExt cx="2245360" cy="2245360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25400" y="2540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6F8FA"/>
            </a:solidFill>
          </p:spPr>
        </p:sp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2245360" cy="2245360"/>
            </a:xfrm>
            <a:custGeom>
              <a:avLst/>
              <a:gdLst/>
              <a:ahLst/>
              <a:cxnLst/>
              <a:rect r="r" b="b" t="t" l="l"/>
              <a:pathLst>
                <a:path h="2245360" w="2245360">
                  <a:moveTo>
                    <a:pt x="25400" y="0"/>
                  </a:moveTo>
                  <a:lnTo>
                    <a:pt x="2219960" y="0"/>
                  </a:lnTo>
                  <a:cubicBezTo>
                    <a:pt x="2233930" y="0"/>
                    <a:pt x="2245360" y="11430"/>
                    <a:pt x="2245360" y="25400"/>
                  </a:cubicBezTo>
                  <a:lnTo>
                    <a:pt x="2245360" y="2219960"/>
                  </a:lnTo>
                  <a:cubicBezTo>
                    <a:pt x="2245360" y="2233930"/>
                    <a:pt x="2233930" y="2245360"/>
                    <a:pt x="2219960" y="2245360"/>
                  </a:cubicBezTo>
                  <a:lnTo>
                    <a:pt x="25400" y="2245360"/>
                  </a:lnTo>
                  <a:cubicBezTo>
                    <a:pt x="11430" y="2245360"/>
                    <a:pt x="0" y="2233930"/>
                    <a:pt x="0" y="22199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219960"/>
                  </a:lnTo>
                  <a:lnTo>
                    <a:pt x="25400" y="2219960"/>
                  </a:lnTo>
                  <a:lnTo>
                    <a:pt x="25400" y="2194560"/>
                  </a:lnTo>
                  <a:lnTo>
                    <a:pt x="2219960" y="2194560"/>
                  </a:lnTo>
                  <a:lnTo>
                    <a:pt x="2219960" y="2219960"/>
                  </a:lnTo>
                  <a:lnTo>
                    <a:pt x="2194560" y="2219960"/>
                  </a:lnTo>
                  <a:lnTo>
                    <a:pt x="2194560" y="25400"/>
                  </a:lnTo>
                  <a:lnTo>
                    <a:pt x="2219960" y="25400"/>
                  </a:lnTo>
                  <a:lnTo>
                    <a:pt x="22199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5" id="185"/>
          <p:cNvGrpSpPr/>
          <p:nvPr/>
        </p:nvGrpSpPr>
        <p:grpSpPr>
          <a:xfrm rot="0">
            <a:off x="9509760" y="8686800"/>
            <a:ext cx="1645920" cy="1645920"/>
            <a:chOff x="0" y="0"/>
            <a:chExt cx="2194560" cy="2194560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-57150"/>
              <a:ext cx="2194560" cy="2251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11136630" y="8667750"/>
            <a:ext cx="1684020" cy="1684020"/>
            <a:chOff x="0" y="0"/>
            <a:chExt cx="2245360" cy="2245360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25400" y="2540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190" id="190"/>
            <p:cNvSpPr/>
            <p:nvPr/>
          </p:nvSpPr>
          <p:spPr>
            <a:xfrm flipH="false" flipV="false" rot="0">
              <a:off x="0" y="0"/>
              <a:ext cx="2245360" cy="2245360"/>
            </a:xfrm>
            <a:custGeom>
              <a:avLst/>
              <a:gdLst/>
              <a:ahLst/>
              <a:cxnLst/>
              <a:rect r="r" b="b" t="t" l="l"/>
              <a:pathLst>
                <a:path h="2245360" w="2245360">
                  <a:moveTo>
                    <a:pt x="25400" y="0"/>
                  </a:moveTo>
                  <a:lnTo>
                    <a:pt x="2219960" y="0"/>
                  </a:lnTo>
                  <a:cubicBezTo>
                    <a:pt x="2233930" y="0"/>
                    <a:pt x="2245360" y="11430"/>
                    <a:pt x="2245360" y="25400"/>
                  </a:cubicBezTo>
                  <a:lnTo>
                    <a:pt x="2245360" y="2219960"/>
                  </a:lnTo>
                  <a:cubicBezTo>
                    <a:pt x="2245360" y="2233930"/>
                    <a:pt x="2233930" y="2245360"/>
                    <a:pt x="2219960" y="2245360"/>
                  </a:cubicBezTo>
                  <a:lnTo>
                    <a:pt x="25400" y="2245360"/>
                  </a:lnTo>
                  <a:cubicBezTo>
                    <a:pt x="11430" y="2245360"/>
                    <a:pt x="0" y="2233930"/>
                    <a:pt x="0" y="22199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219960"/>
                  </a:lnTo>
                  <a:lnTo>
                    <a:pt x="25400" y="2219960"/>
                  </a:lnTo>
                  <a:lnTo>
                    <a:pt x="25400" y="2194560"/>
                  </a:lnTo>
                  <a:lnTo>
                    <a:pt x="2219960" y="2194560"/>
                  </a:lnTo>
                  <a:lnTo>
                    <a:pt x="2219960" y="2219960"/>
                  </a:lnTo>
                  <a:lnTo>
                    <a:pt x="2194560" y="2219960"/>
                  </a:lnTo>
                  <a:lnTo>
                    <a:pt x="2194560" y="25400"/>
                  </a:lnTo>
                  <a:lnTo>
                    <a:pt x="2219960" y="25400"/>
                  </a:lnTo>
                  <a:lnTo>
                    <a:pt x="22199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91" id="191"/>
          <p:cNvGrpSpPr/>
          <p:nvPr/>
        </p:nvGrpSpPr>
        <p:grpSpPr>
          <a:xfrm rot="0">
            <a:off x="11155680" y="8686800"/>
            <a:ext cx="1645920" cy="1645920"/>
            <a:chOff x="0" y="0"/>
            <a:chExt cx="2194560" cy="2194560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3" id="193"/>
            <p:cNvSpPr txBox="true"/>
            <p:nvPr/>
          </p:nvSpPr>
          <p:spPr>
            <a:xfrm>
              <a:off x="0" y="-57150"/>
              <a:ext cx="2194560" cy="2251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C9A8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16</a:t>
              </a:r>
            </a:p>
          </p:txBody>
        </p:sp>
      </p:grpSp>
      <p:grpSp>
        <p:nvGrpSpPr>
          <p:cNvPr name="Group 194" id="194"/>
          <p:cNvGrpSpPr/>
          <p:nvPr/>
        </p:nvGrpSpPr>
        <p:grpSpPr>
          <a:xfrm rot="0">
            <a:off x="12971783" y="2090423"/>
            <a:ext cx="4780283" cy="8072123"/>
            <a:chOff x="0" y="0"/>
            <a:chExt cx="6373711" cy="10762831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16891" y="16891"/>
              <a:ext cx="6339840" cy="10728960"/>
            </a:xfrm>
            <a:custGeom>
              <a:avLst/>
              <a:gdLst/>
              <a:ahLst/>
              <a:cxnLst/>
              <a:rect r="r" b="b" t="t" l="l"/>
              <a:pathLst>
                <a:path h="1072896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0728960"/>
                  </a:lnTo>
                  <a:lnTo>
                    <a:pt x="0" y="1072896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6373622" cy="10762742"/>
            </a:xfrm>
            <a:custGeom>
              <a:avLst/>
              <a:gdLst/>
              <a:ahLst/>
              <a:cxnLst/>
              <a:rect r="r" b="b" t="t" l="l"/>
              <a:pathLst>
                <a:path h="10762742" w="6373622">
                  <a:moveTo>
                    <a:pt x="16891" y="0"/>
                  </a:moveTo>
                  <a:lnTo>
                    <a:pt x="6356731" y="0"/>
                  </a:lnTo>
                  <a:cubicBezTo>
                    <a:pt x="6366129" y="0"/>
                    <a:pt x="6373622" y="7620"/>
                    <a:pt x="6373622" y="16891"/>
                  </a:cubicBezTo>
                  <a:lnTo>
                    <a:pt x="6373622" y="10745851"/>
                  </a:lnTo>
                  <a:cubicBezTo>
                    <a:pt x="6373622" y="10755249"/>
                    <a:pt x="6366002" y="10762742"/>
                    <a:pt x="6356731" y="10762742"/>
                  </a:cubicBezTo>
                  <a:lnTo>
                    <a:pt x="16891" y="10762742"/>
                  </a:lnTo>
                  <a:cubicBezTo>
                    <a:pt x="7493" y="10762742"/>
                    <a:pt x="0" y="10755122"/>
                    <a:pt x="0" y="10745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745851"/>
                  </a:lnTo>
                  <a:lnTo>
                    <a:pt x="16891" y="10745851"/>
                  </a:lnTo>
                  <a:lnTo>
                    <a:pt x="16891" y="10728960"/>
                  </a:lnTo>
                  <a:lnTo>
                    <a:pt x="6356731" y="10728960"/>
                  </a:lnTo>
                  <a:lnTo>
                    <a:pt x="6356731" y="10745851"/>
                  </a:lnTo>
                  <a:lnTo>
                    <a:pt x="6339840" y="10745851"/>
                  </a:lnTo>
                  <a:lnTo>
                    <a:pt x="6339840" y="16891"/>
                  </a:lnTo>
                  <a:lnTo>
                    <a:pt x="6356731" y="16891"/>
                  </a:lnTo>
                  <a:lnTo>
                    <a:pt x="6356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197" id="197"/>
          <p:cNvGrpSpPr/>
          <p:nvPr/>
        </p:nvGrpSpPr>
        <p:grpSpPr>
          <a:xfrm rot="0">
            <a:off x="13167360" y="2286000"/>
            <a:ext cx="4389120" cy="731520"/>
            <a:chOff x="0" y="0"/>
            <a:chExt cx="5852160" cy="975360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5852160" cy="975360"/>
            </a:xfrm>
            <a:custGeom>
              <a:avLst/>
              <a:gdLst/>
              <a:ahLst/>
              <a:cxnLst/>
              <a:rect r="r" b="b" t="t" l="l"/>
              <a:pathLst>
                <a:path h="9753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-19050"/>
              <a:ext cx="585216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C9A84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Key Observations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13154663" y="3187703"/>
            <a:ext cx="427739" cy="427739"/>
            <a:chOff x="0" y="0"/>
            <a:chExt cx="570319" cy="570319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C9A84C"/>
            </a:solidFill>
          </p:spPr>
        </p:sp>
        <p:sp>
          <p:nvSpPr>
            <p:cNvPr name="Freeform 202" id="202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203" id="203"/>
          <p:cNvGrpSpPr/>
          <p:nvPr/>
        </p:nvGrpSpPr>
        <p:grpSpPr>
          <a:xfrm rot="0">
            <a:off x="13716000" y="3108960"/>
            <a:ext cx="3840480" cy="1133856"/>
            <a:chOff x="0" y="0"/>
            <a:chExt cx="5120640" cy="1511808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5120640" cy="1511808"/>
            </a:xfrm>
            <a:custGeom>
              <a:avLst/>
              <a:gdLst/>
              <a:ahLst/>
              <a:cxnLst/>
              <a:rect r="r" b="b" t="t" l="l"/>
              <a:pathLst>
                <a:path h="151180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997" r="0" b="-15997"/>
              </a:stretch>
            </a:blipFill>
          </p:spPr>
        </p:sp>
        <p:sp>
          <p:nvSpPr>
            <p:cNvPr name="TextBox 205" id="205"/>
            <p:cNvSpPr txBox="true"/>
            <p:nvPr/>
          </p:nvSpPr>
          <p:spPr>
            <a:xfrm>
              <a:off x="0" y="-38100"/>
              <a:ext cx="512064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4F1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₹10 → best recall (86%): distinctive bi-metallic ring</a:t>
              </a:r>
            </a:p>
          </p:txBody>
        </p:sp>
      </p:grpSp>
      <p:grpSp>
        <p:nvGrpSpPr>
          <p:cNvPr name="Group 206" id="206"/>
          <p:cNvGrpSpPr/>
          <p:nvPr/>
        </p:nvGrpSpPr>
        <p:grpSpPr>
          <a:xfrm rot="0">
            <a:off x="13154663" y="4467863"/>
            <a:ext cx="427739" cy="427739"/>
            <a:chOff x="0" y="0"/>
            <a:chExt cx="570319" cy="570319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C9A84C"/>
            </a:solidFill>
          </p:spPr>
        </p:sp>
        <p:sp>
          <p:nvSpPr>
            <p:cNvPr name="Freeform 208" id="208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209" id="209"/>
          <p:cNvGrpSpPr/>
          <p:nvPr/>
        </p:nvGrpSpPr>
        <p:grpSpPr>
          <a:xfrm rot="0">
            <a:off x="13716000" y="4389120"/>
            <a:ext cx="3840480" cy="1133856"/>
            <a:chOff x="0" y="0"/>
            <a:chExt cx="5120640" cy="1511808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5120640" cy="1511808"/>
            </a:xfrm>
            <a:custGeom>
              <a:avLst/>
              <a:gdLst/>
              <a:ahLst/>
              <a:cxnLst/>
              <a:rect r="r" b="b" t="t" l="l"/>
              <a:pathLst>
                <a:path h="151180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997" r="0" b="-15997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-38100"/>
              <a:ext cx="512064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4F1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₹1 → good recall (83%): smallest, unique steel color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13154663" y="5748023"/>
            <a:ext cx="427739" cy="427739"/>
            <a:chOff x="0" y="0"/>
            <a:chExt cx="570319" cy="570319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C9A84C"/>
            </a:solidFill>
          </p:spPr>
        </p:sp>
        <p:sp>
          <p:nvSpPr>
            <p:cNvPr name="Freeform 214" id="214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215" id="215"/>
          <p:cNvGrpSpPr/>
          <p:nvPr/>
        </p:nvGrpSpPr>
        <p:grpSpPr>
          <a:xfrm rot="0">
            <a:off x="13716000" y="5669280"/>
            <a:ext cx="3840480" cy="1133856"/>
            <a:chOff x="0" y="0"/>
            <a:chExt cx="5120640" cy="1511808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0" y="0"/>
              <a:ext cx="5120640" cy="1511808"/>
            </a:xfrm>
            <a:custGeom>
              <a:avLst/>
              <a:gdLst/>
              <a:ahLst/>
              <a:cxnLst/>
              <a:rect r="r" b="b" t="t" l="l"/>
              <a:pathLst>
                <a:path h="151180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997" r="0" b="-15997"/>
              </a:stretch>
            </a:blipFill>
          </p:spPr>
        </p:sp>
        <p:sp>
          <p:nvSpPr>
            <p:cNvPr name="TextBox 217" id="217"/>
            <p:cNvSpPr txBox="true"/>
            <p:nvPr/>
          </p:nvSpPr>
          <p:spPr>
            <a:xfrm>
              <a:off x="0" y="-38100"/>
              <a:ext cx="512064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4F1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₹2 → weakest (25% recall): confused heavily with ₹1</a:t>
              </a:r>
            </a:p>
          </p:txBody>
        </p:sp>
      </p:grpSp>
      <p:grpSp>
        <p:nvGrpSpPr>
          <p:cNvPr name="Group 218" id="218"/>
          <p:cNvGrpSpPr/>
          <p:nvPr/>
        </p:nvGrpSpPr>
        <p:grpSpPr>
          <a:xfrm rot="0">
            <a:off x="13154663" y="7028183"/>
            <a:ext cx="427739" cy="427739"/>
            <a:chOff x="0" y="0"/>
            <a:chExt cx="570319" cy="570319"/>
          </a:xfrm>
        </p:grpSpPr>
        <p:sp>
          <p:nvSpPr>
            <p:cNvPr name="Freeform 219" id="219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C9A84C"/>
            </a:solidFill>
          </p:spPr>
        </p:sp>
        <p:sp>
          <p:nvSpPr>
            <p:cNvPr name="Freeform 220" id="220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221" id="221"/>
          <p:cNvGrpSpPr/>
          <p:nvPr/>
        </p:nvGrpSpPr>
        <p:grpSpPr>
          <a:xfrm rot="0">
            <a:off x="13716000" y="6949440"/>
            <a:ext cx="3840480" cy="1133856"/>
            <a:chOff x="0" y="0"/>
            <a:chExt cx="5120640" cy="1511808"/>
          </a:xfrm>
        </p:grpSpPr>
        <p:sp>
          <p:nvSpPr>
            <p:cNvPr name="Freeform 222" id="222"/>
            <p:cNvSpPr/>
            <p:nvPr/>
          </p:nvSpPr>
          <p:spPr>
            <a:xfrm flipH="false" flipV="false" rot="0">
              <a:off x="0" y="0"/>
              <a:ext cx="5120640" cy="1511808"/>
            </a:xfrm>
            <a:custGeom>
              <a:avLst/>
              <a:gdLst/>
              <a:ahLst/>
              <a:cxnLst/>
              <a:rect r="r" b="b" t="t" l="l"/>
              <a:pathLst>
                <a:path h="151180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997" r="0" b="-15997"/>
              </a:stretch>
            </a:blipFill>
          </p:spPr>
        </p:sp>
        <p:sp>
          <p:nvSpPr>
            <p:cNvPr name="TextBox 223" id="223"/>
            <p:cNvSpPr txBox="true"/>
            <p:nvPr/>
          </p:nvSpPr>
          <p:spPr>
            <a:xfrm>
              <a:off x="0" y="-38100"/>
              <a:ext cx="512064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4F1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₹20 → moderate (67%): scalloped edge helps somewhat</a:t>
              </a:r>
            </a:p>
          </p:txBody>
        </p:sp>
      </p:grpSp>
      <p:grpSp>
        <p:nvGrpSpPr>
          <p:cNvPr name="Group 224" id="224"/>
          <p:cNvGrpSpPr/>
          <p:nvPr/>
        </p:nvGrpSpPr>
        <p:grpSpPr>
          <a:xfrm rot="0">
            <a:off x="13154663" y="8308343"/>
            <a:ext cx="427739" cy="427739"/>
            <a:chOff x="0" y="0"/>
            <a:chExt cx="570319" cy="570319"/>
          </a:xfrm>
        </p:grpSpPr>
        <p:sp>
          <p:nvSpPr>
            <p:cNvPr name="Freeform 225" id="225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C9A84C"/>
            </a:solidFill>
          </p:spPr>
        </p:sp>
        <p:sp>
          <p:nvSpPr>
            <p:cNvPr name="Freeform 226" id="226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227" id="227"/>
          <p:cNvGrpSpPr/>
          <p:nvPr/>
        </p:nvGrpSpPr>
        <p:grpSpPr>
          <a:xfrm rot="0">
            <a:off x="13716000" y="8229600"/>
            <a:ext cx="3840480" cy="1133856"/>
            <a:chOff x="0" y="0"/>
            <a:chExt cx="5120640" cy="1511808"/>
          </a:xfrm>
        </p:grpSpPr>
        <p:sp>
          <p:nvSpPr>
            <p:cNvPr name="Freeform 228" id="228"/>
            <p:cNvSpPr/>
            <p:nvPr/>
          </p:nvSpPr>
          <p:spPr>
            <a:xfrm flipH="false" flipV="false" rot="0">
              <a:off x="0" y="0"/>
              <a:ext cx="5120640" cy="1511808"/>
            </a:xfrm>
            <a:custGeom>
              <a:avLst/>
              <a:gdLst/>
              <a:ahLst/>
              <a:cxnLst/>
              <a:rect r="r" b="b" t="t" l="l"/>
              <a:pathLst>
                <a:path h="151180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997" r="0" b="-15997"/>
              </a:stretch>
            </a:blipFill>
          </p:spPr>
        </p:sp>
        <p:sp>
          <p:nvSpPr>
            <p:cNvPr name="TextBox 229" id="229"/>
            <p:cNvSpPr txBox="true"/>
            <p:nvPr/>
          </p:nvSpPr>
          <p:spPr>
            <a:xfrm>
              <a:off x="0" y="-38100"/>
              <a:ext cx="512064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4F1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₹5 → solid (70%): brass color separates it well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182880"/>
            <a:ext cx="16824960" cy="1463040"/>
            <a:chOff x="0" y="0"/>
            <a:chExt cx="22433280" cy="1950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4077" r="0" b="-17407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43328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SVM vs KNN — Detailed Comparison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48640" y="2011680"/>
            <a:ext cx="8229600" cy="822960"/>
            <a:chOff x="0" y="0"/>
            <a:chExt cx="10972800" cy="1097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09728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2E86A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SVM (RBF) — 58%</a:t>
              </a:r>
            </a:p>
          </p:txBody>
        </p:sp>
      </p:grp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548640" y="2926080"/>
          <a:ext cx="8204200" cy="4572000"/>
        </p:xfrm>
        <a:graphic>
          <a:graphicData uri="http://schemas.openxmlformats.org/drawingml/2006/table">
            <a:tbl>
              <a:tblPr/>
              <a:tblGrid>
                <a:gridCol w="1828647"/>
                <a:gridCol w="2006569"/>
                <a:gridCol w="2184492"/>
                <a:gridCol w="2184492"/>
              </a:tblGrid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Class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Prec.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Recall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₹1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0.50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0.90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0.64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₹2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0.00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0.00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0.00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₹5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0.58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0.70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0.63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₹10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0.77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0.56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0.65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₹20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0.75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0.38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0.50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grpSp>
        <p:nvGrpSpPr>
          <p:cNvPr name="Group 12" id="12"/>
          <p:cNvGrpSpPr/>
          <p:nvPr/>
        </p:nvGrpSpPr>
        <p:grpSpPr>
          <a:xfrm rot="0">
            <a:off x="9509760" y="2011680"/>
            <a:ext cx="8229600" cy="822960"/>
            <a:chOff x="0" y="0"/>
            <a:chExt cx="10972800" cy="1097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09728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E08C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KNN (k=5) — 61%</a:t>
              </a:r>
            </a:p>
          </p:txBody>
        </p:sp>
      </p:grpSp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9509760" y="2926080"/>
          <a:ext cx="8204200" cy="4572000"/>
        </p:xfrm>
        <a:graphic>
          <a:graphicData uri="http://schemas.openxmlformats.org/drawingml/2006/table">
            <a:tbl>
              <a:tblPr/>
              <a:tblGrid>
                <a:gridCol w="1828647"/>
                <a:gridCol w="2006569"/>
                <a:gridCol w="2184492"/>
                <a:gridCol w="2184492"/>
              </a:tblGrid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Class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Prec.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Recall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₹1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0.52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0.69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0.59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₹2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0.43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0.38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0.40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₹5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0.80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0.52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0.63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₹10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0.62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0.89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0.73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₹20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0.75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0.50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0.60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grpSp>
        <p:nvGrpSpPr>
          <p:cNvPr name="Group 16" id="16"/>
          <p:cNvGrpSpPr/>
          <p:nvPr/>
        </p:nvGrpSpPr>
        <p:grpSpPr>
          <a:xfrm rot="0">
            <a:off x="9039863" y="1998983"/>
            <a:ext cx="208283" cy="6426203"/>
            <a:chOff x="0" y="0"/>
            <a:chExt cx="277711" cy="8568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6891" y="16891"/>
              <a:ext cx="243840" cy="8534400"/>
            </a:xfrm>
            <a:custGeom>
              <a:avLst/>
              <a:gdLst/>
              <a:ahLst/>
              <a:cxnLst/>
              <a:rect r="r" b="b" t="t" l="l"/>
              <a:pathLst>
                <a:path h="8534400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8534400"/>
                  </a:lnTo>
                  <a:lnTo>
                    <a:pt x="0" y="8534400"/>
                  </a:lnTo>
                  <a:close/>
                </a:path>
              </a:pathLst>
            </a:custGeom>
            <a:solidFill>
              <a:srgbClr val="E0DDD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7622" cy="8568182"/>
            </a:xfrm>
            <a:custGeom>
              <a:avLst/>
              <a:gdLst/>
              <a:ahLst/>
              <a:cxnLst/>
              <a:rect r="r" b="b" t="t" l="l"/>
              <a:pathLst>
                <a:path h="8568182" w="277622">
                  <a:moveTo>
                    <a:pt x="16891" y="0"/>
                  </a:moveTo>
                  <a:lnTo>
                    <a:pt x="260731" y="0"/>
                  </a:lnTo>
                  <a:cubicBezTo>
                    <a:pt x="270129" y="0"/>
                    <a:pt x="277622" y="7620"/>
                    <a:pt x="277622" y="16891"/>
                  </a:cubicBezTo>
                  <a:lnTo>
                    <a:pt x="277622" y="8551291"/>
                  </a:lnTo>
                  <a:cubicBezTo>
                    <a:pt x="277622" y="8560689"/>
                    <a:pt x="270002" y="8568182"/>
                    <a:pt x="260731" y="8568182"/>
                  </a:cubicBezTo>
                  <a:lnTo>
                    <a:pt x="16891" y="8568182"/>
                  </a:lnTo>
                  <a:cubicBezTo>
                    <a:pt x="7493" y="8568182"/>
                    <a:pt x="0" y="8560562"/>
                    <a:pt x="0" y="8551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551291"/>
                  </a:lnTo>
                  <a:lnTo>
                    <a:pt x="16891" y="8551291"/>
                  </a:lnTo>
                  <a:lnTo>
                    <a:pt x="16891" y="8534400"/>
                  </a:lnTo>
                  <a:lnTo>
                    <a:pt x="260731" y="8534400"/>
                  </a:lnTo>
                  <a:lnTo>
                    <a:pt x="260731" y="8551291"/>
                  </a:lnTo>
                  <a:lnTo>
                    <a:pt x="243840" y="8551291"/>
                  </a:lnTo>
                  <a:lnTo>
                    <a:pt x="243840" y="16891"/>
                  </a:lnTo>
                  <a:lnTo>
                    <a:pt x="260731" y="16891"/>
                  </a:lnTo>
                  <a:lnTo>
                    <a:pt x="260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DDD8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529590" y="7753350"/>
            <a:ext cx="17228820" cy="2141220"/>
            <a:chOff x="0" y="0"/>
            <a:chExt cx="22971760" cy="28549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25400" y="25400"/>
              <a:ext cx="22920961" cy="2804160"/>
            </a:xfrm>
            <a:custGeom>
              <a:avLst/>
              <a:gdLst/>
              <a:ahLst/>
              <a:cxnLst/>
              <a:rect r="r" b="b" t="t" l="l"/>
              <a:pathLst>
                <a:path h="280416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FFF3CD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971761" cy="2854960"/>
            </a:xfrm>
            <a:custGeom>
              <a:avLst/>
              <a:gdLst/>
              <a:ahLst/>
              <a:cxnLst/>
              <a:rect r="r" b="b" t="t" l="l"/>
              <a:pathLst>
                <a:path h="2854960" w="22971761">
                  <a:moveTo>
                    <a:pt x="25400" y="0"/>
                  </a:moveTo>
                  <a:lnTo>
                    <a:pt x="22946361" y="0"/>
                  </a:lnTo>
                  <a:cubicBezTo>
                    <a:pt x="22960330" y="0"/>
                    <a:pt x="22971761" y="11430"/>
                    <a:pt x="22971761" y="25400"/>
                  </a:cubicBezTo>
                  <a:lnTo>
                    <a:pt x="22971761" y="2829560"/>
                  </a:lnTo>
                  <a:cubicBezTo>
                    <a:pt x="22971761" y="2843530"/>
                    <a:pt x="22960330" y="2854960"/>
                    <a:pt x="22946361" y="2854960"/>
                  </a:cubicBezTo>
                  <a:lnTo>
                    <a:pt x="25400" y="2854960"/>
                  </a:lnTo>
                  <a:cubicBezTo>
                    <a:pt x="11430" y="2854960"/>
                    <a:pt x="0" y="2843530"/>
                    <a:pt x="0" y="28295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829560"/>
                  </a:lnTo>
                  <a:lnTo>
                    <a:pt x="25400" y="2829560"/>
                  </a:lnTo>
                  <a:lnTo>
                    <a:pt x="25400" y="2804160"/>
                  </a:lnTo>
                  <a:lnTo>
                    <a:pt x="22946361" y="2804160"/>
                  </a:lnTo>
                  <a:lnTo>
                    <a:pt x="22946361" y="2829560"/>
                  </a:lnTo>
                  <a:lnTo>
                    <a:pt x="22920961" y="2829560"/>
                  </a:lnTo>
                  <a:lnTo>
                    <a:pt x="22920961" y="25400"/>
                  </a:lnTo>
                  <a:lnTo>
                    <a:pt x="22946361" y="25400"/>
                  </a:lnTo>
                  <a:lnTo>
                    <a:pt x="22946361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E08C2D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05840" y="7863840"/>
            <a:ext cx="16459200" cy="1920240"/>
            <a:chOff x="0" y="0"/>
            <a:chExt cx="21945600" cy="25603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45600" cy="2560320"/>
            </a:xfrm>
            <a:custGeom>
              <a:avLst/>
              <a:gdLst/>
              <a:ahLst/>
              <a:cxnLst/>
              <a:rect r="r" b="b" t="t" l="l"/>
              <a:pathLst>
                <a:path h="25603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21945600" cy="2607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5A3E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⚠  Notable: SVM completely failed to predict ₹2 (0% precision &amp; recall) — likely due to class imbalance and feature overlap with ₹1. KNN provides a more balanced performance across all classes despite lower accuracy than Random Forest.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C9A84C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182880"/>
            <a:ext cx="16824960" cy="1463040"/>
            <a:chOff x="0" y="0"/>
            <a:chExt cx="22433280" cy="1950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4077" r="0" b="-17407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43328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0D1B2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Live Streamlit Application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2470" y="1992630"/>
            <a:ext cx="5158740" cy="5524500"/>
            <a:chOff x="0" y="0"/>
            <a:chExt cx="6878320" cy="736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00" y="25400"/>
              <a:ext cx="6827520" cy="7315200"/>
            </a:xfrm>
            <a:custGeom>
              <a:avLst/>
              <a:gdLst/>
              <a:ahLst/>
              <a:cxnLst/>
              <a:rect r="r" b="b" t="t" l="l"/>
              <a:pathLst>
                <a:path h="73152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0"/>
                  </a:lnTo>
                  <a:lnTo>
                    <a:pt x="0" y="7315200"/>
                  </a:lnTo>
                  <a:close/>
                </a:path>
              </a:pathLst>
            </a:custGeom>
            <a:solidFill>
              <a:srgbClr val="1B2A3D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78320" cy="7366000"/>
            </a:xfrm>
            <a:custGeom>
              <a:avLst/>
              <a:gdLst/>
              <a:ahLst/>
              <a:cxnLst/>
              <a:rect r="r" b="b" t="t" l="l"/>
              <a:pathLst>
                <a:path h="7366000" w="6878320">
                  <a:moveTo>
                    <a:pt x="25400" y="0"/>
                  </a:moveTo>
                  <a:lnTo>
                    <a:pt x="6852920" y="0"/>
                  </a:lnTo>
                  <a:cubicBezTo>
                    <a:pt x="6866889" y="0"/>
                    <a:pt x="6878320" y="11430"/>
                    <a:pt x="6878320" y="25400"/>
                  </a:cubicBezTo>
                  <a:lnTo>
                    <a:pt x="6878320" y="7340600"/>
                  </a:lnTo>
                  <a:cubicBezTo>
                    <a:pt x="6878320" y="7354570"/>
                    <a:pt x="6866889" y="7366000"/>
                    <a:pt x="6852920" y="7366000"/>
                  </a:cubicBezTo>
                  <a:lnTo>
                    <a:pt x="25400" y="7366000"/>
                  </a:lnTo>
                  <a:cubicBezTo>
                    <a:pt x="11430" y="7366000"/>
                    <a:pt x="0" y="7354570"/>
                    <a:pt x="0" y="73406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7340600"/>
                  </a:lnTo>
                  <a:lnTo>
                    <a:pt x="25400" y="7340600"/>
                  </a:lnTo>
                  <a:lnTo>
                    <a:pt x="25400" y="7315200"/>
                  </a:lnTo>
                  <a:lnTo>
                    <a:pt x="6852920" y="7315200"/>
                  </a:lnTo>
                  <a:lnTo>
                    <a:pt x="6852920" y="7340600"/>
                  </a:lnTo>
                  <a:lnTo>
                    <a:pt x="6827520" y="7340600"/>
                  </a:lnTo>
                  <a:lnTo>
                    <a:pt x="6827520" y="25400"/>
                  </a:lnTo>
                  <a:lnTo>
                    <a:pt x="6852920" y="25400"/>
                  </a:lnTo>
                  <a:lnTo>
                    <a:pt x="68529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97280" y="2286000"/>
            <a:ext cx="4389120" cy="4023360"/>
            <a:chOff x="0" y="0"/>
            <a:chExt cx="5852160" cy="5364480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5852160" cy="5364480"/>
            </a:xfrm>
            <a:custGeom>
              <a:avLst/>
              <a:gdLst/>
              <a:ahLst/>
              <a:cxnLst/>
              <a:rect r="r" b="b" t="t" l="l"/>
              <a:pathLst>
                <a:path h="53644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364480"/>
                  </a:lnTo>
                  <a:lnTo>
                    <a:pt x="0" y="5364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6435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18823" y="7211063"/>
            <a:ext cx="5146043" cy="756923"/>
            <a:chOff x="0" y="0"/>
            <a:chExt cx="6861391" cy="100923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6827520" cy="975360"/>
            </a:xfrm>
            <a:custGeom>
              <a:avLst/>
              <a:gdLst/>
              <a:ahLst/>
              <a:cxnLst/>
              <a:rect r="r" b="b" t="t" l="l"/>
              <a:pathLst>
                <a:path h="97536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2D9E6B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61301" cy="1009144"/>
            </a:xfrm>
            <a:custGeom>
              <a:avLst/>
              <a:gdLst/>
              <a:ahLst/>
              <a:cxnLst/>
              <a:rect r="r" b="b" t="t" l="l"/>
              <a:pathLst>
                <a:path h="1009144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992251"/>
                  </a:lnTo>
                  <a:cubicBezTo>
                    <a:pt x="6861301" y="1001649"/>
                    <a:pt x="6853682" y="1009142"/>
                    <a:pt x="684441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6844411" y="975360"/>
                  </a:lnTo>
                  <a:lnTo>
                    <a:pt x="6844411" y="992251"/>
                  </a:lnTo>
                  <a:lnTo>
                    <a:pt x="6827520" y="992251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9E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31520" y="7223760"/>
            <a:ext cx="5120640" cy="731520"/>
            <a:chOff x="0" y="0"/>
            <a:chExt cx="6827520" cy="9753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27520" cy="975360"/>
            </a:xfrm>
            <a:custGeom>
              <a:avLst/>
              <a:gdLst/>
              <a:ahLst/>
              <a:cxnLst/>
              <a:rect r="r" b="b" t="t" l="l"/>
              <a:pathLst>
                <a:path h="97536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82752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₹1 Predicted ✓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473190" y="1992630"/>
            <a:ext cx="5158740" cy="5524500"/>
            <a:chOff x="0" y="0"/>
            <a:chExt cx="6878320" cy="7366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25400" y="25400"/>
              <a:ext cx="6827520" cy="7315200"/>
            </a:xfrm>
            <a:custGeom>
              <a:avLst/>
              <a:gdLst/>
              <a:ahLst/>
              <a:cxnLst/>
              <a:rect r="r" b="b" t="t" l="l"/>
              <a:pathLst>
                <a:path h="73152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0"/>
                  </a:lnTo>
                  <a:lnTo>
                    <a:pt x="0" y="7315200"/>
                  </a:lnTo>
                  <a:close/>
                </a:path>
              </a:pathLst>
            </a:custGeom>
            <a:solidFill>
              <a:srgbClr val="1B2A3D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78320" cy="7366000"/>
            </a:xfrm>
            <a:custGeom>
              <a:avLst/>
              <a:gdLst/>
              <a:ahLst/>
              <a:cxnLst/>
              <a:rect r="r" b="b" t="t" l="l"/>
              <a:pathLst>
                <a:path h="7366000" w="6878320">
                  <a:moveTo>
                    <a:pt x="25400" y="0"/>
                  </a:moveTo>
                  <a:lnTo>
                    <a:pt x="6852920" y="0"/>
                  </a:lnTo>
                  <a:cubicBezTo>
                    <a:pt x="6866889" y="0"/>
                    <a:pt x="6878320" y="11430"/>
                    <a:pt x="6878320" y="25400"/>
                  </a:cubicBezTo>
                  <a:lnTo>
                    <a:pt x="6878320" y="7340600"/>
                  </a:lnTo>
                  <a:cubicBezTo>
                    <a:pt x="6878320" y="7354570"/>
                    <a:pt x="6866889" y="7366000"/>
                    <a:pt x="6852920" y="7366000"/>
                  </a:cubicBezTo>
                  <a:lnTo>
                    <a:pt x="25400" y="7366000"/>
                  </a:lnTo>
                  <a:cubicBezTo>
                    <a:pt x="11430" y="7366000"/>
                    <a:pt x="0" y="7354570"/>
                    <a:pt x="0" y="73406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7340600"/>
                  </a:lnTo>
                  <a:lnTo>
                    <a:pt x="25400" y="7340600"/>
                  </a:lnTo>
                  <a:lnTo>
                    <a:pt x="25400" y="7315200"/>
                  </a:lnTo>
                  <a:lnTo>
                    <a:pt x="6852920" y="7315200"/>
                  </a:lnTo>
                  <a:lnTo>
                    <a:pt x="6852920" y="7340600"/>
                  </a:lnTo>
                  <a:lnTo>
                    <a:pt x="6827520" y="7340600"/>
                  </a:lnTo>
                  <a:lnTo>
                    <a:pt x="6827520" y="25400"/>
                  </a:lnTo>
                  <a:lnTo>
                    <a:pt x="6852920" y="25400"/>
                  </a:lnTo>
                  <a:lnTo>
                    <a:pt x="68529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858000" y="2286000"/>
            <a:ext cx="4389120" cy="4023360"/>
            <a:chOff x="0" y="0"/>
            <a:chExt cx="5852160" cy="536448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5852160" cy="5364480"/>
            </a:xfrm>
            <a:custGeom>
              <a:avLst/>
              <a:gdLst/>
              <a:ahLst/>
              <a:cxnLst/>
              <a:rect r="r" b="b" t="t" l="l"/>
              <a:pathLst>
                <a:path h="53644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364480"/>
                  </a:lnTo>
                  <a:lnTo>
                    <a:pt x="0" y="5364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3491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479543" y="7211063"/>
            <a:ext cx="5146043" cy="756923"/>
            <a:chOff x="0" y="0"/>
            <a:chExt cx="6861391" cy="100923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6827520" cy="975360"/>
            </a:xfrm>
            <a:custGeom>
              <a:avLst/>
              <a:gdLst/>
              <a:ahLst/>
              <a:cxnLst/>
              <a:rect r="r" b="b" t="t" l="l"/>
              <a:pathLst>
                <a:path h="97536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2D9E6B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861301" cy="1009144"/>
            </a:xfrm>
            <a:custGeom>
              <a:avLst/>
              <a:gdLst/>
              <a:ahLst/>
              <a:cxnLst/>
              <a:rect r="r" b="b" t="t" l="l"/>
              <a:pathLst>
                <a:path h="1009144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992251"/>
                  </a:lnTo>
                  <a:cubicBezTo>
                    <a:pt x="6861301" y="1001649"/>
                    <a:pt x="6853682" y="1009142"/>
                    <a:pt x="684441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6844411" y="975360"/>
                  </a:lnTo>
                  <a:lnTo>
                    <a:pt x="6844411" y="992251"/>
                  </a:lnTo>
                  <a:lnTo>
                    <a:pt x="6827520" y="992251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9E6B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492240" y="7223760"/>
            <a:ext cx="5120640" cy="731520"/>
            <a:chOff x="0" y="0"/>
            <a:chExt cx="6827520" cy="9753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827520" cy="975360"/>
            </a:xfrm>
            <a:custGeom>
              <a:avLst/>
              <a:gdLst/>
              <a:ahLst/>
              <a:cxnLst/>
              <a:rect r="r" b="b" t="t" l="l"/>
              <a:pathLst>
                <a:path h="97536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682752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₹5 Predicted ✓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233910" y="1992630"/>
            <a:ext cx="5158740" cy="5524500"/>
            <a:chOff x="0" y="0"/>
            <a:chExt cx="6878320" cy="7366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25400" y="25400"/>
              <a:ext cx="6827520" cy="7315200"/>
            </a:xfrm>
            <a:custGeom>
              <a:avLst/>
              <a:gdLst/>
              <a:ahLst/>
              <a:cxnLst/>
              <a:rect r="r" b="b" t="t" l="l"/>
              <a:pathLst>
                <a:path h="73152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0"/>
                  </a:lnTo>
                  <a:lnTo>
                    <a:pt x="0" y="7315200"/>
                  </a:lnTo>
                  <a:close/>
                </a:path>
              </a:pathLst>
            </a:custGeom>
            <a:solidFill>
              <a:srgbClr val="1B2A3D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878320" cy="7366000"/>
            </a:xfrm>
            <a:custGeom>
              <a:avLst/>
              <a:gdLst/>
              <a:ahLst/>
              <a:cxnLst/>
              <a:rect r="r" b="b" t="t" l="l"/>
              <a:pathLst>
                <a:path h="7366000" w="6878320">
                  <a:moveTo>
                    <a:pt x="25400" y="0"/>
                  </a:moveTo>
                  <a:lnTo>
                    <a:pt x="6852920" y="0"/>
                  </a:lnTo>
                  <a:cubicBezTo>
                    <a:pt x="6866889" y="0"/>
                    <a:pt x="6878320" y="11430"/>
                    <a:pt x="6878320" y="25400"/>
                  </a:cubicBezTo>
                  <a:lnTo>
                    <a:pt x="6878320" y="7340600"/>
                  </a:lnTo>
                  <a:cubicBezTo>
                    <a:pt x="6878320" y="7354570"/>
                    <a:pt x="6866889" y="7366000"/>
                    <a:pt x="6852920" y="7366000"/>
                  </a:cubicBezTo>
                  <a:lnTo>
                    <a:pt x="25400" y="7366000"/>
                  </a:lnTo>
                  <a:cubicBezTo>
                    <a:pt x="11430" y="7366000"/>
                    <a:pt x="0" y="7354570"/>
                    <a:pt x="0" y="73406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7340600"/>
                  </a:lnTo>
                  <a:lnTo>
                    <a:pt x="25400" y="7340600"/>
                  </a:lnTo>
                  <a:lnTo>
                    <a:pt x="25400" y="7315200"/>
                  </a:lnTo>
                  <a:lnTo>
                    <a:pt x="6852920" y="7315200"/>
                  </a:lnTo>
                  <a:lnTo>
                    <a:pt x="6852920" y="7340600"/>
                  </a:lnTo>
                  <a:lnTo>
                    <a:pt x="6827520" y="7340600"/>
                  </a:lnTo>
                  <a:lnTo>
                    <a:pt x="6827520" y="25400"/>
                  </a:lnTo>
                  <a:lnTo>
                    <a:pt x="6852920" y="25400"/>
                  </a:lnTo>
                  <a:lnTo>
                    <a:pt x="68529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618720" y="2286000"/>
            <a:ext cx="4389120" cy="4023360"/>
            <a:chOff x="0" y="0"/>
            <a:chExt cx="5852160" cy="5364480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5852160" cy="5364480"/>
            </a:xfrm>
            <a:custGeom>
              <a:avLst/>
              <a:gdLst/>
              <a:ahLst/>
              <a:cxnLst/>
              <a:rect r="r" b="b" t="t" l="l"/>
              <a:pathLst>
                <a:path h="53644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364480"/>
                  </a:lnTo>
                  <a:lnTo>
                    <a:pt x="0" y="5364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8047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2240263" y="7211063"/>
            <a:ext cx="5146043" cy="756923"/>
            <a:chOff x="0" y="0"/>
            <a:chExt cx="6861391" cy="100923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6827520" cy="975360"/>
            </a:xfrm>
            <a:custGeom>
              <a:avLst/>
              <a:gdLst/>
              <a:ahLst/>
              <a:cxnLst/>
              <a:rect r="r" b="b" t="t" l="l"/>
              <a:pathLst>
                <a:path h="97536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2D9E6B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861301" cy="1009144"/>
            </a:xfrm>
            <a:custGeom>
              <a:avLst/>
              <a:gdLst/>
              <a:ahLst/>
              <a:cxnLst/>
              <a:rect r="r" b="b" t="t" l="l"/>
              <a:pathLst>
                <a:path h="1009144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992251"/>
                  </a:lnTo>
                  <a:cubicBezTo>
                    <a:pt x="6861301" y="1001649"/>
                    <a:pt x="6853682" y="1009142"/>
                    <a:pt x="684441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6844411" y="975360"/>
                  </a:lnTo>
                  <a:lnTo>
                    <a:pt x="6844411" y="992251"/>
                  </a:lnTo>
                  <a:lnTo>
                    <a:pt x="6827520" y="992251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9E6B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252960" y="7223760"/>
            <a:ext cx="5120640" cy="731520"/>
            <a:chOff x="0" y="0"/>
            <a:chExt cx="6827520" cy="9753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827520" cy="975360"/>
            </a:xfrm>
            <a:custGeom>
              <a:avLst/>
              <a:gdLst/>
              <a:ahLst/>
              <a:cxnLst/>
              <a:rect r="r" b="b" t="t" l="l"/>
              <a:pathLst>
                <a:path h="97536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682752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₹10 Predicted ✓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18823" y="8216903"/>
            <a:ext cx="16850363" cy="1854203"/>
            <a:chOff x="0" y="0"/>
            <a:chExt cx="22467151" cy="247227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224332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B2A3D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467063" cy="2472182"/>
            </a:xfrm>
            <a:custGeom>
              <a:avLst/>
              <a:gdLst/>
              <a:ahLst/>
              <a:cxnLst/>
              <a:rect r="r" b="b" t="t" l="l"/>
              <a:pathLst>
                <a:path h="2472182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2455291"/>
                  </a:lnTo>
                  <a:cubicBezTo>
                    <a:pt x="22467063" y="2464689"/>
                    <a:pt x="22459443" y="2472182"/>
                    <a:pt x="2245017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2450171" y="2438400"/>
                  </a:lnTo>
                  <a:lnTo>
                    <a:pt x="22450171" y="2455291"/>
                  </a:lnTo>
                  <a:lnTo>
                    <a:pt x="22433280" y="2455291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97280" y="8375904"/>
            <a:ext cx="16459200" cy="731520"/>
            <a:chOff x="0" y="0"/>
            <a:chExt cx="21945600" cy="9753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219456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E8C9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🔗  https://coin-denomination-classification.streamlit.app/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97280" y="8997696"/>
            <a:ext cx="16459200" cy="640080"/>
            <a:chOff x="0" y="0"/>
            <a:chExt cx="21945600" cy="8534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219456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896A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Upload any Indian coin image (JPG/PNG) → instant denomination prediction using the deployed Random Forest model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48640" y="274320"/>
            <a:ext cx="1097280" cy="1097280"/>
            <a:chOff x="0" y="0"/>
            <a:chExt cx="1463040" cy="1463040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2011680" y="182880"/>
            <a:ext cx="15544800" cy="1463040"/>
            <a:chOff x="0" y="0"/>
            <a:chExt cx="20726400" cy="19507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26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028" r="0" b="-15702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726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Limitations &amp; Challenges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29590" y="1992630"/>
            <a:ext cx="8176260" cy="7810500"/>
            <a:chOff x="0" y="0"/>
            <a:chExt cx="10901680" cy="10414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25400" y="25400"/>
              <a:ext cx="10850880" cy="10363200"/>
            </a:xfrm>
            <a:custGeom>
              <a:avLst/>
              <a:gdLst/>
              <a:ahLst/>
              <a:cxnLst/>
              <a:rect r="r" b="b" t="t" l="l"/>
              <a:pathLst>
                <a:path h="10363200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10363200"/>
                  </a:lnTo>
                  <a:lnTo>
                    <a:pt x="0" y="10363200"/>
                  </a:lnTo>
                  <a:close/>
                </a:path>
              </a:pathLst>
            </a:custGeom>
            <a:solidFill>
              <a:srgbClr val="E8F8E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01680" cy="10414000"/>
            </a:xfrm>
            <a:custGeom>
              <a:avLst/>
              <a:gdLst/>
              <a:ahLst/>
              <a:cxnLst/>
              <a:rect r="r" b="b" t="t" l="l"/>
              <a:pathLst>
                <a:path h="10414000" w="10901680">
                  <a:moveTo>
                    <a:pt x="25400" y="0"/>
                  </a:moveTo>
                  <a:lnTo>
                    <a:pt x="10876280" y="0"/>
                  </a:lnTo>
                  <a:cubicBezTo>
                    <a:pt x="10890250" y="0"/>
                    <a:pt x="10901680" y="11430"/>
                    <a:pt x="10901680" y="25400"/>
                  </a:cubicBezTo>
                  <a:lnTo>
                    <a:pt x="10901680" y="10388600"/>
                  </a:lnTo>
                  <a:cubicBezTo>
                    <a:pt x="10901680" y="10402570"/>
                    <a:pt x="10890250" y="10414000"/>
                    <a:pt x="10876280" y="10414000"/>
                  </a:cubicBezTo>
                  <a:lnTo>
                    <a:pt x="25400" y="10414000"/>
                  </a:lnTo>
                  <a:cubicBezTo>
                    <a:pt x="11430" y="10414000"/>
                    <a:pt x="0" y="10402570"/>
                    <a:pt x="0" y="103886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0388600"/>
                  </a:lnTo>
                  <a:lnTo>
                    <a:pt x="25400" y="10388600"/>
                  </a:lnTo>
                  <a:lnTo>
                    <a:pt x="25400" y="10363200"/>
                  </a:lnTo>
                  <a:lnTo>
                    <a:pt x="10876280" y="10363200"/>
                  </a:lnTo>
                  <a:lnTo>
                    <a:pt x="10876280" y="10388600"/>
                  </a:lnTo>
                  <a:lnTo>
                    <a:pt x="10850880" y="10388600"/>
                  </a:lnTo>
                  <a:lnTo>
                    <a:pt x="10850880" y="25400"/>
                  </a:lnTo>
                  <a:lnTo>
                    <a:pt x="10876280" y="25400"/>
                  </a:lnTo>
                  <a:lnTo>
                    <a:pt x="108762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2D9E6B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35943" y="1998983"/>
            <a:ext cx="8163563" cy="903227"/>
            <a:chOff x="0" y="0"/>
            <a:chExt cx="10884751" cy="120430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10850881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850881">
                  <a:moveTo>
                    <a:pt x="0" y="0"/>
                  </a:moveTo>
                  <a:lnTo>
                    <a:pt x="10850881" y="0"/>
                  </a:lnTo>
                  <a:lnTo>
                    <a:pt x="10850881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2D9E6B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884662" cy="1204216"/>
            </a:xfrm>
            <a:custGeom>
              <a:avLst/>
              <a:gdLst/>
              <a:ahLst/>
              <a:cxnLst/>
              <a:rect r="r" b="b" t="t" l="l"/>
              <a:pathLst>
                <a:path h="1204216" w="10884662">
                  <a:moveTo>
                    <a:pt x="16891" y="0"/>
                  </a:moveTo>
                  <a:lnTo>
                    <a:pt x="10867772" y="0"/>
                  </a:lnTo>
                  <a:cubicBezTo>
                    <a:pt x="10877169" y="0"/>
                    <a:pt x="10884662" y="7620"/>
                    <a:pt x="10884662" y="16891"/>
                  </a:cubicBezTo>
                  <a:lnTo>
                    <a:pt x="10884662" y="1187323"/>
                  </a:lnTo>
                  <a:cubicBezTo>
                    <a:pt x="10884662" y="1196721"/>
                    <a:pt x="10877042" y="1204214"/>
                    <a:pt x="10867772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0867772" y="1170432"/>
                  </a:lnTo>
                  <a:lnTo>
                    <a:pt x="10867772" y="1187323"/>
                  </a:lnTo>
                  <a:lnTo>
                    <a:pt x="10850880" y="1187323"/>
                  </a:lnTo>
                  <a:lnTo>
                    <a:pt x="10850880" y="16891"/>
                  </a:lnTo>
                  <a:lnTo>
                    <a:pt x="10867772" y="16891"/>
                  </a:lnTo>
                  <a:lnTo>
                    <a:pt x="108677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9E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48640" y="2011680"/>
            <a:ext cx="8138160" cy="877824"/>
            <a:chOff x="0" y="0"/>
            <a:chExt cx="10850880" cy="11704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85088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642" r="0" b="-13064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085088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Works Well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3108960"/>
            <a:ext cx="548640" cy="548640"/>
            <a:chOff x="0" y="0"/>
            <a:chExt cx="731520" cy="731520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554480" y="3017520"/>
            <a:ext cx="6766560" cy="1133856"/>
            <a:chOff x="0" y="0"/>
            <a:chExt cx="9022080" cy="151180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0220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281" r="0" b="-6628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9022080" cy="1559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4D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Dataset images (Kaggle ICDD) — 70% accuracy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22960" y="4352544"/>
            <a:ext cx="548640" cy="548640"/>
            <a:chOff x="0" y="0"/>
            <a:chExt cx="731520" cy="731520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554480" y="4261104"/>
            <a:ext cx="6766560" cy="1133856"/>
            <a:chOff x="0" y="0"/>
            <a:chExt cx="9022080" cy="151180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0220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281" r="0" b="-6628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9022080" cy="1559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4D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Clear, well-lit, centered coin photos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22960" y="5596128"/>
            <a:ext cx="548640" cy="548640"/>
            <a:chOff x="0" y="0"/>
            <a:chExt cx="731520" cy="731520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554480" y="5504688"/>
            <a:ext cx="6766560" cy="1133856"/>
            <a:chOff x="0" y="0"/>
            <a:chExt cx="9022080" cy="151180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0220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281" r="0" b="-66281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9022080" cy="1559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4D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Coins photographed against plain background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22960" y="6839712"/>
            <a:ext cx="548640" cy="548640"/>
            <a:chOff x="0" y="0"/>
            <a:chExt cx="731520" cy="731520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554480" y="6748272"/>
            <a:ext cx="6766560" cy="1133856"/>
            <a:chOff x="0" y="0"/>
            <a:chExt cx="9022080" cy="151180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0220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281" r="0" b="-66281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9022080" cy="1559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4D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Standard modern Indian coin designs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22960" y="8083296"/>
            <a:ext cx="548640" cy="548640"/>
            <a:chOff x="0" y="0"/>
            <a:chExt cx="731520" cy="731520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554480" y="7991856"/>
            <a:ext cx="6766560" cy="1133856"/>
            <a:chOff x="0" y="0"/>
            <a:chExt cx="9022080" cy="151180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0220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281" r="0" b="-6628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9022080" cy="1559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4D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₹10 and ₹1 — best per-class performance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582150" y="1992630"/>
            <a:ext cx="8176260" cy="7810500"/>
            <a:chOff x="0" y="0"/>
            <a:chExt cx="10901680" cy="10414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25400" y="25400"/>
              <a:ext cx="10850880" cy="10363200"/>
            </a:xfrm>
            <a:custGeom>
              <a:avLst/>
              <a:gdLst/>
              <a:ahLst/>
              <a:cxnLst/>
              <a:rect r="r" b="b" t="t" l="l"/>
              <a:pathLst>
                <a:path h="10363200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10363200"/>
                  </a:lnTo>
                  <a:lnTo>
                    <a:pt x="0" y="10363200"/>
                  </a:lnTo>
                  <a:close/>
                </a:path>
              </a:pathLst>
            </a:custGeom>
            <a:solidFill>
              <a:srgbClr val="FFF0F0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901680" cy="10414000"/>
            </a:xfrm>
            <a:custGeom>
              <a:avLst/>
              <a:gdLst/>
              <a:ahLst/>
              <a:cxnLst/>
              <a:rect r="r" b="b" t="t" l="l"/>
              <a:pathLst>
                <a:path h="10414000" w="10901680">
                  <a:moveTo>
                    <a:pt x="25400" y="0"/>
                  </a:moveTo>
                  <a:lnTo>
                    <a:pt x="10876280" y="0"/>
                  </a:lnTo>
                  <a:cubicBezTo>
                    <a:pt x="10890250" y="0"/>
                    <a:pt x="10901680" y="11430"/>
                    <a:pt x="10901680" y="25400"/>
                  </a:cubicBezTo>
                  <a:lnTo>
                    <a:pt x="10901680" y="10388600"/>
                  </a:lnTo>
                  <a:cubicBezTo>
                    <a:pt x="10901680" y="10402570"/>
                    <a:pt x="10890250" y="10414000"/>
                    <a:pt x="10876280" y="10414000"/>
                  </a:cubicBezTo>
                  <a:lnTo>
                    <a:pt x="25400" y="10414000"/>
                  </a:lnTo>
                  <a:cubicBezTo>
                    <a:pt x="11430" y="10414000"/>
                    <a:pt x="0" y="10402570"/>
                    <a:pt x="0" y="103886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0388600"/>
                  </a:lnTo>
                  <a:lnTo>
                    <a:pt x="25400" y="10388600"/>
                  </a:lnTo>
                  <a:lnTo>
                    <a:pt x="25400" y="10363200"/>
                  </a:lnTo>
                  <a:lnTo>
                    <a:pt x="10876280" y="10363200"/>
                  </a:lnTo>
                  <a:lnTo>
                    <a:pt x="10876280" y="10388600"/>
                  </a:lnTo>
                  <a:lnTo>
                    <a:pt x="10850880" y="10388600"/>
                  </a:lnTo>
                  <a:lnTo>
                    <a:pt x="10850880" y="25400"/>
                  </a:lnTo>
                  <a:lnTo>
                    <a:pt x="10876280" y="25400"/>
                  </a:lnTo>
                  <a:lnTo>
                    <a:pt x="108762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D64045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588503" y="1998983"/>
            <a:ext cx="8163563" cy="903227"/>
            <a:chOff x="0" y="0"/>
            <a:chExt cx="10884751" cy="120430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0850881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850881">
                  <a:moveTo>
                    <a:pt x="0" y="0"/>
                  </a:moveTo>
                  <a:lnTo>
                    <a:pt x="10850881" y="0"/>
                  </a:lnTo>
                  <a:lnTo>
                    <a:pt x="10850881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D64045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884662" cy="1204216"/>
            </a:xfrm>
            <a:custGeom>
              <a:avLst/>
              <a:gdLst/>
              <a:ahLst/>
              <a:cxnLst/>
              <a:rect r="r" b="b" t="t" l="l"/>
              <a:pathLst>
                <a:path h="1204216" w="10884662">
                  <a:moveTo>
                    <a:pt x="16891" y="0"/>
                  </a:moveTo>
                  <a:lnTo>
                    <a:pt x="10867772" y="0"/>
                  </a:lnTo>
                  <a:cubicBezTo>
                    <a:pt x="10877169" y="0"/>
                    <a:pt x="10884662" y="7620"/>
                    <a:pt x="10884662" y="16891"/>
                  </a:cubicBezTo>
                  <a:lnTo>
                    <a:pt x="10884662" y="1187323"/>
                  </a:lnTo>
                  <a:cubicBezTo>
                    <a:pt x="10884662" y="1196721"/>
                    <a:pt x="10877042" y="1204214"/>
                    <a:pt x="10867772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0867772" y="1170432"/>
                  </a:lnTo>
                  <a:lnTo>
                    <a:pt x="10867772" y="1187323"/>
                  </a:lnTo>
                  <a:lnTo>
                    <a:pt x="10850880" y="1187323"/>
                  </a:lnTo>
                  <a:lnTo>
                    <a:pt x="10850880" y="16891"/>
                  </a:lnTo>
                  <a:lnTo>
                    <a:pt x="10867772" y="16891"/>
                  </a:lnTo>
                  <a:lnTo>
                    <a:pt x="108677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64045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601200" y="2011680"/>
            <a:ext cx="8138160" cy="877824"/>
            <a:chOff x="0" y="0"/>
            <a:chExt cx="10850880" cy="117043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85088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642" r="0" b="-13064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1085088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  Works Less Well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875520" y="3108960"/>
            <a:ext cx="548640" cy="548640"/>
            <a:chOff x="0" y="0"/>
            <a:chExt cx="731520" cy="731520"/>
          </a:xfrm>
        </p:grpSpPr>
        <p:sp>
          <p:nvSpPr>
            <p:cNvPr name="Freeform 54" id="54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0607040" y="3017520"/>
            <a:ext cx="6766560" cy="1133856"/>
            <a:chOff x="0" y="0"/>
            <a:chExt cx="9022080" cy="151180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0220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281" r="0" b="-66281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9022080" cy="1559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7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Real-world photos with varied backgrounds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875520" y="4352544"/>
            <a:ext cx="548640" cy="548640"/>
            <a:chOff x="0" y="0"/>
            <a:chExt cx="731520" cy="731520"/>
          </a:xfrm>
        </p:grpSpPr>
        <p:sp>
          <p:nvSpPr>
            <p:cNvPr name="Freeform 59" id="59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0607040" y="4261104"/>
            <a:ext cx="6766560" cy="1133856"/>
            <a:chOff x="0" y="0"/>
            <a:chExt cx="9022080" cy="151180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0220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281" r="0" b="-66281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9022080" cy="1559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7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Low-light or overexposed images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875520" y="5596128"/>
            <a:ext cx="548640" cy="548640"/>
            <a:chOff x="0" y="0"/>
            <a:chExt cx="731520" cy="731520"/>
          </a:xfrm>
        </p:grpSpPr>
        <p:sp>
          <p:nvSpPr>
            <p:cNvPr name="Freeform 64" id="64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0607040" y="5504688"/>
            <a:ext cx="6766560" cy="1133856"/>
            <a:chOff x="0" y="0"/>
            <a:chExt cx="9022080" cy="151180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0220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281" r="0" b="-6628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9022080" cy="1559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7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Heavily worn, old, or scratched coins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875520" y="6839712"/>
            <a:ext cx="548640" cy="548640"/>
            <a:chOff x="0" y="0"/>
            <a:chExt cx="731520" cy="731520"/>
          </a:xfrm>
        </p:grpSpPr>
        <p:sp>
          <p:nvSpPr>
            <p:cNvPr name="Freeform 69" id="69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0607040" y="6748272"/>
            <a:ext cx="6766560" cy="1133856"/>
            <a:chOff x="0" y="0"/>
            <a:chExt cx="9022080" cy="151180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0220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281" r="0" b="-6628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9022080" cy="1559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7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Tilted or partially visible coins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875520" y="8083296"/>
            <a:ext cx="548640" cy="548640"/>
            <a:chOff x="0" y="0"/>
            <a:chExt cx="731520" cy="731520"/>
          </a:xfrm>
        </p:grpSpPr>
        <p:sp>
          <p:nvSpPr>
            <p:cNvPr name="Freeform 74" id="74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0607040" y="7991856"/>
            <a:ext cx="6766560" cy="1133856"/>
            <a:chOff x="0" y="0"/>
            <a:chExt cx="9022080" cy="151180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0220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281" r="0" b="-66281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9022080" cy="1559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7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₹2 — consistently weakest (F1: 0.36)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D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182880"/>
            <a:ext cx="16824960" cy="1463040"/>
            <a:chOff x="0" y="0"/>
            <a:chExt cx="22433280" cy="1950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4077" r="0" b="-17407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2433280" cy="1950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Deep Dive: Why ₹2 is the Hardest to Classify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2103120"/>
            <a:ext cx="4572000" cy="4572000"/>
            <a:chOff x="0" y="0"/>
            <a:chExt cx="6096000" cy="609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6096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546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31520" y="6675120"/>
            <a:ext cx="4572000" cy="640080"/>
            <a:chOff x="0" y="0"/>
            <a:chExt cx="6096000" cy="8534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096000" cy="853440"/>
            </a:xfrm>
            <a:custGeom>
              <a:avLst/>
              <a:gdLst/>
              <a:ahLst/>
              <a:cxnLst/>
              <a:rect r="r" b="b" t="t" l="l"/>
              <a:pathLst>
                <a:path h="85344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60960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i="true">
                  <a:solidFill>
                    <a:srgbClr val="8896A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₹2 Rupee Coin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833110" y="2084070"/>
            <a:ext cx="5890260" cy="3421380"/>
            <a:chOff x="0" y="0"/>
            <a:chExt cx="7853680" cy="4561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25400" y="25400"/>
              <a:ext cx="7802880" cy="4511040"/>
            </a:xfrm>
            <a:custGeom>
              <a:avLst/>
              <a:gdLst/>
              <a:ahLst/>
              <a:cxnLst/>
              <a:rect r="r" b="b" t="t" l="l"/>
              <a:pathLst>
                <a:path h="451104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853680" cy="4561840"/>
            </a:xfrm>
            <a:custGeom>
              <a:avLst/>
              <a:gdLst/>
              <a:ahLst/>
              <a:cxnLst/>
              <a:rect r="r" b="b" t="t" l="l"/>
              <a:pathLst>
                <a:path h="4561840" w="7853680">
                  <a:moveTo>
                    <a:pt x="25400" y="0"/>
                  </a:moveTo>
                  <a:lnTo>
                    <a:pt x="7828280" y="0"/>
                  </a:lnTo>
                  <a:cubicBezTo>
                    <a:pt x="7842250" y="0"/>
                    <a:pt x="7853680" y="11430"/>
                    <a:pt x="7853680" y="25400"/>
                  </a:cubicBezTo>
                  <a:lnTo>
                    <a:pt x="7853680" y="4536440"/>
                  </a:lnTo>
                  <a:cubicBezTo>
                    <a:pt x="7853680" y="4550410"/>
                    <a:pt x="7842250" y="4561840"/>
                    <a:pt x="7828280" y="4561840"/>
                  </a:cubicBezTo>
                  <a:lnTo>
                    <a:pt x="25400" y="4561840"/>
                  </a:lnTo>
                  <a:cubicBezTo>
                    <a:pt x="11430" y="4561840"/>
                    <a:pt x="0" y="4550410"/>
                    <a:pt x="0" y="45364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536440"/>
                  </a:lnTo>
                  <a:lnTo>
                    <a:pt x="25400" y="4536440"/>
                  </a:lnTo>
                  <a:lnTo>
                    <a:pt x="25400" y="4511040"/>
                  </a:lnTo>
                  <a:lnTo>
                    <a:pt x="7828280" y="4511040"/>
                  </a:lnTo>
                  <a:lnTo>
                    <a:pt x="7828280" y="4536440"/>
                  </a:lnTo>
                  <a:lnTo>
                    <a:pt x="7802880" y="4536440"/>
                  </a:lnTo>
                  <a:lnTo>
                    <a:pt x="7802880" y="25400"/>
                  </a:lnTo>
                  <a:lnTo>
                    <a:pt x="7828280" y="25400"/>
                  </a:lnTo>
                  <a:lnTo>
                    <a:pt x="78282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D64045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839463" y="2090423"/>
            <a:ext cx="5877563" cy="756923"/>
            <a:chOff x="0" y="0"/>
            <a:chExt cx="7836751" cy="100923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6891" y="16891"/>
              <a:ext cx="7802881" cy="975360"/>
            </a:xfrm>
            <a:custGeom>
              <a:avLst/>
              <a:gdLst/>
              <a:ahLst/>
              <a:cxnLst/>
              <a:rect r="r" b="b" t="t" l="l"/>
              <a:pathLst>
                <a:path h="975360" w="7802881">
                  <a:moveTo>
                    <a:pt x="0" y="0"/>
                  </a:moveTo>
                  <a:lnTo>
                    <a:pt x="7802881" y="0"/>
                  </a:lnTo>
                  <a:lnTo>
                    <a:pt x="7802881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D64045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836662" cy="1009144"/>
            </a:xfrm>
            <a:custGeom>
              <a:avLst/>
              <a:gdLst/>
              <a:ahLst/>
              <a:cxnLst/>
              <a:rect r="r" b="b" t="t" l="l"/>
              <a:pathLst>
                <a:path h="1009144" w="7836662">
                  <a:moveTo>
                    <a:pt x="16891" y="0"/>
                  </a:moveTo>
                  <a:lnTo>
                    <a:pt x="7819772" y="0"/>
                  </a:lnTo>
                  <a:cubicBezTo>
                    <a:pt x="7829169" y="0"/>
                    <a:pt x="7836662" y="7620"/>
                    <a:pt x="7836662" y="16891"/>
                  </a:cubicBezTo>
                  <a:lnTo>
                    <a:pt x="7836662" y="992251"/>
                  </a:lnTo>
                  <a:cubicBezTo>
                    <a:pt x="7836662" y="1001649"/>
                    <a:pt x="7829042" y="1009142"/>
                    <a:pt x="7819772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7819772" y="975360"/>
                  </a:lnTo>
                  <a:lnTo>
                    <a:pt x="7819772" y="992251"/>
                  </a:lnTo>
                  <a:lnTo>
                    <a:pt x="7802880" y="992251"/>
                  </a:lnTo>
                  <a:lnTo>
                    <a:pt x="7802880" y="16891"/>
                  </a:lnTo>
                  <a:lnTo>
                    <a:pt x="7819772" y="16891"/>
                  </a:lnTo>
                  <a:lnTo>
                    <a:pt x="78197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64045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5852160" y="2103120"/>
            <a:ext cx="5852160" cy="731520"/>
            <a:chOff x="0" y="0"/>
            <a:chExt cx="7802880" cy="975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802880" cy="975360"/>
            </a:xfrm>
            <a:custGeom>
              <a:avLst/>
              <a:gdLst/>
              <a:ahLst/>
              <a:cxnLst/>
              <a:rect r="r" b="b" t="t" l="l"/>
              <a:pathLst>
                <a:path h="97536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780288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Similar Size to ₹1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035040" y="2926080"/>
            <a:ext cx="5486400" cy="2377440"/>
            <a:chOff x="0" y="0"/>
            <a:chExt cx="7315200" cy="31699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3152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598" t="0" r="-5598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7315200" cy="3217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Both coins are close in physical diameter, making the diameter_ratio feature a weak discriminator between these two classes.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051030" y="2084070"/>
            <a:ext cx="5890260" cy="3421380"/>
            <a:chOff x="0" y="0"/>
            <a:chExt cx="7853680" cy="45618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25400" y="25400"/>
              <a:ext cx="7802880" cy="4511040"/>
            </a:xfrm>
            <a:custGeom>
              <a:avLst/>
              <a:gdLst/>
              <a:ahLst/>
              <a:cxnLst/>
              <a:rect r="r" b="b" t="t" l="l"/>
              <a:pathLst>
                <a:path h="451104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853680" cy="4561840"/>
            </a:xfrm>
            <a:custGeom>
              <a:avLst/>
              <a:gdLst/>
              <a:ahLst/>
              <a:cxnLst/>
              <a:rect r="r" b="b" t="t" l="l"/>
              <a:pathLst>
                <a:path h="4561840" w="7853680">
                  <a:moveTo>
                    <a:pt x="25400" y="0"/>
                  </a:moveTo>
                  <a:lnTo>
                    <a:pt x="7828280" y="0"/>
                  </a:lnTo>
                  <a:cubicBezTo>
                    <a:pt x="7842250" y="0"/>
                    <a:pt x="7853680" y="11430"/>
                    <a:pt x="7853680" y="25400"/>
                  </a:cubicBezTo>
                  <a:lnTo>
                    <a:pt x="7853680" y="4536440"/>
                  </a:lnTo>
                  <a:cubicBezTo>
                    <a:pt x="7853680" y="4550410"/>
                    <a:pt x="7842250" y="4561840"/>
                    <a:pt x="7828280" y="4561840"/>
                  </a:cubicBezTo>
                  <a:lnTo>
                    <a:pt x="25400" y="4561840"/>
                  </a:lnTo>
                  <a:cubicBezTo>
                    <a:pt x="11430" y="4561840"/>
                    <a:pt x="0" y="4550410"/>
                    <a:pt x="0" y="45364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536440"/>
                  </a:lnTo>
                  <a:lnTo>
                    <a:pt x="25400" y="4536440"/>
                  </a:lnTo>
                  <a:lnTo>
                    <a:pt x="25400" y="4511040"/>
                  </a:lnTo>
                  <a:lnTo>
                    <a:pt x="7828280" y="4511040"/>
                  </a:lnTo>
                  <a:lnTo>
                    <a:pt x="7828280" y="4536440"/>
                  </a:lnTo>
                  <a:lnTo>
                    <a:pt x="7802880" y="4536440"/>
                  </a:lnTo>
                  <a:lnTo>
                    <a:pt x="7802880" y="25400"/>
                  </a:lnTo>
                  <a:lnTo>
                    <a:pt x="7828280" y="25400"/>
                  </a:lnTo>
                  <a:lnTo>
                    <a:pt x="78282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D64045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057383" y="2090423"/>
            <a:ext cx="5877563" cy="756923"/>
            <a:chOff x="0" y="0"/>
            <a:chExt cx="7836751" cy="100923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7802881" cy="975360"/>
            </a:xfrm>
            <a:custGeom>
              <a:avLst/>
              <a:gdLst/>
              <a:ahLst/>
              <a:cxnLst/>
              <a:rect r="r" b="b" t="t" l="l"/>
              <a:pathLst>
                <a:path h="975360" w="7802881">
                  <a:moveTo>
                    <a:pt x="0" y="0"/>
                  </a:moveTo>
                  <a:lnTo>
                    <a:pt x="7802881" y="0"/>
                  </a:lnTo>
                  <a:lnTo>
                    <a:pt x="7802881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D64045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836662" cy="1009144"/>
            </a:xfrm>
            <a:custGeom>
              <a:avLst/>
              <a:gdLst/>
              <a:ahLst/>
              <a:cxnLst/>
              <a:rect r="r" b="b" t="t" l="l"/>
              <a:pathLst>
                <a:path h="1009144" w="7836662">
                  <a:moveTo>
                    <a:pt x="16891" y="0"/>
                  </a:moveTo>
                  <a:lnTo>
                    <a:pt x="7819772" y="0"/>
                  </a:lnTo>
                  <a:cubicBezTo>
                    <a:pt x="7829169" y="0"/>
                    <a:pt x="7836662" y="7620"/>
                    <a:pt x="7836662" y="16891"/>
                  </a:cubicBezTo>
                  <a:lnTo>
                    <a:pt x="7836662" y="992251"/>
                  </a:lnTo>
                  <a:cubicBezTo>
                    <a:pt x="7836662" y="1001649"/>
                    <a:pt x="7829042" y="1009142"/>
                    <a:pt x="7819772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7819772" y="975360"/>
                  </a:lnTo>
                  <a:lnTo>
                    <a:pt x="7819772" y="992251"/>
                  </a:lnTo>
                  <a:lnTo>
                    <a:pt x="7802880" y="992251"/>
                  </a:lnTo>
                  <a:lnTo>
                    <a:pt x="7802880" y="16891"/>
                  </a:lnTo>
                  <a:lnTo>
                    <a:pt x="7819772" y="16891"/>
                  </a:lnTo>
                  <a:lnTo>
                    <a:pt x="78197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64045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070080" y="2103120"/>
            <a:ext cx="5852160" cy="731520"/>
            <a:chOff x="0" y="0"/>
            <a:chExt cx="7802880" cy="9753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802880" cy="975360"/>
            </a:xfrm>
            <a:custGeom>
              <a:avLst/>
              <a:gdLst/>
              <a:ahLst/>
              <a:cxnLst/>
              <a:rect r="r" b="b" t="t" l="l"/>
              <a:pathLst>
                <a:path h="97536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780288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Scalloped Edge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252960" y="2926080"/>
            <a:ext cx="5486400" cy="2377440"/>
            <a:chOff x="0" y="0"/>
            <a:chExt cx="7315200" cy="31699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3152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598" t="0" r="-5598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7315200" cy="3217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₹2's distinctive wavy edge should help, but Circular Hough Transform treats it as a circle — losing the edge shape information.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833110" y="5833110"/>
            <a:ext cx="5890260" cy="3421380"/>
            <a:chOff x="0" y="0"/>
            <a:chExt cx="7853680" cy="45618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25400" y="25400"/>
              <a:ext cx="7802880" cy="4511040"/>
            </a:xfrm>
            <a:custGeom>
              <a:avLst/>
              <a:gdLst/>
              <a:ahLst/>
              <a:cxnLst/>
              <a:rect r="r" b="b" t="t" l="l"/>
              <a:pathLst>
                <a:path h="451104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853680" cy="4561840"/>
            </a:xfrm>
            <a:custGeom>
              <a:avLst/>
              <a:gdLst/>
              <a:ahLst/>
              <a:cxnLst/>
              <a:rect r="r" b="b" t="t" l="l"/>
              <a:pathLst>
                <a:path h="4561840" w="7853680">
                  <a:moveTo>
                    <a:pt x="25400" y="0"/>
                  </a:moveTo>
                  <a:lnTo>
                    <a:pt x="7828280" y="0"/>
                  </a:lnTo>
                  <a:cubicBezTo>
                    <a:pt x="7842250" y="0"/>
                    <a:pt x="7853680" y="11430"/>
                    <a:pt x="7853680" y="25400"/>
                  </a:cubicBezTo>
                  <a:lnTo>
                    <a:pt x="7853680" y="4536440"/>
                  </a:lnTo>
                  <a:cubicBezTo>
                    <a:pt x="7853680" y="4550410"/>
                    <a:pt x="7842250" y="4561840"/>
                    <a:pt x="7828280" y="4561840"/>
                  </a:cubicBezTo>
                  <a:lnTo>
                    <a:pt x="25400" y="4561840"/>
                  </a:lnTo>
                  <a:cubicBezTo>
                    <a:pt x="11430" y="4561840"/>
                    <a:pt x="0" y="4550410"/>
                    <a:pt x="0" y="45364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536440"/>
                  </a:lnTo>
                  <a:lnTo>
                    <a:pt x="25400" y="4536440"/>
                  </a:lnTo>
                  <a:lnTo>
                    <a:pt x="25400" y="4511040"/>
                  </a:lnTo>
                  <a:lnTo>
                    <a:pt x="7828280" y="4511040"/>
                  </a:lnTo>
                  <a:lnTo>
                    <a:pt x="7828280" y="4536440"/>
                  </a:lnTo>
                  <a:lnTo>
                    <a:pt x="7802880" y="4536440"/>
                  </a:lnTo>
                  <a:lnTo>
                    <a:pt x="7802880" y="25400"/>
                  </a:lnTo>
                  <a:lnTo>
                    <a:pt x="7828280" y="25400"/>
                  </a:lnTo>
                  <a:lnTo>
                    <a:pt x="78282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D64045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839463" y="5839463"/>
            <a:ext cx="5877563" cy="756923"/>
            <a:chOff x="0" y="0"/>
            <a:chExt cx="7836751" cy="100923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6891" y="16891"/>
              <a:ext cx="7802881" cy="975360"/>
            </a:xfrm>
            <a:custGeom>
              <a:avLst/>
              <a:gdLst/>
              <a:ahLst/>
              <a:cxnLst/>
              <a:rect r="r" b="b" t="t" l="l"/>
              <a:pathLst>
                <a:path h="975360" w="7802881">
                  <a:moveTo>
                    <a:pt x="0" y="0"/>
                  </a:moveTo>
                  <a:lnTo>
                    <a:pt x="7802881" y="0"/>
                  </a:lnTo>
                  <a:lnTo>
                    <a:pt x="7802881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D64045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836662" cy="1009144"/>
            </a:xfrm>
            <a:custGeom>
              <a:avLst/>
              <a:gdLst/>
              <a:ahLst/>
              <a:cxnLst/>
              <a:rect r="r" b="b" t="t" l="l"/>
              <a:pathLst>
                <a:path h="1009144" w="7836662">
                  <a:moveTo>
                    <a:pt x="16891" y="0"/>
                  </a:moveTo>
                  <a:lnTo>
                    <a:pt x="7819772" y="0"/>
                  </a:lnTo>
                  <a:cubicBezTo>
                    <a:pt x="7829169" y="0"/>
                    <a:pt x="7836662" y="7620"/>
                    <a:pt x="7836662" y="16891"/>
                  </a:cubicBezTo>
                  <a:lnTo>
                    <a:pt x="7836662" y="992251"/>
                  </a:lnTo>
                  <a:cubicBezTo>
                    <a:pt x="7836662" y="1001649"/>
                    <a:pt x="7829042" y="1009142"/>
                    <a:pt x="7819772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7819772" y="975360"/>
                  </a:lnTo>
                  <a:lnTo>
                    <a:pt x="7819772" y="992251"/>
                  </a:lnTo>
                  <a:lnTo>
                    <a:pt x="7802880" y="992251"/>
                  </a:lnTo>
                  <a:lnTo>
                    <a:pt x="7802880" y="16891"/>
                  </a:lnTo>
                  <a:lnTo>
                    <a:pt x="7819772" y="16891"/>
                  </a:lnTo>
                  <a:lnTo>
                    <a:pt x="78197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64045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5852160" y="5852160"/>
            <a:ext cx="5852160" cy="731520"/>
            <a:chOff x="0" y="0"/>
            <a:chExt cx="7802880" cy="9753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802880" cy="975360"/>
            </a:xfrm>
            <a:custGeom>
              <a:avLst/>
              <a:gdLst/>
              <a:ahLst/>
              <a:cxnLst/>
              <a:rect r="r" b="b" t="t" l="l"/>
              <a:pathLst>
                <a:path h="97536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780288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Color Overlap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6035040" y="6675120"/>
            <a:ext cx="5486400" cy="2377440"/>
            <a:chOff x="0" y="0"/>
            <a:chExt cx="7315200" cy="31699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3152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598" t="0" r="-5598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7315200" cy="3217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Both ₹1 (steel) and ₹2 (cupro-nickel) appear silver-toned. The HSV histogram cannot reliably separate them.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051030" y="5833110"/>
            <a:ext cx="5890260" cy="3421380"/>
            <a:chOff x="0" y="0"/>
            <a:chExt cx="7853680" cy="45618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25400" y="25400"/>
              <a:ext cx="7802880" cy="4511040"/>
            </a:xfrm>
            <a:custGeom>
              <a:avLst/>
              <a:gdLst/>
              <a:ahLst/>
              <a:cxnLst/>
              <a:rect r="r" b="b" t="t" l="l"/>
              <a:pathLst>
                <a:path h="451104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853680" cy="4561840"/>
            </a:xfrm>
            <a:custGeom>
              <a:avLst/>
              <a:gdLst/>
              <a:ahLst/>
              <a:cxnLst/>
              <a:rect r="r" b="b" t="t" l="l"/>
              <a:pathLst>
                <a:path h="4561840" w="7853680">
                  <a:moveTo>
                    <a:pt x="25400" y="0"/>
                  </a:moveTo>
                  <a:lnTo>
                    <a:pt x="7828280" y="0"/>
                  </a:lnTo>
                  <a:cubicBezTo>
                    <a:pt x="7842250" y="0"/>
                    <a:pt x="7853680" y="11430"/>
                    <a:pt x="7853680" y="25400"/>
                  </a:cubicBezTo>
                  <a:lnTo>
                    <a:pt x="7853680" y="4536440"/>
                  </a:lnTo>
                  <a:cubicBezTo>
                    <a:pt x="7853680" y="4550410"/>
                    <a:pt x="7842250" y="4561840"/>
                    <a:pt x="7828280" y="4561840"/>
                  </a:cubicBezTo>
                  <a:lnTo>
                    <a:pt x="25400" y="4561840"/>
                  </a:lnTo>
                  <a:cubicBezTo>
                    <a:pt x="11430" y="4561840"/>
                    <a:pt x="0" y="4550410"/>
                    <a:pt x="0" y="45364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536440"/>
                  </a:lnTo>
                  <a:lnTo>
                    <a:pt x="25400" y="4536440"/>
                  </a:lnTo>
                  <a:lnTo>
                    <a:pt x="25400" y="4511040"/>
                  </a:lnTo>
                  <a:lnTo>
                    <a:pt x="7828280" y="4511040"/>
                  </a:lnTo>
                  <a:lnTo>
                    <a:pt x="7828280" y="4536440"/>
                  </a:lnTo>
                  <a:lnTo>
                    <a:pt x="7802880" y="4536440"/>
                  </a:lnTo>
                  <a:lnTo>
                    <a:pt x="7802880" y="25400"/>
                  </a:lnTo>
                  <a:lnTo>
                    <a:pt x="7828280" y="25400"/>
                  </a:lnTo>
                  <a:lnTo>
                    <a:pt x="78282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D64045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2057383" y="5839463"/>
            <a:ext cx="5877563" cy="756923"/>
            <a:chOff x="0" y="0"/>
            <a:chExt cx="7836751" cy="100923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16891" y="16891"/>
              <a:ext cx="7802881" cy="975360"/>
            </a:xfrm>
            <a:custGeom>
              <a:avLst/>
              <a:gdLst/>
              <a:ahLst/>
              <a:cxnLst/>
              <a:rect r="r" b="b" t="t" l="l"/>
              <a:pathLst>
                <a:path h="975360" w="7802881">
                  <a:moveTo>
                    <a:pt x="0" y="0"/>
                  </a:moveTo>
                  <a:lnTo>
                    <a:pt x="7802881" y="0"/>
                  </a:lnTo>
                  <a:lnTo>
                    <a:pt x="7802881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D64045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836662" cy="1009144"/>
            </a:xfrm>
            <a:custGeom>
              <a:avLst/>
              <a:gdLst/>
              <a:ahLst/>
              <a:cxnLst/>
              <a:rect r="r" b="b" t="t" l="l"/>
              <a:pathLst>
                <a:path h="1009144" w="7836662">
                  <a:moveTo>
                    <a:pt x="16891" y="0"/>
                  </a:moveTo>
                  <a:lnTo>
                    <a:pt x="7819772" y="0"/>
                  </a:lnTo>
                  <a:cubicBezTo>
                    <a:pt x="7829169" y="0"/>
                    <a:pt x="7836662" y="7620"/>
                    <a:pt x="7836662" y="16891"/>
                  </a:cubicBezTo>
                  <a:lnTo>
                    <a:pt x="7836662" y="992251"/>
                  </a:lnTo>
                  <a:cubicBezTo>
                    <a:pt x="7836662" y="1001649"/>
                    <a:pt x="7829042" y="1009142"/>
                    <a:pt x="7819772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7819772" y="975360"/>
                  </a:lnTo>
                  <a:lnTo>
                    <a:pt x="7819772" y="992251"/>
                  </a:lnTo>
                  <a:lnTo>
                    <a:pt x="7802880" y="992251"/>
                  </a:lnTo>
                  <a:lnTo>
                    <a:pt x="7802880" y="16891"/>
                  </a:lnTo>
                  <a:lnTo>
                    <a:pt x="7819772" y="16891"/>
                  </a:lnTo>
                  <a:lnTo>
                    <a:pt x="78197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64045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2070080" y="5852160"/>
            <a:ext cx="5852160" cy="731520"/>
            <a:chOff x="0" y="0"/>
            <a:chExt cx="7802880" cy="9753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802880" cy="975360"/>
            </a:xfrm>
            <a:custGeom>
              <a:avLst/>
              <a:gdLst/>
              <a:ahLst/>
              <a:cxnLst/>
              <a:rect r="r" b="b" t="t" l="l"/>
              <a:pathLst>
                <a:path h="97536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780288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Fewer Samples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2252960" y="6675120"/>
            <a:ext cx="5486400" cy="2377440"/>
            <a:chOff x="0" y="0"/>
            <a:chExt cx="7315200" cy="31699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3152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598" t="0" r="-5598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7315200" cy="3217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₹2 has only 24 test samples — the smallest support, making evaluation noisy and the class more prone to underfitting.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48640" y="274320"/>
            <a:ext cx="1097280" cy="1097280"/>
            <a:chOff x="0" y="0"/>
            <a:chExt cx="1463040" cy="1463040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2011680" y="182880"/>
            <a:ext cx="15544800" cy="1463040"/>
            <a:chOff x="0" y="0"/>
            <a:chExt cx="20726400" cy="19507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26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028" r="0" b="-15702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726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Future Improvements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29590" y="2084070"/>
            <a:ext cx="5615940" cy="3604260"/>
            <a:chOff x="0" y="0"/>
            <a:chExt cx="7487920" cy="48056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25400" y="25400"/>
              <a:ext cx="7437120" cy="4754880"/>
            </a:xfrm>
            <a:custGeom>
              <a:avLst/>
              <a:gdLst/>
              <a:ahLst/>
              <a:cxnLst/>
              <a:rect r="r" b="b" t="t" l="l"/>
              <a:pathLst>
                <a:path h="475488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F0EDE5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487920" cy="4805680"/>
            </a:xfrm>
            <a:custGeom>
              <a:avLst/>
              <a:gdLst/>
              <a:ahLst/>
              <a:cxnLst/>
              <a:rect r="r" b="b" t="t" l="l"/>
              <a:pathLst>
                <a:path h="4805680" w="7487920">
                  <a:moveTo>
                    <a:pt x="25400" y="0"/>
                  </a:moveTo>
                  <a:lnTo>
                    <a:pt x="7462520" y="0"/>
                  </a:lnTo>
                  <a:cubicBezTo>
                    <a:pt x="7476489" y="0"/>
                    <a:pt x="7487920" y="11430"/>
                    <a:pt x="7487920" y="25400"/>
                  </a:cubicBezTo>
                  <a:lnTo>
                    <a:pt x="7487920" y="4780280"/>
                  </a:lnTo>
                  <a:cubicBezTo>
                    <a:pt x="7487920" y="4794250"/>
                    <a:pt x="7476489" y="4805680"/>
                    <a:pt x="7462520" y="4805680"/>
                  </a:cubicBezTo>
                  <a:lnTo>
                    <a:pt x="25400" y="4805680"/>
                  </a:lnTo>
                  <a:cubicBezTo>
                    <a:pt x="11430" y="4805680"/>
                    <a:pt x="0" y="4794250"/>
                    <a:pt x="0" y="47802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780280"/>
                  </a:lnTo>
                  <a:lnTo>
                    <a:pt x="25400" y="4780280"/>
                  </a:lnTo>
                  <a:lnTo>
                    <a:pt x="25400" y="4754880"/>
                  </a:lnTo>
                  <a:lnTo>
                    <a:pt x="7462520" y="4754880"/>
                  </a:lnTo>
                  <a:lnTo>
                    <a:pt x="7462520" y="4780280"/>
                  </a:lnTo>
                  <a:lnTo>
                    <a:pt x="7437120" y="4780280"/>
                  </a:lnTo>
                  <a:lnTo>
                    <a:pt x="7437120" y="25400"/>
                  </a:lnTo>
                  <a:lnTo>
                    <a:pt x="7462520" y="25400"/>
                  </a:lnTo>
                  <a:lnTo>
                    <a:pt x="74625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48640" y="2103120"/>
            <a:ext cx="1005840" cy="1005840"/>
            <a:chOff x="0" y="0"/>
            <a:chExt cx="1341120" cy="13411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34112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C9A84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559303" y="2090423"/>
            <a:ext cx="1579883" cy="665483"/>
            <a:chOff x="0" y="0"/>
            <a:chExt cx="2106511" cy="88731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6891" y="16891"/>
              <a:ext cx="2072640" cy="853440"/>
            </a:xfrm>
            <a:custGeom>
              <a:avLst/>
              <a:gdLst/>
              <a:ahLst/>
              <a:cxnLst/>
              <a:rect r="r" b="b" t="t" l="l"/>
              <a:pathLst>
                <a:path h="8534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06422" cy="887224"/>
            </a:xfrm>
            <a:custGeom>
              <a:avLst/>
              <a:gdLst/>
              <a:ahLst/>
              <a:cxnLst/>
              <a:rect r="r" b="b" t="t" l="l"/>
              <a:pathLst>
                <a:path h="887224" w="2106422">
                  <a:moveTo>
                    <a:pt x="16891" y="0"/>
                  </a:moveTo>
                  <a:lnTo>
                    <a:pt x="2089531" y="0"/>
                  </a:lnTo>
                  <a:cubicBezTo>
                    <a:pt x="2098929" y="0"/>
                    <a:pt x="2106422" y="7620"/>
                    <a:pt x="2106422" y="16891"/>
                  </a:cubicBezTo>
                  <a:lnTo>
                    <a:pt x="2106422" y="870331"/>
                  </a:lnTo>
                  <a:cubicBezTo>
                    <a:pt x="2106422" y="879729"/>
                    <a:pt x="2098802" y="887222"/>
                    <a:pt x="2089531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2089531" y="853440"/>
                  </a:lnTo>
                  <a:lnTo>
                    <a:pt x="2089531" y="870331"/>
                  </a:lnTo>
                  <a:lnTo>
                    <a:pt x="2072640" y="870331"/>
                  </a:lnTo>
                  <a:lnTo>
                    <a:pt x="2072640" y="16891"/>
                  </a:lnTo>
                  <a:lnTo>
                    <a:pt x="2089531" y="16891"/>
                  </a:lnTo>
                  <a:lnTo>
                    <a:pt x="2089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4572000" y="2103120"/>
            <a:ext cx="1554480" cy="640080"/>
            <a:chOff x="0" y="0"/>
            <a:chExt cx="2072640" cy="8534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72640" cy="853440"/>
            </a:xfrm>
            <a:custGeom>
              <a:avLst/>
              <a:gdLst/>
              <a:ahLst/>
              <a:cxnLst/>
              <a:rect r="r" b="b" t="t" l="l"/>
              <a:pathLst>
                <a:path h="8534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30" t="0" r="-283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2072640" cy="882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C9A8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Robustness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31520" y="3108960"/>
            <a:ext cx="5212080" cy="731520"/>
            <a:chOff x="0" y="0"/>
            <a:chExt cx="6949440" cy="9753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949440" cy="975360"/>
            </a:xfrm>
            <a:custGeom>
              <a:avLst/>
              <a:gdLst/>
              <a:ahLst/>
              <a:cxnLst/>
              <a:rect r="r" b="b" t="t" l="l"/>
              <a:pathLst>
                <a:path h="97536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830" r="0" b="-8883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694944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Better Segmentation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31520" y="3840480"/>
            <a:ext cx="5212080" cy="1700784"/>
            <a:chOff x="0" y="0"/>
            <a:chExt cx="6949440" cy="226771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949440" cy="2267712"/>
            </a:xfrm>
            <a:custGeom>
              <a:avLst/>
              <a:gdLst/>
              <a:ahLst/>
              <a:cxnLst/>
              <a:rect r="r" b="b" t="t" l="l"/>
              <a:pathLst>
                <a:path h="2267712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2267712"/>
                  </a:lnTo>
                  <a:lnTo>
                    <a:pt x="0" y="22677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12" r="0" b="-971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6949440" cy="23058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896A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Replace Circular Hough Transform with a learned segmentation model (e.g. SAM or GrabCut) to handle worn coins, tilted angles, and non-circular shapes like ₹2's scalloped edge.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381750" y="2084070"/>
            <a:ext cx="5615940" cy="3604260"/>
            <a:chOff x="0" y="0"/>
            <a:chExt cx="7487920" cy="48056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25400" y="25400"/>
              <a:ext cx="7437120" cy="4754880"/>
            </a:xfrm>
            <a:custGeom>
              <a:avLst/>
              <a:gdLst/>
              <a:ahLst/>
              <a:cxnLst/>
              <a:rect r="r" b="b" t="t" l="l"/>
              <a:pathLst>
                <a:path h="475488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F0EDE5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487920" cy="4805680"/>
            </a:xfrm>
            <a:custGeom>
              <a:avLst/>
              <a:gdLst/>
              <a:ahLst/>
              <a:cxnLst/>
              <a:rect r="r" b="b" t="t" l="l"/>
              <a:pathLst>
                <a:path h="4805680" w="7487920">
                  <a:moveTo>
                    <a:pt x="25400" y="0"/>
                  </a:moveTo>
                  <a:lnTo>
                    <a:pt x="7462520" y="0"/>
                  </a:lnTo>
                  <a:cubicBezTo>
                    <a:pt x="7476489" y="0"/>
                    <a:pt x="7487920" y="11430"/>
                    <a:pt x="7487920" y="25400"/>
                  </a:cubicBezTo>
                  <a:lnTo>
                    <a:pt x="7487920" y="4780280"/>
                  </a:lnTo>
                  <a:cubicBezTo>
                    <a:pt x="7487920" y="4794250"/>
                    <a:pt x="7476489" y="4805680"/>
                    <a:pt x="7462520" y="4805680"/>
                  </a:cubicBezTo>
                  <a:lnTo>
                    <a:pt x="25400" y="4805680"/>
                  </a:lnTo>
                  <a:cubicBezTo>
                    <a:pt x="11430" y="4805680"/>
                    <a:pt x="0" y="4794250"/>
                    <a:pt x="0" y="47802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780280"/>
                  </a:lnTo>
                  <a:lnTo>
                    <a:pt x="25400" y="4780280"/>
                  </a:lnTo>
                  <a:lnTo>
                    <a:pt x="25400" y="4754880"/>
                  </a:lnTo>
                  <a:lnTo>
                    <a:pt x="7462520" y="4754880"/>
                  </a:lnTo>
                  <a:lnTo>
                    <a:pt x="7462520" y="4780280"/>
                  </a:lnTo>
                  <a:lnTo>
                    <a:pt x="7437120" y="4780280"/>
                  </a:lnTo>
                  <a:lnTo>
                    <a:pt x="7437120" y="25400"/>
                  </a:lnTo>
                  <a:lnTo>
                    <a:pt x="7462520" y="25400"/>
                  </a:lnTo>
                  <a:lnTo>
                    <a:pt x="74625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400800" y="2103120"/>
            <a:ext cx="1005840" cy="1005840"/>
            <a:chOff x="0" y="0"/>
            <a:chExt cx="1341120" cy="13411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134112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C9A84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411463" y="2090423"/>
            <a:ext cx="1579883" cy="665483"/>
            <a:chOff x="0" y="0"/>
            <a:chExt cx="2106511" cy="88731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2072640" cy="853440"/>
            </a:xfrm>
            <a:custGeom>
              <a:avLst/>
              <a:gdLst/>
              <a:ahLst/>
              <a:cxnLst/>
              <a:rect r="r" b="b" t="t" l="l"/>
              <a:pathLst>
                <a:path h="8534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06422" cy="887224"/>
            </a:xfrm>
            <a:custGeom>
              <a:avLst/>
              <a:gdLst/>
              <a:ahLst/>
              <a:cxnLst/>
              <a:rect r="r" b="b" t="t" l="l"/>
              <a:pathLst>
                <a:path h="887224" w="2106422">
                  <a:moveTo>
                    <a:pt x="16891" y="0"/>
                  </a:moveTo>
                  <a:lnTo>
                    <a:pt x="2089531" y="0"/>
                  </a:lnTo>
                  <a:cubicBezTo>
                    <a:pt x="2098929" y="0"/>
                    <a:pt x="2106422" y="7620"/>
                    <a:pt x="2106422" y="16891"/>
                  </a:cubicBezTo>
                  <a:lnTo>
                    <a:pt x="2106422" y="870331"/>
                  </a:lnTo>
                  <a:cubicBezTo>
                    <a:pt x="2106422" y="879729"/>
                    <a:pt x="2098802" y="887222"/>
                    <a:pt x="2089531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2089531" y="853440"/>
                  </a:lnTo>
                  <a:lnTo>
                    <a:pt x="2089531" y="870331"/>
                  </a:lnTo>
                  <a:lnTo>
                    <a:pt x="2072640" y="870331"/>
                  </a:lnTo>
                  <a:lnTo>
                    <a:pt x="2072640" y="16891"/>
                  </a:lnTo>
                  <a:lnTo>
                    <a:pt x="2089531" y="16891"/>
                  </a:lnTo>
                  <a:lnTo>
                    <a:pt x="2089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424160" y="2103120"/>
            <a:ext cx="1554480" cy="640080"/>
            <a:chOff x="0" y="0"/>
            <a:chExt cx="2072640" cy="8534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072640" cy="853440"/>
            </a:xfrm>
            <a:custGeom>
              <a:avLst/>
              <a:gdLst/>
              <a:ahLst/>
              <a:cxnLst/>
              <a:rect r="r" b="b" t="t" l="l"/>
              <a:pathLst>
                <a:path h="8534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30" t="0" r="-2830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2072640" cy="882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C9A8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583680" y="3108960"/>
            <a:ext cx="5212080" cy="731520"/>
            <a:chOff x="0" y="0"/>
            <a:chExt cx="6949440" cy="9753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949440" cy="975360"/>
            </a:xfrm>
            <a:custGeom>
              <a:avLst/>
              <a:gdLst/>
              <a:ahLst/>
              <a:cxnLst/>
              <a:rect r="r" b="b" t="t" l="l"/>
              <a:pathLst>
                <a:path h="97536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830" r="0" b="-8883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694944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Augment Training Data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583680" y="3840480"/>
            <a:ext cx="5212080" cy="1700784"/>
            <a:chOff x="0" y="0"/>
            <a:chExt cx="6949440" cy="226771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949440" cy="2267712"/>
            </a:xfrm>
            <a:custGeom>
              <a:avLst/>
              <a:gdLst/>
              <a:ahLst/>
              <a:cxnLst/>
              <a:rect r="r" b="b" t="t" l="l"/>
              <a:pathLst>
                <a:path h="2267712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2267712"/>
                  </a:lnTo>
                  <a:lnTo>
                    <a:pt x="0" y="22677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12" r="0" b="-971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6949440" cy="23058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896A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Apply rotation, blur, brightness jitter, and perspective transforms to simulate real-world conditions. Oversample the ₹2 class to address imbalance.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233910" y="2084070"/>
            <a:ext cx="5615940" cy="3604260"/>
            <a:chOff x="0" y="0"/>
            <a:chExt cx="7487920" cy="48056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25400" y="25400"/>
              <a:ext cx="7437120" cy="4754880"/>
            </a:xfrm>
            <a:custGeom>
              <a:avLst/>
              <a:gdLst/>
              <a:ahLst/>
              <a:cxnLst/>
              <a:rect r="r" b="b" t="t" l="l"/>
              <a:pathLst>
                <a:path h="475488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F0EDE5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487920" cy="4805680"/>
            </a:xfrm>
            <a:custGeom>
              <a:avLst/>
              <a:gdLst/>
              <a:ahLst/>
              <a:cxnLst/>
              <a:rect r="r" b="b" t="t" l="l"/>
              <a:pathLst>
                <a:path h="4805680" w="7487920">
                  <a:moveTo>
                    <a:pt x="25400" y="0"/>
                  </a:moveTo>
                  <a:lnTo>
                    <a:pt x="7462520" y="0"/>
                  </a:lnTo>
                  <a:cubicBezTo>
                    <a:pt x="7476489" y="0"/>
                    <a:pt x="7487920" y="11430"/>
                    <a:pt x="7487920" y="25400"/>
                  </a:cubicBezTo>
                  <a:lnTo>
                    <a:pt x="7487920" y="4780280"/>
                  </a:lnTo>
                  <a:cubicBezTo>
                    <a:pt x="7487920" y="4794250"/>
                    <a:pt x="7476489" y="4805680"/>
                    <a:pt x="7462520" y="4805680"/>
                  </a:cubicBezTo>
                  <a:lnTo>
                    <a:pt x="25400" y="4805680"/>
                  </a:lnTo>
                  <a:cubicBezTo>
                    <a:pt x="11430" y="4805680"/>
                    <a:pt x="0" y="4794250"/>
                    <a:pt x="0" y="47802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780280"/>
                  </a:lnTo>
                  <a:lnTo>
                    <a:pt x="25400" y="4780280"/>
                  </a:lnTo>
                  <a:lnTo>
                    <a:pt x="25400" y="4754880"/>
                  </a:lnTo>
                  <a:lnTo>
                    <a:pt x="7462520" y="4754880"/>
                  </a:lnTo>
                  <a:lnTo>
                    <a:pt x="7462520" y="4780280"/>
                  </a:lnTo>
                  <a:lnTo>
                    <a:pt x="7437120" y="4780280"/>
                  </a:lnTo>
                  <a:lnTo>
                    <a:pt x="7437120" y="25400"/>
                  </a:lnTo>
                  <a:lnTo>
                    <a:pt x="7462520" y="25400"/>
                  </a:lnTo>
                  <a:lnTo>
                    <a:pt x="74625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2252960" y="2103120"/>
            <a:ext cx="1005840" cy="1005840"/>
            <a:chOff x="0" y="0"/>
            <a:chExt cx="1341120" cy="13411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134112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C9A84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03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6263623" y="2090423"/>
            <a:ext cx="1579883" cy="665483"/>
            <a:chOff x="0" y="0"/>
            <a:chExt cx="2106511" cy="88731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16891" y="16891"/>
              <a:ext cx="2072640" cy="853440"/>
            </a:xfrm>
            <a:custGeom>
              <a:avLst/>
              <a:gdLst/>
              <a:ahLst/>
              <a:cxnLst/>
              <a:rect r="r" b="b" t="t" l="l"/>
              <a:pathLst>
                <a:path h="8534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106422" cy="887224"/>
            </a:xfrm>
            <a:custGeom>
              <a:avLst/>
              <a:gdLst/>
              <a:ahLst/>
              <a:cxnLst/>
              <a:rect r="r" b="b" t="t" l="l"/>
              <a:pathLst>
                <a:path h="887224" w="2106422">
                  <a:moveTo>
                    <a:pt x="16891" y="0"/>
                  </a:moveTo>
                  <a:lnTo>
                    <a:pt x="2089531" y="0"/>
                  </a:lnTo>
                  <a:cubicBezTo>
                    <a:pt x="2098929" y="0"/>
                    <a:pt x="2106422" y="7620"/>
                    <a:pt x="2106422" y="16891"/>
                  </a:cubicBezTo>
                  <a:lnTo>
                    <a:pt x="2106422" y="870331"/>
                  </a:lnTo>
                  <a:cubicBezTo>
                    <a:pt x="2106422" y="879729"/>
                    <a:pt x="2098802" y="887222"/>
                    <a:pt x="2089531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2089531" y="853440"/>
                  </a:lnTo>
                  <a:lnTo>
                    <a:pt x="2089531" y="870331"/>
                  </a:lnTo>
                  <a:lnTo>
                    <a:pt x="2072640" y="870331"/>
                  </a:lnTo>
                  <a:lnTo>
                    <a:pt x="2072640" y="16891"/>
                  </a:lnTo>
                  <a:lnTo>
                    <a:pt x="2089531" y="16891"/>
                  </a:lnTo>
                  <a:lnTo>
                    <a:pt x="2089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6276320" y="2103120"/>
            <a:ext cx="1554480" cy="640080"/>
            <a:chOff x="0" y="0"/>
            <a:chExt cx="2072640" cy="8534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072640" cy="853440"/>
            </a:xfrm>
            <a:custGeom>
              <a:avLst/>
              <a:gdLst/>
              <a:ahLst/>
              <a:cxnLst/>
              <a:rect r="r" b="b" t="t" l="l"/>
              <a:pathLst>
                <a:path h="8534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30" t="0" r="-2830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2072640" cy="882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C9A8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2435840" y="3108960"/>
            <a:ext cx="5212080" cy="731520"/>
            <a:chOff x="0" y="0"/>
            <a:chExt cx="6949440" cy="9753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949440" cy="975360"/>
            </a:xfrm>
            <a:custGeom>
              <a:avLst/>
              <a:gdLst/>
              <a:ahLst/>
              <a:cxnLst/>
              <a:rect r="r" b="b" t="t" l="l"/>
              <a:pathLst>
                <a:path h="97536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830" r="0" b="-8883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694944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GLCM Texture Features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2435840" y="3840480"/>
            <a:ext cx="5212080" cy="1700784"/>
            <a:chOff x="0" y="0"/>
            <a:chExt cx="6949440" cy="226771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949440" cy="2267712"/>
            </a:xfrm>
            <a:custGeom>
              <a:avLst/>
              <a:gdLst/>
              <a:ahLst/>
              <a:cxnLst/>
              <a:rect r="r" b="b" t="t" l="l"/>
              <a:pathLst>
                <a:path h="2267712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2267712"/>
                  </a:lnTo>
                  <a:lnTo>
                    <a:pt x="0" y="22677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12" r="0" b="-971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6949440" cy="23058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896A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Add Gray-Level Co-occurrence Matrix (GLCM) features (contrast, correlation, energy) which are better suited to distinguishing coin relief patterns.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529590" y="6015990"/>
            <a:ext cx="5615940" cy="3604260"/>
            <a:chOff x="0" y="0"/>
            <a:chExt cx="7487920" cy="480568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25400" y="25400"/>
              <a:ext cx="7437120" cy="4754880"/>
            </a:xfrm>
            <a:custGeom>
              <a:avLst/>
              <a:gdLst/>
              <a:ahLst/>
              <a:cxnLst/>
              <a:rect r="r" b="b" t="t" l="l"/>
              <a:pathLst>
                <a:path h="475488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F0EDE5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487920" cy="4805680"/>
            </a:xfrm>
            <a:custGeom>
              <a:avLst/>
              <a:gdLst/>
              <a:ahLst/>
              <a:cxnLst/>
              <a:rect r="r" b="b" t="t" l="l"/>
              <a:pathLst>
                <a:path h="4805680" w="7487920">
                  <a:moveTo>
                    <a:pt x="25400" y="0"/>
                  </a:moveTo>
                  <a:lnTo>
                    <a:pt x="7462520" y="0"/>
                  </a:lnTo>
                  <a:cubicBezTo>
                    <a:pt x="7476489" y="0"/>
                    <a:pt x="7487920" y="11430"/>
                    <a:pt x="7487920" y="25400"/>
                  </a:cubicBezTo>
                  <a:lnTo>
                    <a:pt x="7487920" y="4780280"/>
                  </a:lnTo>
                  <a:cubicBezTo>
                    <a:pt x="7487920" y="4794250"/>
                    <a:pt x="7476489" y="4805680"/>
                    <a:pt x="7462520" y="4805680"/>
                  </a:cubicBezTo>
                  <a:lnTo>
                    <a:pt x="25400" y="4805680"/>
                  </a:lnTo>
                  <a:cubicBezTo>
                    <a:pt x="11430" y="4805680"/>
                    <a:pt x="0" y="4794250"/>
                    <a:pt x="0" y="47802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780280"/>
                  </a:lnTo>
                  <a:lnTo>
                    <a:pt x="25400" y="4780280"/>
                  </a:lnTo>
                  <a:lnTo>
                    <a:pt x="25400" y="4754880"/>
                  </a:lnTo>
                  <a:lnTo>
                    <a:pt x="7462520" y="4754880"/>
                  </a:lnTo>
                  <a:lnTo>
                    <a:pt x="7462520" y="4780280"/>
                  </a:lnTo>
                  <a:lnTo>
                    <a:pt x="7437120" y="4780280"/>
                  </a:lnTo>
                  <a:lnTo>
                    <a:pt x="7437120" y="25400"/>
                  </a:lnTo>
                  <a:lnTo>
                    <a:pt x="7462520" y="25400"/>
                  </a:lnTo>
                  <a:lnTo>
                    <a:pt x="74625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548640" y="6035040"/>
            <a:ext cx="1005840" cy="1005840"/>
            <a:chOff x="0" y="0"/>
            <a:chExt cx="1341120" cy="134112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"/>
              <a:ext cx="134112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C9A84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04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4559303" y="6022343"/>
            <a:ext cx="1579883" cy="665483"/>
            <a:chOff x="0" y="0"/>
            <a:chExt cx="2106511" cy="887311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16891" y="16891"/>
              <a:ext cx="2072640" cy="853440"/>
            </a:xfrm>
            <a:custGeom>
              <a:avLst/>
              <a:gdLst/>
              <a:ahLst/>
              <a:cxnLst/>
              <a:rect r="r" b="b" t="t" l="l"/>
              <a:pathLst>
                <a:path h="8534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106422" cy="887224"/>
            </a:xfrm>
            <a:custGeom>
              <a:avLst/>
              <a:gdLst/>
              <a:ahLst/>
              <a:cxnLst/>
              <a:rect r="r" b="b" t="t" l="l"/>
              <a:pathLst>
                <a:path h="887224" w="2106422">
                  <a:moveTo>
                    <a:pt x="16891" y="0"/>
                  </a:moveTo>
                  <a:lnTo>
                    <a:pt x="2089531" y="0"/>
                  </a:lnTo>
                  <a:cubicBezTo>
                    <a:pt x="2098929" y="0"/>
                    <a:pt x="2106422" y="7620"/>
                    <a:pt x="2106422" y="16891"/>
                  </a:cubicBezTo>
                  <a:lnTo>
                    <a:pt x="2106422" y="870331"/>
                  </a:lnTo>
                  <a:cubicBezTo>
                    <a:pt x="2106422" y="879729"/>
                    <a:pt x="2098802" y="887222"/>
                    <a:pt x="2089531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2089531" y="853440"/>
                  </a:lnTo>
                  <a:lnTo>
                    <a:pt x="2089531" y="870331"/>
                  </a:lnTo>
                  <a:lnTo>
                    <a:pt x="2072640" y="870331"/>
                  </a:lnTo>
                  <a:lnTo>
                    <a:pt x="2072640" y="16891"/>
                  </a:lnTo>
                  <a:lnTo>
                    <a:pt x="2089531" y="16891"/>
                  </a:lnTo>
                  <a:lnTo>
                    <a:pt x="2089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4572000" y="6035040"/>
            <a:ext cx="1554480" cy="640080"/>
            <a:chOff x="0" y="0"/>
            <a:chExt cx="2072640" cy="8534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072640" cy="853440"/>
            </a:xfrm>
            <a:custGeom>
              <a:avLst/>
              <a:gdLst/>
              <a:ahLst/>
              <a:cxnLst/>
              <a:rect r="r" b="b" t="t" l="l"/>
              <a:pathLst>
                <a:path h="8534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30" t="0" r="-2830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28575"/>
              <a:ext cx="2072640" cy="882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C9A8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731520" y="7040880"/>
            <a:ext cx="5212080" cy="731520"/>
            <a:chOff x="0" y="0"/>
            <a:chExt cx="6949440" cy="97536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949440" cy="975360"/>
            </a:xfrm>
            <a:custGeom>
              <a:avLst/>
              <a:gdLst/>
              <a:ahLst/>
              <a:cxnLst/>
              <a:rect r="r" b="b" t="t" l="l"/>
              <a:pathLst>
                <a:path h="97536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830" r="0" b="-8883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694944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Ensemble / Stacking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731520" y="7772400"/>
            <a:ext cx="5212080" cy="1700784"/>
            <a:chOff x="0" y="0"/>
            <a:chExt cx="6949440" cy="226771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949440" cy="2267712"/>
            </a:xfrm>
            <a:custGeom>
              <a:avLst/>
              <a:gdLst/>
              <a:ahLst/>
              <a:cxnLst/>
              <a:rect r="r" b="b" t="t" l="l"/>
              <a:pathLst>
                <a:path h="2267712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2267712"/>
                  </a:lnTo>
                  <a:lnTo>
                    <a:pt x="0" y="22677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12" r="0" b="-9712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6949440" cy="23058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896A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Stack RF + SVM + KNN with a meta-learner to combine complementary strengths of each classifier, especially for the harder ₹2/₹20 classes.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381750" y="6015990"/>
            <a:ext cx="5615940" cy="3604260"/>
            <a:chOff x="0" y="0"/>
            <a:chExt cx="7487920" cy="480568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25400" y="25400"/>
              <a:ext cx="7437120" cy="4754880"/>
            </a:xfrm>
            <a:custGeom>
              <a:avLst/>
              <a:gdLst/>
              <a:ahLst/>
              <a:cxnLst/>
              <a:rect r="r" b="b" t="t" l="l"/>
              <a:pathLst>
                <a:path h="475488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F0EDE5"/>
            </a:solid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7487920" cy="4805680"/>
            </a:xfrm>
            <a:custGeom>
              <a:avLst/>
              <a:gdLst/>
              <a:ahLst/>
              <a:cxnLst/>
              <a:rect r="r" b="b" t="t" l="l"/>
              <a:pathLst>
                <a:path h="4805680" w="7487920">
                  <a:moveTo>
                    <a:pt x="25400" y="0"/>
                  </a:moveTo>
                  <a:lnTo>
                    <a:pt x="7462520" y="0"/>
                  </a:lnTo>
                  <a:cubicBezTo>
                    <a:pt x="7476489" y="0"/>
                    <a:pt x="7487920" y="11430"/>
                    <a:pt x="7487920" y="25400"/>
                  </a:cubicBezTo>
                  <a:lnTo>
                    <a:pt x="7487920" y="4780280"/>
                  </a:lnTo>
                  <a:cubicBezTo>
                    <a:pt x="7487920" y="4794250"/>
                    <a:pt x="7476489" y="4805680"/>
                    <a:pt x="7462520" y="4805680"/>
                  </a:cubicBezTo>
                  <a:lnTo>
                    <a:pt x="25400" y="4805680"/>
                  </a:lnTo>
                  <a:cubicBezTo>
                    <a:pt x="11430" y="4805680"/>
                    <a:pt x="0" y="4794250"/>
                    <a:pt x="0" y="47802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780280"/>
                  </a:lnTo>
                  <a:lnTo>
                    <a:pt x="25400" y="4780280"/>
                  </a:lnTo>
                  <a:lnTo>
                    <a:pt x="25400" y="4754880"/>
                  </a:lnTo>
                  <a:lnTo>
                    <a:pt x="7462520" y="4754880"/>
                  </a:lnTo>
                  <a:lnTo>
                    <a:pt x="7462520" y="4780280"/>
                  </a:lnTo>
                  <a:lnTo>
                    <a:pt x="7437120" y="4780280"/>
                  </a:lnTo>
                  <a:lnTo>
                    <a:pt x="7437120" y="25400"/>
                  </a:lnTo>
                  <a:lnTo>
                    <a:pt x="7462520" y="25400"/>
                  </a:lnTo>
                  <a:lnTo>
                    <a:pt x="74625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6400800" y="6035040"/>
            <a:ext cx="1005840" cy="1005840"/>
            <a:chOff x="0" y="0"/>
            <a:chExt cx="1341120" cy="134112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9525"/>
              <a:ext cx="134112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C9A84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05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0411463" y="6022343"/>
            <a:ext cx="1579883" cy="665483"/>
            <a:chOff x="0" y="0"/>
            <a:chExt cx="2106511" cy="887311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16891" y="16891"/>
              <a:ext cx="2072640" cy="853440"/>
            </a:xfrm>
            <a:custGeom>
              <a:avLst/>
              <a:gdLst/>
              <a:ahLst/>
              <a:cxnLst/>
              <a:rect r="r" b="b" t="t" l="l"/>
              <a:pathLst>
                <a:path h="8534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106422" cy="887224"/>
            </a:xfrm>
            <a:custGeom>
              <a:avLst/>
              <a:gdLst/>
              <a:ahLst/>
              <a:cxnLst/>
              <a:rect r="r" b="b" t="t" l="l"/>
              <a:pathLst>
                <a:path h="887224" w="2106422">
                  <a:moveTo>
                    <a:pt x="16891" y="0"/>
                  </a:moveTo>
                  <a:lnTo>
                    <a:pt x="2089531" y="0"/>
                  </a:lnTo>
                  <a:cubicBezTo>
                    <a:pt x="2098929" y="0"/>
                    <a:pt x="2106422" y="7620"/>
                    <a:pt x="2106422" y="16891"/>
                  </a:cubicBezTo>
                  <a:lnTo>
                    <a:pt x="2106422" y="870331"/>
                  </a:lnTo>
                  <a:cubicBezTo>
                    <a:pt x="2106422" y="879729"/>
                    <a:pt x="2098802" y="887222"/>
                    <a:pt x="2089531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2089531" y="853440"/>
                  </a:lnTo>
                  <a:lnTo>
                    <a:pt x="2089531" y="870331"/>
                  </a:lnTo>
                  <a:lnTo>
                    <a:pt x="2072640" y="870331"/>
                  </a:lnTo>
                  <a:lnTo>
                    <a:pt x="2072640" y="16891"/>
                  </a:lnTo>
                  <a:lnTo>
                    <a:pt x="2089531" y="16891"/>
                  </a:lnTo>
                  <a:lnTo>
                    <a:pt x="2089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0424160" y="6035040"/>
            <a:ext cx="1554480" cy="640080"/>
            <a:chOff x="0" y="0"/>
            <a:chExt cx="2072640" cy="85344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072640" cy="853440"/>
            </a:xfrm>
            <a:custGeom>
              <a:avLst/>
              <a:gdLst/>
              <a:ahLst/>
              <a:cxnLst/>
              <a:rect r="r" b="b" t="t" l="l"/>
              <a:pathLst>
                <a:path h="8534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30" t="0" r="-2830" b="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28575"/>
              <a:ext cx="2072640" cy="882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C9A8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Input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6583680" y="7040880"/>
            <a:ext cx="5212080" cy="731520"/>
            <a:chOff x="0" y="0"/>
            <a:chExt cx="6949440" cy="97536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6949440" cy="975360"/>
            </a:xfrm>
            <a:custGeom>
              <a:avLst/>
              <a:gdLst/>
              <a:ahLst/>
              <a:cxnLst/>
              <a:rect r="r" b="b" t="t" l="l"/>
              <a:pathLst>
                <a:path h="97536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830" r="0" b="-8883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694944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Multi-view Input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6583680" y="7772400"/>
            <a:ext cx="5212080" cy="1700784"/>
            <a:chOff x="0" y="0"/>
            <a:chExt cx="6949440" cy="2267712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6949440" cy="2267712"/>
            </a:xfrm>
            <a:custGeom>
              <a:avLst/>
              <a:gdLst/>
              <a:ahLst/>
              <a:cxnLst/>
              <a:rect r="r" b="b" t="t" l="l"/>
              <a:pathLst>
                <a:path h="2267712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2267712"/>
                  </a:lnTo>
                  <a:lnTo>
                    <a:pt x="0" y="22677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12" r="0" b="-9712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6949440" cy="23058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896A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Capture both obverse and reverse of each coin — head + tail views together contain more denomination-specific information than a single face alone.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2233910" y="6015990"/>
            <a:ext cx="5615940" cy="3604260"/>
            <a:chOff x="0" y="0"/>
            <a:chExt cx="7487920" cy="480568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25400" y="25400"/>
              <a:ext cx="7437120" cy="4754880"/>
            </a:xfrm>
            <a:custGeom>
              <a:avLst/>
              <a:gdLst/>
              <a:ahLst/>
              <a:cxnLst/>
              <a:rect r="r" b="b" t="t" l="l"/>
              <a:pathLst>
                <a:path h="475488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F0EDE5"/>
            </a:solidFill>
          </p:spPr>
        </p:sp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7487920" cy="4805680"/>
            </a:xfrm>
            <a:custGeom>
              <a:avLst/>
              <a:gdLst/>
              <a:ahLst/>
              <a:cxnLst/>
              <a:rect r="r" b="b" t="t" l="l"/>
              <a:pathLst>
                <a:path h="4805680" w="7487920">
                  <a:moveTo>
                    <a:pt x="25400" y="0"/>
                  </a:moveTo>
                  <a:lnTo>
                    <a:pt x="7462520" y="0"/>
                  </a:lnTo>
                  <a:cubicBezTo>
                    <a:pt x="7476489" y="0"/>
                    <a:pt x="7487920" y="11430"/>
                    <a:pt x="7487920" y="25400"/>
                  </a:cubicBezTo>
                  <a:lnTo>
                    <a:pt x="7487920" y="4780280"/>
                  </a:lnTo>
                  <a:cubicBezTo>
                    <a:pt x="7487920" y="4794250"/>
                    <a:pt x="7476489" y="4805680"/>
                    <a:pt x="7462520" y="4805680"/>
                  </a:cubicBezTo>
                  <a:lnTo>
                    <a:pt x="25400" y="4805680"/>
                  </a:lnTo>
                  <a:cubicBezTo>
                    <a:pt x="11430" y="4805680"/>
                    <a:pt x="0" y="4794250"/>
                    <a:pt x="0" y="47802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780280"/>
                  </a:lnTo>
                  <a:lnTo>
                    <a:pt x="25400" y="4780280"/>
                  </a:lnTo>
                  <a:lnTo>
                    <a:pt x="25400" y="4754880"/>
                  </a:lnTo>
                  <a:lnTo>
                    <a:pt x="7462520" y="4754880"/>
                  </a:lnTo>
                  <a:lnTo>
                    <a:pt x="7462520" y="4780280"/>
                  </a:lnTo>
                  <a:lnTo>
                    <a:pt x="7437120" y="4780280"/>
                  </a:lnTo>
                  <a:lnTo>
                    <a:pt x="7437120" y="25400"/>
                  </a:lnTo>
                  <a:lnTo>
                    <a:pt x="7462520" y="25400"/>
                  </a:lnTo>
                  <a:lnTo>
                    <a:pt x="74625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12252960" y="6035040"/>
            <a:ext cx="1005840" cy="1005840"/>
            <a:chOff x="0" y="0"/>
            <a:chExt cx="1341120" cy="134112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9525"/>
              <a:ext cx="134112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C9A84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06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6263623" y="6022343"/>
            <a:ext cx="1579883" cy="665483"/>
            <a:chOff x="0" y="0"/>
            <a:chExt cx="2106511" cy="887311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16891" y="16891"/>
              <a:ext cx="2072640" cy="853440"/>
            </a:xfrm>
            <a:custGeom>
              <a:avLst/>
              <a:gdLst/>
              <a:ahLst/>
              <a:cxnLst/>
              <a:rect r="r" b="b" t="t" l="l"/>
              <a:pathLst>
                <a:path h="8534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106422" cy="887224"/>
            </a:xfrm>
            <a:custGeom>
              <a:avLst/>
              <a:gdLst/>
              <a:ahLst/>
              <a:cxnLst/>
              <a:rect r="r" b="b" t="t" l="l"/>
              <a:pathLst>
                <a:path h="887224" w="2106422">
                  <a:moveTo>
                    <a:pt x="16891" y="0"/>
                  </a:moveTo>
                  <a:lnTo>
                    <a:pt x="2089531" y="0"/>
                  </a:lnTo>
                  <a:cubicBezTo>
                    <a:pt x="2098929" y="0"/>
                    <a:pt x="2106422" y="7620"/>
                    <a:pt x="2106422" y="16891"/>
                  </a:cubicBezTo>
                  <a:lnTo>
                    <a:pt x="2106422" y="870331"/>
                  </a:lnTo>
                  <a:cubicBezTo>
                    <a:pt x="2106422" y="879729"/>
                    <a:pt x="2098802" y="887222"/>
                    <a:pt x="2089531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2089531" y="853440"/>
                  </a:lnTo>
                  <a:lnTo>
                    <a:pt x="2089531" y="870331"/>
                  </a:lnTo>
                  <a:lnTo>
                    <a:pt x="2072640" y="870331"/>
                  </a:lnTo>
                  <a:lnTo>
                    <a:pt x="2072640" y="16891"/>
                  </a:lnTo>
                  <a:lnTo>
                    <a:pt x="2089531" y="16891"/>
                  </a:lnTo>
                  <a:lnTo>
                    <a:pt x="2089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6276320" y="6035040"/>
            <a:ext cx="1554480" cy="640080"/>
            <a:chOff x="0" y="0"/>
            <a:chExt cx="2072640" cy="85344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072640" cy="853440"/>
            </a:xfrm>
            <a:custGeom>
              <a:avLst/>
              <a:gdLst/>
              <a:ahLst/>
              <a:cxnLst/>
              <a:rect r="r" b="b" t="t" l="l"/>
              <a:pathLst>
                <a:path h="8534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30" t="0" r="-2830" b="0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28575"/>
              <a:ext cx="2072640" cy="882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C9A8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Features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2435840" y="7040880"/>
            <a:ext cx="5212080" cy="731520"/>
            <a:chOff x="0" y="0"/>
            <a:chExt cx="6949440" cy="97536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949440" cy="975360"/>
            </a:xfrm>
            <a:custGeom>
              <a:avLst/>
              <a:gdLst/>
              <a:ahLst/>
              <a:cxnLst/>
              <a:rect r="r" b="b" t="t" l="l"/>
              <a:pathLst>
                <a:path h="97536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830" r="0" b="-88830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38100"/>
              <a:ext cx="694944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Edge Geometry Features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2435840" y="7772400"/>
            <a:ext cx="5212080" cy="1700784"/>
            <a:chOff x="0" y="0"/>
            <a:chExt cx="6949440" cy="2267712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6949440" cy="2267712"/>
            </a:xfrm>
            <a:custGeom>
              <a:avLst/>
              <a:gdLst/>
              <a:ahLst/>
              <a:cxnLst/>
              <a:rect r="r" b="b" t="t" l="l"/>
              <a:pathLst>
                <a:path h="2267712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2267712"/>
                  </a:lnTo>
                  <a:lnTo>
                    <a:pt x="0" y="22677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12" r="0" b="-9712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38100"/>
              <a:ext cx="6949440" cy="23058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896A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Explicitly encode edge contour shape (number of scallops, reeds) using Fourier descriptors or polygon approximation to leverage ₹2's unique border.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43200" y="548640"/>
            <a:ext cx="12801600" cy="1280160"/>
            <a:chOff x="0" y="0"/>
            <a:chExt cx="170688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688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7068800" cy="1706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C9A84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Conclusion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559303" y="1816103"/>
            <a:ext cx="9169403" cy="80267"/>
            <a:chOff x="0" y="0"/>
            <a:chExt cx="12225871" cy="1070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2192000" cy="73152"/>
            </a:xfrm>
            <a:custGeom>
              <a:avLst/>
              <a:gdLst/>
              <a:ahLst/>
              <a:cxnLst/>
              <a:rect r="r" b="b" t="t" l="l"/>
              <a:pathLst>
                <a:path h="73152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C9A84C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225782" cy="106936"/>
            </a:xfrm>
            <a:custGeom>
              <a:avLst/>
              <a:gdLst/>
              <a:ahLst/>
              <a:cxnLst/>
              <a:rect r="r" b="b" t="t" l="l"/>
              <a:pathLst>
                <a:path h="106936" w="12225782">
                  <a:moveTo>
                    <a:pt x="16891" y="0"/>
                  </a:moveTo>
                  <a:lnTo>
                    <a:pt x="12208891" y="0"/>
                  </a:lnTo>
                  <a:cubicBezTo>
                    <a:pt x="12218289" y="0"/>
                    <a:pt x="12225782" y="7620"/>
                    <a:pt x="12225782" y="16891"/>
                  </a:cubicBezTo>
                  <a:lnTo>
                    <a:pt x="12225782" y="90043"/>
                  </a:lnTo>
                  <a:cubicBezTo>
                    <a:pt x="12225782" y="99441"/>
                    <a:pt x="12218162" y="106934"/>
                    <a:pt x="1220889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12208891" y="73152"/>
                  </a:lnTo>
                  <a:lnTo>
                    <a:pt x="12208891" y="90043"/>
                  </a:lnTo>
                  <a:lnTo>
                    <a:pt x="12192000" y="90043"/>
                  </a:lnTo>
                  <a:lnTo>
                    <a:pt x="12192000" y="16891"/>
                  </a:lnTo>
                  <a:lnTo>
                    <a:pt x="12208891" y="16891"/>
                  </a:lnTo>
                  <a:lnTo>
                    <a:pt x="12208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67463" y="2181863"/>
            <a:ext cx="427739" cy="427739"/>
            <a:chOff x="0" y="0"/>
            <a:chExt cx="570319" cy="5703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C9A84C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011680" y="2066544"/>
            <a:ext cx="14996160" cy="1133856"/>
            <a:chOff x="0" y="0"/>
            <a:chExt cx="19994880" cy="151180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9948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7705" r="0" b="-20770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999488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4F1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Successfully classified 5 Indian coin denominations using classical ML with 70% accuracy (Random Forest)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67463" y="3425447"/>
            <a:ext cx="427739" cy="427739"/>
            <a:chOff x="0" y="0"/>
            <a:chExt cx="570319" cy="5703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C9A84C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011680" y="3310128"/>
            <a:ext cx="14996160" cy="1133856"/>
            <a:chOff x="0" y="0"/>
            <a:chExt cx="19994880" cy="151180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9948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7705" r="0" b="-20770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99488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4F1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Feature engineering combining shape, texture (LBP, HOG), and color (HSV) is effective for coin recognition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67463" y="4669031"/>
            <a:ext cx="427739" cy="427739"/>
            <a:chOff x="0" y="0"/>
            <a:chExt cx="570319" cy="57031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C9A84C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011680" y="4553712"/>
            <a:ext cx="14996160" cy="1133856"/>
            <a:chOff x="0" y="0"/>
            <a:chExt cx="19994880" cy="151180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9948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7705" r="0" b="-20770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999488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4F1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Random Forest outperforms SVM and KNN, especially in cross-class discrimination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67463" y="5912615"/>
            <a:ext cx="427739" cy="427739"/>
            <a:chOff x="0" y="0"/>
            <a:chExt cx="570319" cy="57031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C9A84C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2011680" y="5797296"/>
            <a:ext cx="14996160" cy="1133856"/>
            <a:chOff x="0" y="0"/>
            <a:chExt cx="19994880" cy="151180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99948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7705" r="0" b="-20770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999488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4F1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₹2 remains the hardest class — size and color similarity with ₹1 is the core challenge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67463" y="7156199"/>
            <a:ext cx="427739" cy="427739"/>
            <a:chOff x="0" y="0"/>
            <a:chExt cx="570319" cy="57031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C9A84C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2011680" y="7040880"/>
            <a:ext cx="14996160" cy="1133856"/>
            <a:chOff x="0" y="0"/>
            <a:chExt cx="19994880" cy="151180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9948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7705" r="0" b="-20770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999488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4F1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 works well on clean Kaggle dataset images but has limited robustness on real-world photos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67463" y="8399783"/>
            <a:ext cx="427739" cy="427739"/>
            <a:chOff x="0" y="0"/>
            <a:chExt cx="570319" cy="57031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C9A84C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2011680" y="8284464"/>
            <a:ext cx="14996160" cy="1133856"/>
            <a:chOff x="0" y="0"/>
            <a:chExt cx="19994880" cy="151180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99948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7705" r="0" b="-20770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999488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4F1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Future work: better segmentation, data augmentation, and edge geometry features can push accuracy higher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730503" y="9405623"/>
            <a:ext cx="12827003" cy="665483"/>
            <a:chOff x="0" y="0"/>
            <a:chExt cx="17102671" cy="88731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7068799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799">
                  <a:moveTo>
                    <a:pt x="0" y="0"/>
                  </a:moveTo>
                  <a:lnTo>
                    <a:pt x="17068799" y="0"/>
                  </a:lnTo>
                  <a:lnTo>
                    <a:pt x="17068799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1B2A3D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7102582" cy="887224"/>
            </a:xfrm>
            <a:custGeom>
              <a:avLst/>
              <a:gdLst/>
              <a:ahLst/>
              <a:cxnLst/>
              <a:rect r="r" b="b" t="t" l="l"/>
              <a:pathLst>
                <a:path h="887224" w="17102582">
                  <a:moveTo>
                    <a:pt x="16891" y="0"/>
                  </a:moveTo>
                  <a:lnTo>
                    <a:pt x="17085690" y="0"/>
                  </a:lnTo>
                  <a:cubicBezTo>
                    <a:pt x="17095090" y="0"/>
                    <a:pt x="17102582" y="7620"/>
                    <a:pt x="17102582" y="16891"/>
                  </a:cubicBezTo>
                  <a:lnTo>
                    <a:pt x="17102582" y="870331"/>
                  </a:lnTo>
                  <a:cubicBezTo>
                    <a:pt x="17102582" y="879729"/>
                    <a:pt x="17094963" y="887222"/>
                    <a:pt x="17085690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17085690" y="853440"/>
                  </a:lnTo>
                  <a:lnTo>
                    <a:pt x="17085690" y="870331"/>
                  </a:lnTo>
                  <a:lnTo>
                    <a:pt x="17068800" y="870331"/>
                  </a:lnTo>
                  <a:lnTo>
                    <a:pt x="17068800" y="16891"/>
                  </a:lnTo>
                  <a:lnTo>
                    <a:pt x="17085690" y="16891"/>
                  </a:lnTo>
                  <a:lnTo>
                    <a:pt x="170856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A84C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2743200" y="9418320"/>
            <a:ext cx="12801600" cy="640080"/>
            <a:chOff x="0" y="0"/>
            <a:chExt cx="17068800" cy="8534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7068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170688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C9A8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you  •  Questions welcome  🪙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DAHJ2GoKDRQ</dc:identifier>
  <dcterms:modified xsi:type="dcterms:W3CDTF">2011-08-01T06:04:30Z</dcterms:modified>
  <cp:revision>1</cp:revision>
  <dc:title>| Kaggle ICDD Dataset</dc:title>
</cp:coreProperties>
</file>